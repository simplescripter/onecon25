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notesSlides/notesSlide15.xml" ContentType="application/vnd.openxmlformats-officedocument.presentationml.notesSlide+xml"/>
  <Override PartName="/ppt/tags/tag20.xml" ContentType="application/vnd.openxmlformats-officedocument.presentationml.tags+xml"/>
  <Override PartName="/ppt/notesSlides/notesSlide16.xml" ContentType="application/vnd.openxmlformats-officedocument.presentationml.notesSlide+xml"/>
  <Override PartName="/ppt/tags/tag21.xml" ContentType="application/vnd.openxmlformats-officedocument.presentationml.tags+xml"/>
  <Override PartName="/ppt/notesSlides/notesSlide17.xml" ContentType="application/vnd.openxmlformats-officedocument.presentationml.notesSlide+xml"/>
  <Override PartName="/ppt/tags/tag22.xml" ContentType="application/vnd.openxmlformats-officedocument.presentationml.tags+xml"/>
  <Override PartName="/ppt/notesSlides/notesSlide18.xml" ContentType="application/vnd.openxmlformats-officedocument.presentationml.notesSlide+xml"/>
  <Override PartName="/ppt/tags/tag23.xml" ContentType="application/vnd.openxmlformats-officedocument.presentationml.tags+xml"/>
  <Override PartName="/ppt/notesSlides/notesSlide19.xml" ContentType="application/vnd.openxmlformats-officedocument.presentationml.notesSlide+xml"/>
  <Override PartName="/ppt/tags/tag24.xml" ContentType="application/vnd.openxmlformats-officedocument.presentationml.tags+xml"/>
  <Override PartName="/ppt/notesSlides/notesSlide20.xml" ContentType="application/vnd.openxmlformats-officedocument.presentationml.notesSlide+xml"/>
  <Override PartName="/ppt/tags/tag25.xml" ContentType="application/vnd.openxmlformats-officedocument.presentationml.tags+xml"/>
  <Override PartName="/ppt/notesSlides/notesSlide21.xml" ContentType="application/vnd.openxmlformats-officedocument.presentationml.notesSlide+xml"/>
  <Override PartName="/ppt/tags/tag26.xml" ContentType="application/vnd.openxmlformats-officedocument.presentationml.tags+xml"/>
  <Override PartName="/ppt/notesSlides/notesSlide22.xml" ContentType="application/vnd.openxmlformats-officedocument.presentationml.notesSlide+xml"/>
  <Override PartName="/ppt/tags/tag27.xml" ContentType="application/vnd.openxmlformats-officedocument.presentationml.tags+xml"/>
  <Override PartName="/ppt/notesSlides/notesSlide23.xml" ContentType="application/vnd.openxmlformats-officedocument.presentationml.notesSlide+xml"/>
  <Override PartName="/ppt/tags/tag28.xml" ContentType="application/vnd.openxmlformats-officedocument.presentationml.tags+xml"/>
  <Override PartName="/ppt/notesSlides/notesSlide24.xml" ContentType="application/vnd.openxmlformats-officedocument.presentationml.notesSlide+xml"/>
  <Override PartName="/ppt/tags/tag29.xml" ContentType="application/vnd.openxmlformats-officedocument.presentationml.tags+xml"/>
  <Override PartName="/ppt/notesSlides/notesSlide25.xml" ContentType="application/vnd.openxmlformats-officedocument.presentationml.notesSlide+xml"/>
  <Override PartName="/ppt/tags/tag30.xml" ContentType="application/vnd.openxmlformats-officedocument.presentationml.tags+xml"/>
  <Override PartName="/ppt/notesSlides/notesSlide26.xml" ContentType="application/vnd.openxmlformats-officedocument.presentationml.notesSlide+xml"/>
  <Override PartName="/ppt/tags/tag31.xml" ContentType="application/vnd.openxmlformats-officedocument.presentationml.tags+xml"/>
  <Override PartName="/ppt/notesSlides/notesSlide27.xml" ContentType="application/vnd.openxmlformats-officedocument.presentationml.notesSlide+xml"/>
  <Override PartName="/ppt/tags/tag32.xml" ContentType="application/vnd.openxmlformats-officedocument.presentationml.tags+xml"/>
  <Override PartName="/ppt/notesSlides/notesSlide28.xml" ContentType="application/vnd.openxmlformats-officedocument.presentationml.notesSlide+xml"/>
  <Override PartName="/ppt/tags/tag33.xml" ContentType="application/vnd.openxmlformats-officedocument.presentationml.tags+xml"/>
  <Override PartName="/ppt/notesSlides/notesSlide29.xml" ContentType="application/vnd.openxmlformats-officedocument.presentationml.notesSlide+xml"/>
  <Override PartName="/ppt/tags/tag34.xml" ContentType="application/vnd.openxmlformats-officedocument.presentationml.tags+xml"/>
  <Override PartName="/ppt/notesSlides/notesSlide30.xml" ContentType="application/vnd.openxmlformats-officedocument.presentationml.notesSlide+xml"/>
  <Override PartName="/ppt/tags/tag35.xml" ContentType="application/vnd.openxmlformats-officedocument.presentationml.tags+xml"/>
  <Override PartName="/ppt/notesSlides/notesSlide31.xml" ContentType="application/vnd.openxmlformats-officedocument.presentationml.notesSlide+xml"/>
  <Override PartName="/ppt/tags/tag36.xml" ContentType="application/vnd.openxmlformats-officedocument.presentationml.tags+xml"/>
  <Override PartName="/ppt/notesSlides/notesSlide32.xml" ContentType="application/vnd.openxmlformats-officedocument.presentationml.notesSlide+xml"/>
  <Override PartName="/ppt/tags/tag37.xml" ContentType="application/vnd.openxmlformats-officedocument.presentationml.tags+xml"/>
  <Override PartName="/ppt/notesSlides/notesSlide33.xml" ContentType="application/vnd.openxmlformats-officedocument.presentationml.notesSlide+xml"/>
  <Override PartName="/ppt/tags/tag38.xml" ContentType="application/vnd.openxmlformats-officedocument.presentationml.tags+xml"/>
  <Override PartName="/ppt/notesSlides/notesSlide34.xml" ContentType="application/vnd.openxmlformats-officedocument.presentationml.notesSlide+xml"/>
  <Override PartName="/ppt/tags/tag39.xml" ContentType="application/vnd.openxmlformats-officedocument.presentationml.tags+xml"/>
  <Override PartName="/ppt/notesSlides/notesSlide35.xml" ContentType="application/vnd.openxmlformats-officedocument.presentationml.notesSlide+xml"/>
  <Override PartName="/ppt/tags/tag40.xml" ContentType="application/vnd.openxmlformats-officedocument.presentationml.tags+xml"/>
  <Override PartName="/ppt/notesSlides/notesSlide36.xml" ContentType="application/vnd.openxmlformats-officedocument.presentationml.notesSlide+xml"/>
  <Override PartName="/ppt/tags/tag41.xml" ContentType="application/vnd.openxmlformats-officedocument.presentationml.tags+xml"/>
  <Override PartName="/ppt/notesSlides/notesSlide37.xml" ContentType="application/vnd.openxmlformats-officedocument.presentationml.notesSlide+xml"/>
  <Override PartName="/ppt/tags/tag42.xml" ContentType="application/vnd.openxmlformats-officedocument.presentationml.tags+xml"/>
  <Override PartName="/ppt/notesSlides/notesSlide38.xml" ContentType="application/vnd.openxmlformats-officedocument.presentationml.notesSlide+xml"/>
  <Override PartName="/ppt/tags/tag43.xml" ContentType="application/vnd.openxmlformats-officedocument.presentationml.tags+xml"/>
  <Override PartName="/ppt/notesSlides/notesSlide39.xml" ContentType="application/vnd.openxmlformats-officedocument.presentationml.notesSlide+xml"/>
  <Override PartName="/ppt/tags/tag44.xml" ContentType="application/vnd.openxmlformats-officedocument.presentationml.tags+xml"/>
  <Override PartName="/ppt/notesSlides/notesSlide40.xml" ContentType="application/vnd.openxmlformats-officedocument.presentationml.notesSlide+xml"/>
  <Override PartName="/ppt/tags/tag45.xml" ContentType="application/vnd.openxmlformats-officedocument.presentationml.tags+xml"/>
  <Override PartName="/ppt/notesSlides/notesSlide41.xml" ContentType="application/vnd.openxmlformats-officedocument.presentationml.notesSlide+xml"/>
  <Override PartName="/ppt/tags/tag46.xml" ContentType="application/vnd.openxmlformats-officedocument.presentationml.tags+xml"/>
  <Override PartName="/ppt/notesSlides/notesSlide42.xml" ContentType="application/vnd.openxmlformats-officedocument.presentationml.notesSlide+xml"/>
  <Override PartName="/ppt/tags/tag47.xml" ContentType="application/vnd.openxmlformats-officedocument.presentationml.tags+xml"/>
  <Override PartName="/ppt/notesSlides/notesSlide43.xml" ContentType="application/vnd.openxmlformats-officedocument.presentationml.notesSlide+xml"/>
  <Override PartName="/ppt/tags/tag48.xml" ContentType="application/vnd.openxmlformats-officedocument.presentationml.tags+xml"/>
  <Override PartName="/ppt/notesSlides/notesSlide44.xml" ContentType="application/vnd.openxmlformats-officedocument.presentationml.notesSlide+xml"/>
  <Override PartName="/ppt/tags/tag49.xml" ContentType="application/vnd.openxmlformats-officedocument.presentationml.tags+xml"/>
  <Override PartName="/ppt/notesSlides/notesSlide45.xml" ContentType="application/vnd.openxmlformats-officedocument.presentationml.notesSlide+xml"/>
  <Override PartName="/ppt/tags/tag50.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49"/>
  </p:notesMasterIdLst>
  <p:handoutMasterIdLst>
    <p:handoutMasterId r:id="rId50"/>
  </p:handoutMasterIdLst>
  <p:sldIdLst>
    <p:sldId id="256" r:id="rId2"/>
    <p:sldId id="327" r:id="rId3"/>
    <p:sldId id="258" r:id="rId4"/>
    <p:sldId id="259" r:id="rId5"/>
    <p:sldId id="274" r:id="rId6"/>
    <p:sldId id="361" r:id="rId7"/>
    <p:sldId id="364" r:id="rId8"/>
    <p:sldId id="328" r:id="rId9"/>
    <p:sldId id="339" r:id="rId10"/>
    <p:sldId id="296" r:id="rId11"/>
    <p:sldId id="266" r:id="rId12"/>
    <p:sldId id="331" r:id="rId13"/>
    <p:sldId id="333" r:id="rId14"/>
    <p:sldId id="329" r:id="rId15"/>
    <p:sldId id="267" r:id="rId16"/>
    <p:sldId id="316" r:id="rId17"/>
    <p:sldId id="341" r:id="rId18"/>
    <p:sldId id="351" r:id="rId19"/>
    <p:sldId id="342" r:id="rId20"/>
    <p:sldId id="362" r:id="rId21"/>
    <p:sldId id="343" r:id="rId22"/>
    <p:sldId id="349" r:id="rId23"/>
    <p:sldId id="348" r:id="rId24"/>
    <p:sldId id="344" r:id="rId25"/>
    <p:sldId id="345" r:id="rId26"/>
    <p:sldId id="346" r:id="rId27"/>
    <p:sldId id="347" r:id="rId28"/>
    <p:sldId id="352" r:id="rId29"/>
    <p:sldId id="273" r:id="rId30"/>
    <p:sldId id="354" r:id="rId31"/>
    <p:sldId id="355" r:id="rId32"/>
    <p:sldId id="275" r:id="rId33"/>
    <p:sldId id="363" r:id="rId34"/>
    <p:sldId id="276" r:id="rId35"/>
    <p:sldId id="277" r:id="rId36"/>
    <p:sldId id="356" r:id="rId37"/>
    <p:sldId id="357" r:id="rId38"/>
    <p:sldId id="358" r:id="rId39"/>
    <p:sldId id="359" r:id="rId40"/>
    <p:sldId id="330" r:id="rId41"/>
    <p:sldId id="334" r:id="rId42"/>
    <p:sldId id="335" r:id="rId43"/>
    <p:sldId id="337" r:id="rId44"/>
    <p:sldId id="338" r:id="rId45"/>
    <p:sldId id="340" r:id="rId46"/>
    <p:sldId id="336" r:id="rId47"/>
    <p:sldId id="326" r:id="rId48"/>
  </p:sldIdLst>
  <p:sldSz cx="18288000" cy="10287000"/>
  <p:notesSz cx="6858000" cy="9144000"/>
  <p:embeddedFontLst>
    <p:embeddedFont>
      <p:font typeface="Lato" panose="020F0502020204030203" pitchFamily="34" charset="0"/>
      <p:regular r:id="rId51"/>
      <p:bold r:id="rId52"/>
      <p:italic r:id="rId53"/>
      <p:boldItalic r:id="rId54"/>
    </p:embeddedFont>
  </p:embeddedFontLst>
  <p:custDataLst>
    <p:tags r:id="rId5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duction" id="{B35A6FE9-8454-47DA-94D0-3EE32C1C7080}">
          <p14:sldIdLst>
            <p14:sldId id="256"/>
            <p14:sldId id="327"/>
            <p14:sldId id="258"/>
            <p14:sldId id="259"/>
            <p14:sldId id="274"/>
            <p14:sldId id="361"/>
            <p14:sldId id="364"/>
          </p14:sldIdLst>
        </p14:section>
        <p14:section name="Hyperautomation Overview" id="{48919465-8B04-4863-9491-A51EE4D27E0B}">
          <p14:sldIdLst>
            <p14:sldId id="328"/>
            <p14:sldId id="339"/>
            <p14:sldId id="296"/>
            <p14:sldId id="266"/>
            <p14:sldId id="331"/>
            <p14:sldId id="333"/>
          </p14:sldIdLst>
        </p14:section>
        <p14:section name="Fundamentals of Hyperautomation" id="{67F8A13F-DD85-457E-9B09-E48C195374BC}">
          <p14:sldIdLst>
            <p14:sldId id="329"/>
            <p14:sldId id="267"/>
            <p14:sldId id="316"/>
            <p14:sldId id="341"/>
            <p14:sldId id="351"/>
            <p14:sldId id="342"/>
            <p14:sldId id="362"/>
            <p14:sldId id="343"/>
            <p14:sldId id="349"/>
            <p14:sldId id="348"/>
            <p14:sldId id="344"/>
            <p14:sldId id="345"/>
            <p14:sldId id="346"/>
            <p14:sldId id="347"/>
            <p14:sldId id="352"/>
            <p14:sldId id="273"/>
            <p14:sldId id="354"/>
            <p14:sldId id="355"/>
            <p14:sldId id="275"/>
            <p14:sldId id="363"/>
            <p14:sldId id="276"/>
            <p14:sldId id="277"/>
            <p14:sldId id="356"/>
            <p14:sldId id="357"/>
            <p14:sldId id="358"/>
            <p14:sldId id="359"/>
          </p14:sldIdLst>
        </p14:section>
        <p14:section name="Workflow Use Cases" id="{EC4D3FD0-C6E3-4FDE-B3DB-E0BF8D66AC8E}">
          <p14:sldIdLst>
            <p14:sldId id="330"/>
            <p14:sldId id="334"/>
            <p14:sldId id="335"/>
            <p14:sldId id="337"/>
            <p14:sldId id="338"/>
            <p14:sldId id="340"/>
            <p14:sldId id="336"/>
            <p14:sldId id="326"/>
          </p14:sldIdLst>
        </p14:section>
      </p14:sectionLst>
    </p:ext>
    <p:ext uri="{EFAFB233-063F-42B5-8137-9DF3F51BA10A}">
      <p15:sldGuideLst xmlns:p15="http://schemas.microsoft.com/office/powerpoint/2012/main">
        <p15:guide id="1" orient="horz" pos="3240">
          <p15:clr>
            <a:srgbClr val="A4A3A4"/>
          </p15:clr>
        </p15:guide>
        <p15:guide id="2" pos="5760">
          <p15:clr>
            <a:srgbClr val="A4A3A4"/>
          </p15:clr>
        </p15:guide>
      </p15:sldGuideLst>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5" roundtripDataSignature="AMtx7mgm7cg7PJ7JYlYdZawq2XSq0vCgm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0C6A611-B808-D89B-EFA3-8780BA54AD8A}" name="Artur Zawiasinski" initials="AZ" userId="5a181ef7dbcd259e" providerId="Windows Live"/>
  <p188:author id="{86C394CB-0CDA-2CB8-DD1C-7F6F56908746}" name="Micah Ward" initials="MW" userId="S::micahw@sentinelone.com::07befe80-2c1b-4b96-879d-0222e279f39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Micah Ward"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EFF"/>
    <a:srgbClr val="EBEFFF"/>
    <a:srgbClr val="D9DFFF"/>
    <a:srgbClr val="673DF9"/>
    <a:srgbClr val="6FB5FF"/>
    <a:srgbClr val="7165FF"/>
    <a:srgbClr val="1EBFFF"/>
    <a:srgbClr val="0B0020"/>
    <a:srgbClr val="B5BEFF"/>
    <a:srgbClr val="A1AB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3C0BDCB-B24F-45E8-A347-6E5EAE68752E}">
  <a:tblStyle styleId="{23C0BDCB-B24F-45E8-A347-6E5EAE68752E}"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01" autoAdjust="0"/>
    <p:restoredTop sz="56744" autoAdjust="0"/>
  </p:normalViewPr>
  <p:slideViewPr>
    <p:cSldViewPr snapToGrid="0">
      <p:cViewPr varScale="1">
        <p:scale>
          <a:sx n="28" d="100"/>
          <a:sy n="28" d="100"/>
        </p:scale>
        <p:origin x="1712" y="36"/>
      </p:cViewPr>
      <p:guideLst>
        <p:guide orient="horz" pos="3240"/>
        <p:guide pos="576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2" d="100"/>
          <a:sy n="62" d="100"/>
        </p:scale>
        <p:origin x="2444" y="2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gs" Target="tags/tag1.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66" Type="http://schemas.openxmlformats.org/officeDocument/2006/relationships/commentAuthors" Target="commentAuthor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5"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298977786822375E-2"/>
          <c:y val="7.552938041712412E-2"/>
          <c:w val="0.94520599239210412"/>
          <c:h val="0.76060141848139895"/>
        </c:manualLayout>
      </c:layout>
      <c:barChart>
        <c:barDir val="col"/>
        <c:grouping val="clustered"/>
        <c:varyColors val="0"/>
        <c:ser>
          <c:idx val="0"/>
          <c:order val="0"/>
          <c:tx>
            <c:strRef>
              <c:f>Sheet1!$B$1</c:f>
              <c:strCache>
                <c:ptCount val="1"/>
                <c:pt idx="0">
                  <c:v>Year</c:v>
                </c:pt>
              </c:strCache>
            </c:strRef>
          </c:tx>
          <c:spPr>
            <a:solidFill>
              <a:schemeClr val="accent1">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Sheet1!$A$2:$A$6</c:f>
              <c:numCache>
                <c:formatCode>General</c:formatCode>
                <c:ptCount val="5"/>
                <c:pt idx="0">
                  <c:v>2020</c:v>
                </c:pt>
                <c:pt idx="1">
                  <c:v>2021</c:v>
                </c:pt>
                <c:pt idx="2">
                  <c:v>2022</c:v>
                </c:pt>
                <c:pt idx="3">
                  <c:v>2023</c:v>
                </c:pt>
                <c:pt idx="4">
                  <c:v>2024</c:v>
                </c:pt>
              </c:numCache>
            </c:numRef>
          </c:cat>
          <c:val>
            <c:numRef>
              <c:f>Sheet1!$B$2:$B$6</c:f>
              <c:numCache>
                <c:formatCode>General</c:formatCode>
                <c:ptCount val="5"/>
                <c:pt idx="0">
                  <c:v>37</c:v>
                </c:pt>
                <c:pt idx="1">
                  <c:v>41</c:v>
                </c:pt>
                <c:pt idx="2">
                  <c:v>48</c:v>
                </c:pt>
                <c:pt idx="3">
                  <c:v>54</c:v>
                </c:pt>
                <c:pt idx="4">
                  <c:v>43</c:v>
                </c:pt>
              </c:numCache>
            </c:numRef>
          </c:val>
          <c:extLst>
            <c:ext xmlns:c16="http://schemas.microsoft.com/office/drawing/2014/chart" uri="{C3380CC4-5D6E-409C-BE32-E72D297353CC}">
              <c16:uniqueId val="{00000000-459F-4928-9158-A0058B5F8DD1}"/>
            </c:ext>
          </c:extLst>
        </c:ser>
        <c:dLbls>
          <c:showLegendKey val="0"/>
          <c:showVal val="0"/>
          <c:showCatName val="0"/>
          <c:showSerName val="0"/>
          <c:showPercent val="0"/>
          <c:showBubbleSize val="0"/>
        </c:dLbls>
        <c:gapWidth val="80"/>
        <c:overlap val="25"/>
        <c:axId val="2132122256"/>
        <c:axId val="2132862192"/>
      </c:barChart>
      <c:catAx>
        <c:axId val="2132122256"/>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2132862192"/>
        <c:crosses val="autoZero"/>
        <c:auto val="1"/>
        <c:lblAlgn val="ctr"/>
        <c:lblOffset val="100"/>
        <c:noMultiLvlLbl val="0"/>
      </c:catAx>
      <c:valAx>
        <c:axId val="2132862192"/>
        <c:scaling>
          <c:orientation val="minMax"/>
        </c:scaling>
        <c:delete val="0"/>
        <c:axPos val="l"/>
        <c:majorGridlines>
          <c:spPr>
            <a:ln w="9525" cap="flat" cmpd="sng" algn="ctr">
              <a:solidFill>
                <a:schemeClr val="tx1">
                  <a:lumMod val="5000"/>
                  <a:lumOff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21321222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CC05EC-F4B1-81FA-C8A5-970893D09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3B3F06C-7BDF-9E68-8205-6578F1655EE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C26A2A8-36A0-A648-81F8-9D2A60210701}" type="datetimeFigureOut">
              <a:t>11/4/2025</a:t>
            </a:fld>
            <a:endParaRPr lang="en-US"/>
          </a:p>
        </p:txBody>
      </p:sp>
      <p:sp>
        <p:nvSpPr>
          <p:cNvPr id="4" name="Footer Placeholder 3">
            <a:extLst>
              <a:ext uri="{FF2B5EF4-FFF2-40B4-BE49-F238E27FC236}">
                <a16:creationId xmlns:a16="http://schemas.microsoft.com/office/drawing/2014/main" id="{8DD2BB01-4030-284F-C234-64F8423DF6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2F8E62F-65B2-2D85-1C1A-55CDDFF0413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D3C22B-6CF7-0846-AFFB-4291920FC84C}" type="slidenum">
              <a:t>‹#›</a:t>
            </a:fld>
            <a:endParaRPr lang="en-US"/>
          </a:p>
        </p:txBody>
      </p:sp>
    </p:spTree>
    <p:extLst>
      <p:ext uri="{BB962C8B-B14F-4D97-AF65-F5344CB8AC3E}">
        <p14:creationId xmlns:p14="http://schemas.microsoft.com/office/powerpoint/2010/main" val="24584398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lang="en-US"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lang="en-US"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14"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14"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14"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14"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14"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14"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14"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14"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14" b="0" i="0" u="none" strike="noStrike" cap="none">
                <a:solidFill>
                  <a:schemeClr val="dk1"/>
                </a:solidFill>
                <a:latin typeface="Arial"/>
                <a:ea typeface="Arial"/>
                <a:cs typeface="Arial"/>
                <a:sym typeface="Arial"/>
              </a:defRPr>
            </a:lvl9pPr>
          </a:lstStyle>
          <a:p>
            <a:endParaRPr dirty="0"/>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lang="en-US"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lvl1pPr>
              <a:defRPr b="0" i="0">
                <a:latin typeface="Arial" panose="020B0604020202020204" pitchFamily="34" charset="0"/>
                <a:cs typeface="Arial" panose="020B0604020202020204" pitchFamily="34" charset="0"/>
              </a:defRPr>
            </a:lvl1pPr>
          </a:lstStyle>
          <a:p>
            <a:pPr algn="r">
              <a:buSzPts val="1200"/>
            </a:pPr>
            <a:fld id="{00000000-1234-1234-1234-123412341234}" type="slidenum">
              <a:rPr lang="en-US" sz="1200" smtClean="0">
                <a:solidFill>
                  <a:schemeClr val="dk1"/>
                </a:solidFill>
                <a:ea typeface="Arial"/>
                <a:sym typeface="Arial"/>
              </a:rPr>
              <a:pPr algn="r">
                <a:buSzPts val="1200"/>
              </a:pPr>
              <a:t>‹#›</a:t>
            </a:fld>
            <a:endParaRPr lang="en-US" sz="1200" dirty="0">
              <a:solidFill>
                <a:schemeClr val="dk1"/>
              </a:solidFill>
              <a:ea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Arial" panose="020B0604020202020204" pitchFamily="34" charset="0"/>
              <a:cs typeface="Arial" panose="020B0604020202020204" pitchFamily="34" charset="0"/>
            </a:endParaRPr>
          </a:p>
        </p:txBody>
      </p:sp>
      <p:sp>
        <p:nvSpPr>
          <p:cNvPr id="177" name="Google Shape;17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77E4C3F-53DA-C113-FB64-0EDD576DE05F}"/>
            </a:ext>
          </a:extLst>
        </p:cNvPr>
        <p:cNvGrpSpPr/>
        <p:nvPr/>
      </p:nvGrpSpPr>
      <p:grpSpPr>
        <a:xfrm>
          <a:off x="0" y="0"/>
          <a:ext cx="0" cy="0"/>
          <a:chOff x="0" y="0"/>
          <a:chExt cx="0" cy="0"/>
        </a:xfrm>
      </p:grpSpPr>
      <p:sp>
        <p:nvSpPr>
          <p:cNvPr id="180" name="Google Shape;180;p2:notes">
            <a:extLst>
              <a:ext uri="{FF2B5EF4-FFF2-40B4-BE49-F238E27FC236}">
                <a16:creationId xmlns:a16="http://schemas.microsoft.com/office/drawing/2014/main" id="{774D2190-5CC9-A3E8-8FB8-7A6BCB6955D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i="1" dirty="0">
              <a:latin typeface="Arial" panose="020B0604020202020204" pitchFamily="34" charset="0"/>
              <a:cs typeface="Arial" panose="020B0604020202020204" pitchFamily="34" charset="0"/>
            </a:endParaRPr>
          </a:p>
        </p:txBody>
      </p:sp>
      <p:sp>
        <p:nvSpPr>
          <p:cNvPr id="181" name="Google Shape;181;p2:notes">
            <a:extLst>
              <a:ext uri="{FF2B5EF4-FFF2-40B4-BE49-F238E27FC236}">
                <a16:creationId xmlns:a16="http://schemas.microsoft.com/office/drawing/2014/main" id="{8BCDE3AD-E3EA-BCEA-BF28-5497E34C2A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103029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Arial" panose="020B0604020202020204" pitchFamily="34" charset="0"/>
              <a:cs typeface="Arial" panose="020B0604020202020204" pitchFamily="34" charset="0"/>
            </a:endParaRPr>
          </a:p>
        </p:txBody>
      </p:sp>
      <p:sp>
        <p:nvSpPr>
          <p:cNvPr id="187" name="Google Shape;18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b="0" dirty="0">
              <a:latin typeface="Arial" panose="020B0604020202020204" pitchFamily="34" charset="0"/>
              <a:cs typeface="Arial" panose="020B0604020202020204" pitchFamily="34" charset="0"/>
            </a:endParaRPr>
          </a:p>
        </p:txBody>
      </p:sp>
      <p:sp>
        <p:nvSpPr>
          <p:cNvPr id="193" name="Google Shape;19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1" indent="0" algn="l" rtl="0">
              <a:lnSpc>
                <a:spcPct val="100000"/>
              </a:lnSpc>
              <a:spcBef>
                <a:spcPts val="0"/>
              </a:spcBef>
              <a:spcAft>
                <a:spcPts val="0"/>
              </a:spcAft>
              <a:buSzPts val="1400"/>
              <a:buNone/>
            </a:pPr>
            <a:endParaRPr b="1" dirty="0">
              <a:latin typeface="Arial" panose="020B0604020202020204" pitchFamily="34" charset="0"/>
              <a:cs typeface="Arial" panose="020B0604020202020204" pitchFamily="34" charset="0"/>
            </a:endParaRPr>
          </a:p>
        </p:txBody>
      </p:sp>
      <p:sp>
        <p:nvSpPr>
          <p:cNvPr id="389" name="Google Shape;38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idx="12"/>
          </p:nvPr>
        </p:nvSpPr>
        <p:spPr/>
        <p:txBody>
          <a:bodyPr/>
          <a:lstStyle/>
          <a:p>
            <a:pPr algn="r">
              <a:buSzPts val="1200"/>
            </a:pPr>
            <a:fld id="{00000000-1234-1234-1234-123412341234}" type="slidenum">
              <a:rPr lang="en-US" sz="1200" smtClean="0">
                <a:solidFill>
                  <a:schemeClr val="dk1"/>
                </a:solidFill>
                <a:ea typeface="Arial"/>
                <a:sym typeface="Arial"/>
              </a:rPr>
              <a:pPr algn="r">
                <a:buSzPts val="1200"/>
              </a:pPr>
              <a:t>6</a:t>
            </a:fld>
            <a:endParaRPr lang="en-US" sz="1200" dirty="0">
              <a:solidFill>
                <a:schemeClr val="dk1"/>
              </a:solidFill>
              <a:ea typeface="Arial"/>
              <a:sym typeface="Arial"/>
            </a:endParaRPr>
          </a:p>
        </p:txBody>
      </p:sp>
    </p:spTree>
    <p:extLst>
      <p:ext uri="{BB962C8B-B14F-4D97-AF65-F5344CB8AC3E}">
        <p14:creationId xmlns:p14="http://schemas.microsoft.com/office/powerpoint/2010/main" val="776444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a:extLst>
            <a:ext uri="{FF2B5EF4-FFF2-40B4-BE49-F238E27FC236}">
              <a16:creationId xmlns:a16="http://schemas.microsoft.com/office/drawing/2014/main" id="{954AD59E-17D7-BDA6-8105-8AC79B35503F}"/>
            </a:ext>
          </a:extLst>
        </p:cNvPr>
        <p:cNvGrpSpPr/>
        <p:nvPr/>
      </p:nvGrpSpPr>
      <p:grpSpPr>
        <a:xfrm>
          <a:off x="0" y="0"/>
          <a:ext cx="0" cy="0"/>
          <a:chOff x="0" y="0"/>
          <a:chExt cx="0" cy="0"/>
        </a:xfrm>
      </p:grpSpPr>
      <p:sp>
        <p:nvSpPr>
          <p:cNvPr id="382" name="Google Shape;382;p18:notes">
            <a:extLst>
              <a:ext uri="{FF2B5EF4-FFF2-40B4-BE49-F238E27FC236}">
                <a16:creationId xmlns:a16="http://schemas.microsoft.com/office/drawing/2014/main" id="{772E5EDF-E5C4-D5AE-C511-5046C3D296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Arial" panose="020B0604020202020204" pitchFamily="34" charset="0"/>
              <a:cs typeface="Arial" panose="020B0604020202020204" pitchFamily="34" charset="0"/>
            </a:endParaRPr>
          </a:p>
        </p:txBody>
      </p:sp>
      <p:sp>
        <p:nvSpPr>
          <p:cNvPr id="383" name="Google Shape;383;p18:notes">
            <a:extLst>
              <a:ext uri="{FF2B5EF4-FFF2-40B4-BE49-F238E27FC236}">
                <a16:creationId xmlns:a16="http://schemas.microsoft.com/office/drawing/2014/main" id="{722454E5-E3BE-EE80-FB4F-894FD6C1CF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88769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2F398296-F8D2-97C8-3638-F96E9DCF84CC}"/>
            </a:ext>
          </a:extLst>
        </p:cNvPr>
        <p:cNvGrpSpPr/>
        <p:nvPr/>
      </p:nvGrpSpPr>
      <p:grpSpPr>
        <a:xfrm>
          <a:off x="0" y="0"/>
          <a:ext cx="0" cy="0"/>
          <a:chOff x="0" y="0"/>
          <a:chExt cx="0" cy="0"/>
        </a:xfrm>
      </p:grpSpPr>
      <p:sp>
        <p:nvSpPr>
          <p:cNvPr id="459" name="Google Shape;459;p25:notes">
            <a:extLst>
              <a:ext uri="{FF2B5EF4-FFF2-40B4-BE49-F238E27FC236}">
                <a16:creationId xmlns:a16="http://schemas.microsoft.com/office/drawing/2014/main" id="{089E6588-6375-9BDA-9B0F-ED8C1EFD2FC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i="1" dirty="0"/>
              <a:t>451 Research Report: https://www.sentinelone.com/resources/reports/451-research-report-hyperautomation-combines-automation-with-ai/</a:t>
            </a:r>
          </a:p>
          <a:p>
            <a:pPr marL="0" lvl="0" indent="0" algn="l" rtl="0">
              <a:lnSpc>
                <a:spcPct val="100000"/>
              </a:lnSpc>
              <a:spcBef>
                <a:spcPts val="0"/>
              </a:spcBef>
              <a:spcAft>
                <a:spcPts val="0"/>
              </a:spcAft>
              <a:buSzPts val="1400"/>
              <a:buNone/>
            </a:pPr>
            <a:endParaRPr lang="en-US"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endParaRPr dirty="0">
              <a:latin typeface="Arial" panose="020B0604020202020204" pitchFamily="34" charset="0"/>
              <a:cs typeface="Arial" panose="020B0604020202020204" pitchFamily="34" charset="0"/>
            </a:endParaRPr>
          </a:p>
        </p:txBody>
      </p:sp>
      <p:sp>
        <p:nvSpPr>
          <p:cNvPr id="460" name="Google Shape;460;p25:notes">
            <a:extLst>
              <a:ext uri="{FF2B5EF4-FFF2-40B4-BE49-F238E27FC236}">
                <a16:creationId xmlns:a16="http://schemas.microsoft.com/office/drawing/2014/main" id="{9E5F9C0D-21CA-FA36-E274-85DE8B90A4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7493133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US" i="1" dirty="0"/>
              <a:t>451 Research Report: https://www.sentinelone.com/resources/reports/451-research-report-hyperautomation-combines-automation-with-ai/</a:t>
            </a:r>
          </a:p>
        </p:txBody>
      </p:sp>
      <p:sp>
        <p:nvSpPr>
          <p:cNvPr id="588" name="Google Shape;588;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Arial" panose="020B0604020202020204" pitchFamily="34" charset="0"/>
              <a:cs typeface="Arial" panose="020B0604020202020204" pitchFamily="34" charset="0"/>
            </a:endParaRPr>
          </a:p>
        </p:txBody>
      </p:sp>
      <p:sp>
        <p:nvSpPr>
          <p:cNvPr id="240" name="Google Shape;240;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2D93EA43-962A-6970-B8AE-9A803898D959}"/>
            </a:ext>
          </a:extLst>
        </p:cNvPr>
        <p:cNvGrpSpPr/>
        <p:nvPr/>
      </p:nvGrpSpPr>
      <p:grpSpPr>
        <a:xfrm>
          <a:off x="0" y="0"/>
          <a:ext cx="0" cy="0"/>
          <a:chOff x="0" y="0"/>
          <a:chExt cx="0" cy="0"/>
        </a:xfrm>
      </p:grpSpPr>
      <p:sp>
        <p:nvSpPr>
          <p:cNvPr id="269" name="Google Shape;269;p13:notes">
            <a:extLst>
              <a:ext uri="{FF2B5EF4-FFF2-40B4-BE49-F238E27FC236}">
                <a16:creationId xmlns:a16="http://schemas.microsoft.com/office/drawing/2014/main" id="{5C111A8F-EE1F-293B-1D1A-D402D869101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b="0" dirty="0">
              <a:latin typeface="Arial" panose="020B0604020202020204" pitchFamily="34" charset="0"/>
              <a:cs typeface="Arial" panose="020B0604020202020204" pitchFamily="34" charset="0"/>
            </a:endParaRPr>
          </a:p>
        </p:txBody>
      </p:sp>
      <p:sp>
        <p:nvSpPr>
          <p:cNvPr id="270" name="Google Shape;270;p13:notes">
            <a:extLst>
              <a:ext uri="{FF2B5EF4-FFF2-40B4-BE49-F238E27FC236}">
                <a16:creationId xmlns:a16="http://schemas.microsoft.com/office/drawing/2014/main" id="{F38EBC26-48ED-2C36-DF6F-FC46DA0F18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821471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2EAD641F-01A8-73F9-4269-FFC0510F571E}"/>
            </a:ext>
          </a:extLst>
        </p:cNvPr>
        <p:cNvGrpSpPr/>
        <p:nvPr/>
      </p:nvGrpSpPr>
      <p:grpSpPr>
        <a:xfrm>
          <a:off x="0" y="0"/>
          <a:ext cx="0" cy="0"/>
          <a:chOff x="0" y="0"/>
          <a:chExt cx="0" cy="0"/>
        </a:xfrm>
      </p:grpSpPr>
      <p:sp>
        <p:nvSpPr>
          <p:cNvPr id="269" name="Google Shape;269;p13:notes">
            <a:extLst>
              <a:ext uri="{FF2B5EF4-FFF2-40B4-BE49-F238E27FC236}">
                <a16:creationId xmlns:a16="http://schemas.microsoft.com/office/drawing/2014/main" id="{30C41D3D-E5DD-AE73-8546-53F9715FE45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Arial" panose="020B0604020202020204" pitchFamily="34" charset="0"/>
              <a:cs typeface="Arial" panose="020B0604020202020204" pitchFamily="34" charset="0"/>
            </a:endParaRPr>
          </a:p>
        </p:txBody>
      </p:sp>
      <p:sp>
        <p:nvSpPr>
          <p:cNvPr id="270" name="Google Shape;270;p13:notes">
            <a:extLst>
              <a:ext uri="{FF2B5EF4-FFF2-40B4-BE49-F238E27FC236}">
                <a16:creationId xmlns:a16="http://schemas.microsoft.com/office/drawing/2014/main" id="{49E4F4CA-A3CD-3B34-1B86-A00CE5E82B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718531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a:extLst>
            <a:ext uri="{FF2B5EF4-FFF2-40B4-BE49-F238E27FC236}">
              <a16:creationId xmlns:a16="http://schemas.microsoft.com/office/drawing/2014/main" id="{749A7A56-1B34-113F-A7D2-677FA92C8100}"/>
            </a:ext>
          </a:extLst>
        </p:cNvPr>
        <p:cNvGrpSpPr/>
        <p:nvPr/>
      </p:nvGrpSpPr>
      <p:grpSpPr>
        <a:xfrm>
          <a:off x="0" y="0"/>
          <a:ext cx="0" cy="0"/>
          <a:chOff x="0" y="0"/>
          <a:chExt cx="0" cy="0"/>
        </a:xfrm>
      </p:grpSpPr>
      <p:sp>
        <p:nvSpPr>
          <p:cNvPr id="382" name="Google Shape;382;p18:notes">
            <a:extLst>
              <a:ext uri="{FF2B5EF4-FFF2-40B4-BE49-F238E27FC236}">
                <a16:creationId xmlns:a16="http://schemas.microsoft.com/office/drawing/2014/main" id="{18CEEB5B-60E3-6229-7ACC-64E32609F28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Arial" panose="020B0604020202020204" pitchFamily="34" charset="0"/>
              <a:cs typeface="Arial" panose="020B0604020202020204" pitchFamily="34" charset="0"/>
            </a:endParaRPr>
          </a:p>
        </p:txBody>
      </p:sp>
      <p:sp>
        <p:nvSpPr>
          <p:cNvPr id="383" name="Google Shape;383;p18:notes">
            <a:extLst>
              <a:ext uri="{FF2B5EF4-FFF2-40B4-BE49-F238E27FC236}">
                <a16:creationId xmlns:a16="http://schemas.microsoft.com/office/drawing/2014/main" id="{F9829668-49E0-9AD7-1567-FD71E767D76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748719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i="1" dirty="0"/>
          </a:p>
        </p:txBody>
      </p:sp>
      <p:sp>
        <p:nvSpPr>
          <p:cNvPr id="350" name="Google Shape;350;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14591f9c43_0_1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92" name="Google Shape;492;g314591f9c43_0_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workflow</a:t>
            </a:r>
            <a:r>
              <a:rPr lang="en-US" b="0" dirty="0"/>
              <a:t> defines one or more actions in a process you’d like to automate.</a:t>
            </a:r>
          </a:p>
          <a:p>
            <a:endParaRPr lang="en-US" dirty="0"/>
          </a:p>
          <a:p>
            <a:r>
              <a:rPr lang="en-US" dirty="0"/>
              <a:t>Hyperautomation templates in Singularity™ Hyperautomation are pre-built, expert-designed workflow blueprints that help organizations quickly automate common security and IT processes. These templates address frequent use cases—such as endpoint incident response, suspicious user activity, and cloud threat remediation—by providing ready-made sequences of triggers and actions that can be customized to fit specific needs. They are accessible directly within the Hyperautomation platform, allowing users to review, use, and adapt them as starting points for building their own automated workflows. This accelerates deployment, ensures best practices, and lowers the barrier to entry for teams looking to automate and scale their operations without writing code. </a:t>
            </a:r>
          </a:p>
          <a:p>
            <a:endParaRPr lang="en-US" dirty="0"/>
          </a:p>
          <a:p>
            <a:r>
              <a:rPr lang="en-US" dirty="0"/>
              <a:t>Selecting </a:t>
            </a:r>
            <a:r>
              <a:rPr lang="en-US" b="1" dirty="0"/>
              <a:t>Use this template</a:t>
            </a:r>
            <a:r>
              <a:rPr lang="en-US" b="0" dirty="0"/>
              <a:t> copies the logic into a customizable workflow</a:t>
            </a:r>
            <a:endParaRPr lang="en-US" dirty="0"/>
          </a:p>
        </p:txBody>
      </p:sp>
      <p:sp>
        <p:nvSpPr>
          <p:cNvPr id="4" name="Slide Number Placeholder 3"/>
          <p:cNvSpPr>
            <a:spLocks noGrp="1"/>
          </p:cNvSpPr>
          <p:nvPr>
            <p:ph type="sldNum" idx="12"/>
          </p:nvPr>
        </p:nvSpPr>
        <p:spPr/>
        <p:txBody>
          <a:bodyPr/>
          <a:lstStyle/>
          <a:p>
            <a:pPr algn="r">
              <a:buSzPts val="1200"/>
            </a:pPr>
            <a:fld id="{00000000-1234-1234-1234-123412341234}" type="slidenum">
              <a:rPr lang="en-US" sz="1200" smtClean="0">
                <a:solidFill>
                  <a:schemeClr val="dk1"/>
                </a:solidFill>
                <a:ea typeface="Arial"/>
                <a:sym typeface="Arial"/>
              </a:rPr>
              <a:pPr algn="r">
                <a:buSzPts val="1200"/>
              </a:pPr>
              <a:t>17</a:t>
            </a:fld>
            <a:endParaRPr lang="en-US" sz="1200" dirty="0">
              <a:solidFill>
                <a:schemeClr val="dk1"/>
              </a:solidFill>
              <a:ea typeface="Arial"/>
              <a:sym typeface="Arial"/>
            </a:endParaRPr>
          </a:p>
        </p:txBody>
      </p:sp>
    </p:spTree>
    <p:extLst>
      <p:ext uri="{BB962C8B-B14F-4D97-AF65-F5344CB8AC3E}">
        <p14:creationId xmlns:p14="http://schemas.microsoft.com/office/powerpoint/2010/main" val="440980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F9BE577-E7CB-525F-787A-5EA06217D6EA}"/>
            </a:ext>
          </a:extLst>
        </p:cNvPr>
        <p:cNvGrpSpPr/>
        <p:nvPr/>
      </p:nvGrpSpPr>
      <p:grpSpPr>
        <a:xfrm>
          <a:off x="0" y="0"/>
          <a:ext cx="0" cy="0"/>
          <a:chOff x="0" y="0"/>
          <a:chExt cx="0" cy="0"/>
        </a:xfrm>
      </p:grpSpPr>
      <p:sp>
        <p:nvSpPr>
          <p:cNvPr id="180" name="Google Shape;180;p2:notes">
            <a:extLst>
              <a:ext uri="{FF2B5EF4-FFF2-40B4-BE49-F238E27FC236}">
                <a16:creationId xmlns:a16="http://schemas.microsoft.com/office/drawing/2014/main" id="{CA37BDCE-27CA-40A6-FF48-999BBE0A9E3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AE" sz="1814" b="0" i="1" u="none" strike="noStrike" cap="none" dirty="0">
                <a:solidFill>
                  <a:schemeClr val="dk1"/>
                </a:solidFill>
                <a:effectLst/>
                <a:latin typeface="Calibri"/>
                <a:ea typeface="Calibri"/>
                <a:cs typeface="Calibri"/>
                <a:sym typeface="Calibri"/>
              </a:rPr>
              <a:t>Use Enrich Alert with </a:t>
            </a:r>
            <a:r>
              <a:rPr lang="en-AE" sz="1814" b="0" i="1" u="none" strike="noStrike" cap="none" dirty="0" err="1">
                <a:solidFill>
                  <a:schemeClr val="dk1"/>
                </a:solidFill>
                <a:effectLst/>
                <a:latin typeface="Calibri"/>
                <a:ea typeface="Calibri"/>
                <a:cs typeface="Calibri"/>
                <a:sym typeface="Calibri"/>
              </a:rPr>
              <a:t>VirusTotal</a:t>
            </a:r>
            <a:r>
              <a:rPr lang="en-AE" sz="1814" b="0" i="1" u="none" strike="noStrike" cap="none" dirty="0">
                <a:solidFill>
                  <a:schemeClr val="dk1"/>
                </a:solidFill>
                <a:effectLst/>
                <a:latin typeface="Calibri"/>
                <a:ea typeface="Calibri"/>
                <a:cs typeface="Calibri"/>
                <a:sym typeface="Calibri"/>
              </a:rPr>
              <a:t> as an example. Walk through basic logic, pointing out elements we’ll be speaking to:</a:t>
            </a:r>
          </a:p>
          <a:p>
            <a:pPr marL="0" lvl="0" indent="0" algn="l" rtl="0">
              <a:lnSpc>
                <a:spcPct val="100000"/>
              </a:lnSpc>
              <a:spcBef>
                <a:spcPts val="0"/>
              </a:spcBef>
              <a:spcAft>
                <a:spcPts val="0"/>
              </a:spcAft>
              <a:buSzPts val="1400"/>
              <a:buNone/>
            </a:pPr>
            <a:endParaRPr lang="en-AE" sz="1814" b="0" i="1" u="none" strike="noStrike" cap="none" dirty="0">
              <a:solidFill>
                <a:schemeClr val="dk1"/>
              </a:solidFill>
              <a:effectLst/>
              <a:latin typeface="Calibri"/>
              <a:ea typeface="Calibri"/>
              <a:cs typeface="Calibri"/>
              <a:sym typeface="Calibri"/>
            </a:endParaRPr>
          </a:p>
          <a:p>
            <a:pPr marL="342900" lvl="0" indent="-342900" algn="l" rtl="0">
              <a:lnSpc>
                <a:spcPct val="100000"/>
              </a:lnSpc>
              <a:spcBef>
                <a:spcPts val="0"/>
              </a:spcBef>
              <a:spcAft>
                <a:spcPts val="0"/>
              </a:spcAft>
              <a:buSzPts val="1400"/>
              <a:buFont typeface="Arial" panose="020B0604020202020204" pitchFamily="34" charset="0"/>
              <a:buChar char="•"/>
            </a:pPr>
            <a:r>
              <a:rPr lang="en-AE" sz="1814" b="0" i="1" u="none" strike="noStrike" cap="none" dirty="0">
                <a:solidFill>
                  <a:schemeClr val="dk1"/>
                </a:solidFill>
                <a:effectLst/>
                <a:latin typeface="Calibri"/>
                <a:ea typeface="Calibri"/>
                <a:cs typeface="Calibri"/>
                <a:sym typeface="Calibri"/>
              </a:rPr>
              <a:t>Always starts with a trigger. Note the conditions of the trigger.</a:t>
            </a:r>
          </a:p>
          <a:p>
            <a:pPr marL="342900" lvl="0" indent="-342900" algn="l" rtl="0">
              <a:lnSpc>
                <a:spcPct val="100000"/>
              </a:lnSpc>
              <a:spcBef>
                <a:spcPts val="0"/>
              </a:spcBef>
              <a:spcAft>
                <a:spcPts val="0"/>
              </a:spcAft>
              <a:buSzPts val="1400"/>
              <a:buFont typeface="Arial" panose="020B0604020202020204" pitchFamily="34" charset="0"/>
              <a:buChar char="•"/>
            </a:pPr>
            <a:r>
              <a:rPr lang="en-AE" sz="1814" b="0" i="1" u="none" strike="noStrike" cap="none" dirty="0">
                <a:solidFill>
                  <a:schemeClr val="dk1"/>
                </a:solidFill>
                <a:effectLst/>
                <a:latin typeface="Calibri"/>
                <a:ea typeface="Calibri"/>
                <a:cs typeface="Calibri"/>
                <a:sym typeface="Calibri"/>
              </a:rPr>
              <a:t>Different actions, linked together on the workflow canvas</a:t>
            </a:r>
          </a:p>
          <a:p>
            <a:pPr marL="342900" lvl="0" indent="-342900" algn="l" rtl="0">
              <a:lnSpc>
                <a:spcPct val="100000"/>
              </a:lnSpc>
              <a:spcBef>
                <a:spcPts val="0"/>
              </a:spcBef>
              <a:spcAft>
                <a:spcPts val="0"/>
              </a:spcAft>
              <a:buSzPts val="1400"/>
              <a:buFont typeface="Arial" panose="020B0604020202020204" pitchFamily="34" charset="0"/>
              <a:buChar char="•"/>
            </a:pPr>
            <a:r>
              <a:rPr lang="en-AE" sz="1814" b="0" i="1" u="none" strike="noStrike" cap="none" dirty="0">
                <a:solidFill>
                  <a:schemeClr val="dk1"/>
                </a:solidFill>
                <a:effectLst/>
                <a:latin typeface="Calibri"/>
                <a:ea typeface="Calibri"/>
                <a:cs typeface="Calibri"/>
                <a:sym typeface="Calibri"/>
              </a:rPr>
              <a:t>Actions requiring configuration marked with an exclamation</a:t>
            </a:r>
          </a:p>
          <a:p>
            <a:pPr marL="342900" lvl="0" indent="-342900" algn="l" rtl="0">
              <a:lnSpc>
                <a:spcPct val="100000"/>
              </a:lnSpc>
              <a:spcBef>
                <a:spcPts val="0"/>
              </a:spcBef>
              <a:spcAft>
                <a:spcPts val="0"/>
              </a:spcAft>
              <a:buSzPts val="1400"/>
              <a:buFont typeface="Arial" panose="020B0604020202020204" pitchFamily="34" charset="0"/>
              <a:buChar char="•"/>
            </a:pPr>
            <a:r>
              <a:rPr lang="en-AE" sz="1814" b="0" i="1" u="none" strike="noStrike" cap="none" dirty="0">
                <a:solidFill>
                  <a:schemeClr val="dk1"/>
                </a:solidFill>
                <a:effectLst/>
                <a:latin typeface="Calibri"/>
                <a:ea typeface="Calibri"/>
                <a:cs typeface="Calibri"/>
                <a:sym typeface="Calibri"/>
              </a:rPr>
              <a:t>Variable</a:t>
            </a:r>
          </a:p>
          <a:p>
            <a:pPr marL="342900" lvl="0" indent="-342900" algn="l" rtl="0">
              <a:lnSpc>
                <a:spcPct val="100000"/>
              </a:lnSpc>
              <a:spcBef>
                <a:spcPts val="0"/>
              </a:spcBef>
              <a:spcAft>
                <a:spcPts val="0"/>
              </a:spcAft>
              <a:buSzPts val="1400"/>
              <a:buFont typeface="Arial" panose="020B0604020202020204" pitchFamily="34" charset="0"/>
              <a:buChar char="•"/>
            </a:pPr>
            <a:r>
              <a:rPr lang="en-AE" sz="1814" b="0" i="1" u="none" strike="noStrike" cap="none" dirty="0">
                <a:solidFill>
                  <a:schemeClr val="dk1"/>
                </a:solidFill>
                <a:effectLst/>
                <a:latin typeface="Calibri"/>
                <a:ea typeface="Calibri"/>
                <a:cs typeface="Calibri"/>
                <a:sym typeface="Calibri"/>
              </a:rPr>
              <a:t>Functions</a:t>
            </a:r>
          </a:p>
          <a:p>
            <a:pPr marL="342900" lvl="0" indent="-342900" algn="l" rtl="0">
              <a:lnSpc>
                <a:spcPct val="100000"/>
              </a:lnSpc>
              <a:spcBef>
                <a:spcPts val="0"/>
              </a:spcBef>
              <a:spcAft>
                <a:spcPts val="0"/>
              </a:spcAft>
              <a:buSzPts val="1400"/>
              <a:buFont typeface="Arial" panose="020B0604020202020204" pitchFamily="34" charset="0"/>
              <a:buChar char="•"/>
            </a:pPr>
            <a:r>
              <a:rPr lang="en-AE" sz="1814" b="0" i="1" u="none" strike="noStrike" cap="none" dirty="0">
                <a:solidFill>
                  <a:schemeClr val="dk1"/>
                </a:solidFill>
                <a:effectLst/>
                <a:latin typeface="Calibri"/>
                <a:ea typeface="Calibri"/>
                <a:cs typeface="Calibri"/>
                <a:sym typeface="Calibri"/>
              </a:rPr>
              <a:t>Conditional branching</a:t>
            </a:r>
          </a:p>
          <a:p>
            <a:pPr marL="342900" lvl="0" indent="-342900" algn="l" rtl="0">
              <a:lnSpc>
                <a:spcPct val="100000"/>
              </a:lnSpc>
              <a:spcBef>
                <a:spcPts val="0"/>
              </a:spcBef>
              <a:spcAft>
                <a:spcPts val="0"/>
              </a:spcAft>
              <a:buSzPts val="1400"/>
              <a:buFont typeface="Arial" panose="020B0604020202020204" pitchFamily="34" charset="0"/>
              <a:buChar char="•"/>
            </a:pPr>
            <a:r>
              <a:rPr lang="en-AE" sz="1814" b="0" i="1" u="none" strike="noStrike" cap="none" dirty="0">
                <a:solidFill>
                  <a:schemeClr val="dk1"/>
                </a:solidFill>
                <a:effectLst/>
                <a:latin typeface="Calibri"/>
                <a:ea typeface="Calibri"/>
                <a:cs typeface="Calibri"/>
                <a:sym typeface="Calibri"/>
              </a:rPr>
              <a:t>VT integration (we’ll look at this more closely in the Integrations section)</a:t>
            </a:r>
          </a:p>
          <a:p>
            <a:pPr marL="342900" lvl="0" indent="-342900" algn="l" rtl="0">
              <a:lnSpc>
                <a:spcPct val="100000"/>
              </a:lnSpc>
              <a:spcBef>
                <a:spcPts val="0"/>
              </a:spcBef>
              <a:spcAft>
                <a:spcPts val="0"/>
              </a:spcAft>
              <a:buSzPts val="1400"/>
              <a:buFont typeface="Arial" panose="020B0604020202020204" pitchFamily="34" charset="0"/>
              <a:buChar char="•"/>
            </a:pPr>
            <a:r>
              <a:rPr lang="en-AE" sz="1814" b="0" i="1" u="none" strike="noStrike" cap="none" dirty="0">
                <a:solidFill>
                  <a:schemeClr val="dk1"/>
                </a:solidFill>
                <a:effectLst/>
                <a:latin typeface="Calibri"/>
                <a:ea typeface="Calibri"/>
                <a:cs typeface="Calibri"/>
                <a:sym typeface="Calibri"/>
              </a:rPr>
              <a:t>Integration to write results to alert notes</a:t>
            </a:r>
          </a:p>
          <a:p>
            <a:pPr marL="0" lvl="0" indent="0" algn="l" rtl="0">
              <a:lnSpc>
                <a:spcPct val="100000"/>
              </a:lnSpc>
              <a:spcBef>
                <a:spcPts val="0"/>
              </a:spcBef>
              <a:spcAft>
                <a:spcPts val="0"/>
              </a:spcAft>
              <a:buSzPts val="1400"/>
              <a:buNone/>
            </a:pPr>
            <a:endParaRPr i="1" dirty="0">
              <a:latin typeface="Arial" panose="020B0604020202020204" pitchFamily="34" charset="0"/>
              <a:cs typeface="Arial" panose="020B0604020202020204" pitchFamily="34" charset="0"/>
            </a:endParaRPr>
          </a:p>
        </p:txBody>
      </p:sp>
      <p:sp>
        <p:nvSpPr>
          <p:cNvPr id="181" name="Google Shape;181;p2:notes">
            <a:extLst>
              <a:ext uri="{FF2B5EF4-FFF2-40B4-BE49-F238E27FC236}">
                <a16:creationId xmlns:a16="http://schemas.microsoft.com/office/drawing/2014/main" id="{4954366B-A367-CB04-287B-929F1BDE4A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870497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2c685b26e9_0_22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AE" sz="1814" b="0" i="1" u="none" strike="noStrike" cap="none" dirty="0">
                <a:solidFill>
                  <a:schemeClr val="dk1"/>
                </a:solidFill>
                <a:effectLst/>
                <a:latin typeface="Calibri"/>
                <a:ea typeface="Calibri"/>
                <a:cs typeface="Calibri"/>
                <a:sym typeface="Calibri"/>
              </a:rPr>
              <a:t>We’ll be looking more deeply at the Singularity Response Trigger logic in the Simple Workflow demo</a:t>
            </a:r>
          </a:p>
          <a:p>
            <a:pPr marL="0" lvl="0" indent="0" algn="l" rtl="0">
              <a:lnSpc>
                <a:spcPct val="115000"/>
              </a:lnSpc>
              <a:spcBef>
                <a:spcPts val="1400"/>
              </a:spcBef>
              <a:spcAft>
                <a:spcPts val="0"/>
              </a:spcAft>
              <a:buClr>
                <a:schemeClr val="dk1"/>
              </a:buClr>
              <a:buSzPts val="1100"/>
              <a:buFont typeface="Arial"/>
              <a:buNone/>
            </a:pPr>
            <a:endParaRPr lang="en-AE" sz="1814" b="0" i="1" u="none" strike="noStrike" cap="none" dirty="0">
              <a:solidFill>
                <a:schemeClr val="dk1"/>
              </a:solidFill>
              <a:effectLst/>
              <a:latin typeface="Calibri"/>
              <a:ea typeface="Calibri"/>
              <a:cs typeface="Calibri"/>
              <a:sym typeface="Calibri"/>
            </a:endParaRPr>
          </a:p>
          <a:p>
            <a:pPr marL="0" lvl="0" indent="0" algn="l" rtl="0">
              <a:lnSpc>
                <a:spcPct val="115000"/>
              </a:lnSpc>
              <a:spcBef>
                <a:spcPts val="1400"/>
              </a:spcBef>
              <a:spcAft>
                <a:spcPts val="0"/>
              </a:spcAft>
              <a:buClr>
                <a:schemeClr val="dk1"/>
              </a:buClr>
              <a:buSzPts val="1100"/>
              <a:buFont typeface="Arial"/>
              <a:buNone/>
            </a:pPr>
            <a:r>
              <a:rPr lang="en-AE" sz="1814" b="0" i="1" u="none" strike="noStrike" cap="none" dirty="0">
                <a:solidFill>
                  <a:schemeClr val="dk1"/>
                </a:solidFill>
                <a:effectLst/>
                <a:latin typeface="Calibri"/>
                <a:ea typeface="Calibri"/>
                <a:cs typeface="Calibri"/>
                <a:sym typeface="Calibri"/>
              </a:rPr>
              <a:t>Singularity Response Triggers fire off of:</a:t>
            </a:r>
          </a:p>
          <a:p>
            <a:pPr marL="0" lvl="0" indent="0" algn="l" rtl="0">
              <a:lnSpc>
                <a:spcPct val="115000"/>
              </a:lnSpc>
              <a:spcBef>
                <a:spcPts val="1400"/>
              </a:spcBef>
              <a:spcAft>
                <a:spcPts val="0"/>
              </a:spcAft>
              <a:buClr>
                <a:schemeClr val="dk1"/>
              </a:buClr>
              <a:buSzPts val="1100"/>
              <a:buFont typeface="Arial"/>
              <a:buNone/>
            </a:pPr>
            <a:r>
              <a:rPr lang="en-AE" sz="1814" b="0" i="1" u="none" strike="noStrike" cap="none" dirty="0">
                <a:solidFill>
                  <a:schemeClr val="dk1"/>
                </a:solidFill>
                <a:effectLst/>
                <a:latin typeface="Calibri"/>
                <a:ea typeface="Calibri"/>
                <a:cs typeface="Calibri"/>
                <a:sym typeface="Calibri"/>
              </a:rPr>
              <a:t>    Alerts</a:t>
            </a:r>
          </a:p>
          <a:p>
            <a:pPr marL="0" lvl="0" indent="0" algn="l" rtl="0">
              <a:lnSpc>
                <a:spcPct val="115000"/>
              </a:lnSpc>
              <a:spcBef>
                <a:spcPts val="1400"/>
              </a:spcBef>
              <a:spcAft>
                <a:spcPts val="0"/>
              </a:spcAft>
              <a:buClr>
                <a:schemeClr val="dk1"/>
              </a:buClr>
              <a:buSzPts val="1100"/>
              <a:buFont typeface="Arial"/>
              <a:buNone/>
            </a:pPr>
            <a:r>
              <a:rPr lang="en-AE" sz="1814" b="0" i="1" u="none" strike="noStrike" cap="none" dirty="0">
                <a:solidFill>
                  <a:schemeClr val="dk1"/>
                </a:solidFill>
                <a:effectLst/>
                <a:latin typeface="Calibri"/>
                <a:ea typeface="Calibri"/>
                <a:cs typeface="Calibri"/>
                <a:sym typeface="Calibri"/>
              </a:rPr>
              <a:t>   Misconfigurations</a:t>
            </a:r>
          </a:p>
          <a:p>
            <a:pPr marL="0" lvl="0" indent="0" algn="l" rtl="0">
              <a:lnSpc>
                <a:spcPct val="115000"/>
              </a:lnSpc>
              <a:spcBef>
                <a:spcPts val="1400"/>
              </a:spcBef>
              <a:spcAft>
                <a:spcPts val="0"/>
              </a:spcAft>
              <a:buClr>
                <a:schemeClr val="dk1"/>
              </a:buClr>
              <a:buSzPts val="1100"/>
              <a:buFont typeface="Arial"/>
              <a:buNone/>
            </a:pPr>
            <a:r>
              <a:rPr lang="en-AE" sz="1814" b="0" i="1" u="none" strike="noStrike" cap="none" dirty="0">
                <a:solidFill>
                  <a:schemeClr val="dk1"/>
                </a:solidFill>
                <a:effectLst/>
                <a:latin typeface="Calibri"/>
                <a:ea typeface="Calibri"/>
                <a:cs typeface="Calibri"/>
                <a:sym typeface="Calibri"/>
              </a:rPr>
              <a:t>   Vulnerabilities</a:t>
            </a:r>
          </a:p>
          <a:p>
            <a:pPr marL="0" lvl="0" indent="0" algn="l" rtl="0">
              <a:lnSpc>
                <a:spcPct val="115000"/>
              </a:lnSpc>
              <a:spcBef>
                <a:spcPts val="1400"/>
              </a:spcBef>
              <a:spcAft>
                <a:spcPts val="0"/>
              </a:spcAft>
              <a:buClr>
                <a:schemeClr val="dk1"/>
              </a:buClr>
              <a:buSzPts val="1100"/>
              <a:buFont typeface="Arial"/>
              <a:buNone/>
            </a:pPr>
            <a:endParaRPr lang="en-AE" sz="1814" b="0" i="0" u="none" strike="noStrike" cap="none" dirty="0">
              <a:solidFill>
                <a:schemeClr val="dk1"/>
              </a:solidFill>
              <a:effectLst/>
              <a:latin typeface="Calibri"/>
              <a:ea typeface="Calibri"/>
              <a:cs typeface="Calibri"/>
              <a:sym typeface="Calibri"/>
            </a:endParaRPr>
          </a:p>
          <a:p>
            <a:pPr marL="0" lvl="0" indent="0" algn="l" rtl="0">
              <a:lnSpc>
                <a:spcPct val="115000"/>
              </a:lnSpc>
              <a:spcBef>
                <a:spcPts val="1400"/>
              </a:spcBef>
              <a:spcAft>
                <a:spcPts val="0"/>
              </a:spcAft>
              <a:buClr>
                <a:schemeClr val="dk1"/>
              </a:buClr>
              <a:buSzPts val="1100"/>
              <a:buFont typeface="Arial"/>
              <a:buNone/>
            </a:pPr>
            <a:r>
              <a:rPr lang="en-AE" sz="1814" b="0" i="0" u="none" strike="noStrike" cap="none" dirty="0">
                <a:solidFill>
                  <a:schemeClr val="dk1"/>
                </a:solidFill>
                <a:effectLst/>
                <a:latin typeface="Calibri"/>
                <a:ea typeface="Calibri"/>
                <a:cs typeface="Calibri"/>
                <a:sym typeface="Calibri"/>
              </a:rPr>
              <a:t>Note that the Singularity Response Trigger can be configurated to </a:t>
            </a:r>
            <a:r>
              <a:rPr lang="en-AE" sz="1814" b="1" i="0" u="none" strike="noStrike" cap="none" dirty="0">
                <a:solidFill>
                  <a:schemeClr val="dk1"/>
                </a:solidFill>
                <a:effectLst/>
                <a:latin typeface="Calibri"/>
                <a:ea typeface="Calibri"/>
                <a:cs typeface="Calibri"/>
                <a:sym typeface="Calibri"/>
              </a:rPr>
              <a:t>Run Automatically</a:t>
            </a:r>
            <a:r>
              <a:rPr lang="en-AE" sz="1814" b="0" i="0" u="none" strike="noStrike" cap="none" dirty="0">
                <a:solidFill>
                  <a:schemeClr val="dk1"/>
                </a:solidFill>
                <a:effectLst/>
                <a:latin typeface="Calibri"/>
                <a:ea typeface="Calibri"/>
                <a:cs typeface="Calibri"/>
                <a:sym typeface="Calibri"/>
              </a:rPr>
              <a:t> or </a:t>
            </a:r>
            <a:r>
              <a:rPr lang="en-AE" sz="1814" b="1" i="0" u="none" strike="noStrike" cap="none" dirty="0">
                <a:solidFill>
                  <a:schemeClr val="dk1"/>
                </a:solidFill>
                <a:effectLst/>
                <a:latin typeface="Calibri"/>
                <a:ea typeface="Calibri"/>
                <a:cs typeface="Calibri"/>
                <a:sym typeface="Calibri"/>
              </a:rPr>
              <a:t>Run on Demand </a:t>
            </a:r>
            <a:r>
              <a:rPr lang="en-AE" sz="1814" b="0" i="0" u="none" strike="noStrike" cap="none" dirty="0">
                <a:solidFill>
                  <a:schemeClr val="dk1"/>
                </a:solidFill>
                <a:effectLst/>
                <a:latin typeface="Calibri"/>
                <a:ea typeface="Calibri"/>
                <a:cs typeface="Calibri"/>
                <a:sym typeface="Calibri"/>
              </a:rPr>
              <a:t>(we’ll see that on the next slide, as part of the analyst’s workflow). Also note that you’re not configuring an integration for viewing the exposures related to the Singularity Response Trigger. Instead, the workflow has access to the exposures within the scope of the workflow. Other actions using S1 APIs require a specific integration and connection.</a:t>
            </a:r>
          </a:p>
        </p:txBody>
      </p:sp>
      <p:sp>
        <p:nvSpPr>
          <p:cNvPr id="627" name="Google Shape;627;g32c685b26e9_0_22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E96FE-0871-AA1E-2A93-1D01CEF9E8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D3531-3358-24CC-D706-8DE66D2045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C4668-EE7D-80CF-34D3-32393A4BD348}"/>
              </a:ext>
            </a:extLst>
          </p:cNvPr>
          <p:cNvSpPr>
            <a:spLocks noGrp="1"/>
          </p:cNvSpPr>
          <p:nvPr>
            <p:ph type="body" idx="1"/>
          </p:nvPr>
        </p:nvSpPr>
        <p:spPr/>
        <p:txBody>
          <a:bodyPr/>
          <a:lstStyle/>
          <a:p>
            <a:r>
              <a:rPr lang="en-US" i="1" dirty="0"/>
              <a:t>Only workflows that are set up with a trigger type that can be initiated from an Alert—such as a "Manual Trigger" or a trigger explicitly designed to respond to alert events—will appear as options to run.</a:t>
            </a:r>
          </a:p>
        </p:txBody>
      </p:sp>
      <p:sp>
        <p:nvSpPr>
          <p:cNvPr id="4" name="Slide Number Placeholder 3">
            <a:extLst>
              <a:ext uri="{FF2B5EF4-FFF2-40B4-BE49-F238E27FC236}">
                <a16:creationId xmlns:a16="http://schemas.microsoft.com/office/drawing/2014/main" id="{DD9EDA4F-C437-6A48-16DD-740B69C4AED2}"/>
              </a:ext>
            </a:extLst>
          </p:cNvPr>
          <p:cNvSpPr>
            <a:spLocks noGrp="1"/>
          </p:cNvSpPr>
          <p:nvPr>
            <p:ph type="sldNum" idx="12"/>
          </p:nvPr>
        </p:nvSpPr>
        <p:spPr/>
        <p:txBody>
          <a:bodyPr/>
          <a:lstStyle/>
          <a:p>
            <a:pPr algn="r">
              <a:buSzPts val="1200"/>
            </a:pPr>
            <a:fld id="{00000000-1234-1234-1234-123412341234}" type="slidenum">
              <a:rPr lang="en-US" sz="1200" smtClean="0">
                <a:solidFill>
                  <a:schemeClr val="dk1"/>
                </a:solidFill>
                <a:ea typeface="Arial"/>
                <a:sym typeface="Arial"/>
              </a:rPr>
              <a:pPr algn="r">
                <a:buSzPts val="1200"/>
              </a:pPr>
              <a:t>20</a:t>
            </a:fld>
            <a:endParaRPr lang="en-US" sz="1200" dirty="0">
              <a:solidFill>
                <a:schemeClr val="dk1"/>
              </a:solidFill>
              <a:ea typeface="Arial"/>
              <a:sym typeface="Arial"/>
            </a:endParaRPr>
          </a:p>
        </p:txBody>
      </p:sp>
    </p:spTree>
    <p:extLst>
      <p:ext uri="{BB962C8B-B14F-4D97-AF65-F5344CB8AC3E}">
        <p14:creationId xmlns:p14="http://schemas.microsoft.com/office/powerpoint/2010/main" val="152149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32c685b26e9_0_22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SzPts val="1100"/>
              <a:buNone/>
            </a:pPr>
            <a:endParaRPr dirty="0">
              <a:latin typeface="Arial"/>
              <a:ea typeface="Arial"/>
              <a:cs typeface="Arial"/>
              <a:sym typeface="Arial"/>
            </a:endParaRPr>
          </a:p>
        </p:txBody>
      </p:sp>
      <p:sp>
        <p:nvSpPr>
          <p:cNvPr id="636" name="Google Shape;636;g32c685b26e9_0_22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32c685b26e9_0_22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i="1" dirty="0"/>
          </a:p>
        </p:txBody>
      </p:sp>
      <p:sp>
        <p:nvSpPr>
          <p:cNvPr id="672" name="Google Shape;672;g32c685b26e9_0_22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24C37522-CB99-46C6-994B-F949A3ECCD8D}"/>
            </a:ext>
          </a:extLst>
        </p:cNvPr>
        <p:cNvGrpSpPr/>
        <p:nvPr/>
      </p:nvGrpSpPr>
      <p:grpSpPr>
        <a:xfrm>
          <a:off x="0" y="0"/>
          <a:ext cx="0" cy="0"/>
          <a:chOff x="0" y="0"/>
          <a:chExt cx="0" cy="0"/>
        </a:xfrm>
      </p:grpSpPr>
      <p:sp>
        <p:nvSpPr>
          <p:cNvPr id="180" name="Google Shape;180;p2:notes">
            <a:extLst>
              <a:ext uri="{FF2B5EF4-FFF2-40B4-BE49-F238E27FC236}">
                <a16:creationId xmlns:a16="http://schemas.microsoft.com/office/drawing/2014/main" id="{C6DB73E6-1768-141E-B405-6BBCE6F0669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i="1" dirty="0"/>
              <a:t>Demo</a:t>
            </a:r>
          </a:p>
          <a:p>
            <a:pPr marL="0" lvl="0" indent="0" algn="l" rtl="0">
              <a:lnSpc>
                <a:spcPct val="100000"/>
              </a:lnSpc>
              <a:spcBef>
                <a:spcPts val="0"/>
              </a:spcBef>
              <a:spcAft>
                <a:spcPts val="0"/>
              </a:spcAft>
              <a:buSzPts val="1400"/>
              <a:buNone/>
            </a:pPr>
            <a:endParaRPr lang="en-US" i="1" dirty="0"/>
          </a:p>
          <a:p>
            <a:pPr marL="0" lvl="0" indent="0" algn="l" rtl="0">
              <a:lnSpc>
                <a:spcPct val="100000"/>
              </a:lnSpc>
              <a:spcBef>
                <a:spcPts val="0"/>
              </a:spcBef>
              <a:spcAft>
                <a:spcPts val="0"/>
              </a:spcAft>
              <a:buSzPts val="1400"/>
              <a:buNone/>
            </a:pPr>
            <a:r>
              <a:rPr lang="en-US" i="1" dirty="0"/>
              <a:t>+ create Singularity Trigger for new, high-severity alert</a:t>
            </a:r>
          </a:p>
          <a:p>
            <a:pPr marL="0" lvl="0" indent="0" algn="l" rtl="0">
              <a:lnSpc>
                <a:spcPct val="100000"/>
              </a:lnSpc>
              <a:spcBef>
                <a:spcPts val="0"/>
              </a:spcBef>
              <a:spcAft>
                <a:spcPts val="0"/>
              </a:spcAft>
              <a:buSzPts val="1400"/>
              <a:buNone/>
            </a:pPr>
            <a:r>
              <a:rPr lang="en-US" i="1" dirty="0"/>
              <a:t>+ send me an email</a:t>
            </a:r>
          </a:p>
          <a:p>
            <a:pPr marL="0" lvl="0" indent="0" algn="l" rtl="0">
              <a:lnSpc>
                <a:spcPct val="100000"/>
              </a:lnSpc>
              <a:spcBef>
                <a:spcPts val="0"/>
              </a:spcBef>
              <a:spcAft>
                <a:spcPts val="0"/>
              </a:spcAft>
              <a:buSzPts val="1400"/>
              <a:buNone/>
            </a:pPr>
            <a:r>
              <a:rPr lang="en-US" i="1" dirty="0"/>
              <a:t>+ test both the trigger and the Send Email action and verify the results. Note, we’ll talk more about testing your actions shortly.</a:t>
            </a:r>
          </a:p>
          <a:p>
            <a:pPr marL="0" lvl="0" indent="0" algn="l" rtl="0">
              <a:lnSpc>
                <a:spcPct val="100000"/>
              </a:lnSpc>
              <a:spcBef>
                <a:spcPts val="0"/>
              </a:spcBef>
              <a:spcAft>
                <a:spcPts val="0"/>
              </a:spcAft>
              <a:buSzPts val="1400"/>
              <a:buNone/>
            </a:pPr>
            <a:endParaRPr lang="en-AE" sz="1814" b="0" i="1" u="none" strike="noStrike" cap="none" dirty="0">
              <a:solidFill>
                <a:schemeClr val="dk1"/>
              </a:solidFill>
              <a:effectLst/>
              <a:latin typeface="Calibri"/>
              <a:ea typeface="Calibri"/>
              <a:cs typeface="Calibri"/>
              <a:sym typeface="Calibri"/>
            </a:endParaRPr>
          </a:p>
          <a:p>
            <a:pPr marL="0" lvl="0" indent="0" algn="l" rtl="0">
              <a:lnSpc>
                <a:spcPct val="100000"/>
              </a:lnSpc>
              <a:spcBef>
                <a:spcPts val="0"/>
              </a:spcBef>
              <a:spcAft>
                <a:spcPts val="0"/>
              </a:spcAft>
              <a:buSzPts val="1400"/>
              <a:buNone/>
            </a:pPr>
            <a:r>
              <a:rPr lang="en-US" i="1" dirty="0">
                <a:latin typeface="Arial" panose="020B0604020202020204" pitchFamily="34" charset="0"/>
                <a:cs typeface="Arial" panose="020B0604020202020204" pitchFamily="34" charset="0"/>
              </a:rPr>
              <a:t>What if I didn’t have a new, high-severity alert handy to test this workflow? Can use synthetic/manual output.</a:t>
            </a:r>
          </a:p>
          <a:p>
            <a:pPr marL="0" lvl="0" indent="0" algn="l" rtl="0">
              <a:lnSpc>
                <a:spcPct val="100000"/>
              </a:lnSpc>
              <a:spcBef>
                <a:spcPts val="0"/>
              </a:spcBef>
              <a:spcAft>
                <a:spcPts val="0"/>
              </a:spcAft>
              <a:buSzPts val="1400"/>
              <a:buNone/>
            </a:pPr>
            <a:endParaRPr lang="en-US" i="1"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r>
              <a:rPr lang="en-US" i="1" dirty="0">
                <a:latin typeface="Arial" panose="020B0604020202020204" pitchFamily="34" charset="0"/>
                <a:cs typeface="Arial" panose="020B0604020202020204" pitchFamily="34" charset="0"/>
              </a:rPr>
              <a:t>+ Copy the alert JSON and paste it into Manual output, then rerun both the trigger and action.</a:t>
            </a:r>
            <a:endParaRPr i="1" dirty="0">
              <a:latin typeface="Arial" panose="020B0604020202020204" pitchFamily="34" charset="0"/>
              <a:cs typeface="Arial" panose="020B0604020202020204" pitchFamily="34" charset="0"/>
            </a:endParaRPr>
          </a:p>
        </p:txBody>
      </p:sp>
      <p:sp>
        <p:nvSpPr>
          <p:cNvPr id="181" name="Google Shape;181;p2:notes">
            <a:extLst>
              <a:ext uri="{FF2B5EF4-FFF2-40B4-BE49-F238E27FC236}">
                <a16:creationId xmlns:a16="http://schemas.microsoft.com/office/drawing/2014/main" id="{642C07D8-09EA-1CF2-42B0-3D5D119FE4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180002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32c685b26e9_0_22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45" name="Google Shape;645;g32c685b26e9_0_22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2c685b26e9_0_22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54" name="Google Shape;654;g32c685b26e9_0_22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32c685b26e9_0_22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i="1" dirty="0"/>
              <a:t>Might also note that you can save an action as a custom action. For example, you might create an action for a particular HTTP request and save it as a custom action so you don’t have to rebuild it from scratch if you want to use it again in another workflow.</a:t>
            </a:r>
            <a:endParaRPr i="1" dirty="0"/>
          </a:p>
        </p:txBody>
      </p:sp>
      <p:sp>
        <p:nvSpPr>
          <p:cNvPr id="663" name="Google Shape;663;g32c685b26e9_0_22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E742E99-D856-1C04-8623-1C7FF57DAB7F}"/>
            </a:ext>
          </a:extLst>
        </p:cNvPr>
        <p:cNvGrpSpPr/>
        <p:nvPr/>
      </p:nvGrpSpPr>
      <p:grpSpPr>
        <a:xfrm>
          <a:off x="0" y="0"/>
          <a:ext cx="0" cy="0"/>
          <a:chOff x="0" y="0"/>
          <a:chExt cx="0" cy="0"/>
        </a:xfrm>
      </p:grpSpPr>
      <p:sp>
        <p:nvSpPr>
          <p:cNvPr id="180" name="Google Shape;180;p2:notes">
            <a:extLst>
              <a:ext uri="{FF2B5EF4-FFF2-40B4-BE49-F238E27FC236}">
                <a16:creationId xmlns:a16="http://schemas.microsoft.com/office/drawing/2014/main" id="{CA878E11-94CE-15A9-C743-EEE9E18C047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i="1" dirty="0"/>
              <a:t>Demo </a:t>
            </a:r>
            <a:r>
              <a:rPr lang="en-US" i="1" dirty="0" err="1"/>
              <a:t>VirusTotal</a:t>
            </a:r>
            <a:r>
              <a:rPr lang="en-US" i="1" dirty="0"/>
              <a:t> integration. We saw the template example earlier.</a:t>
            </a:r>
          </a:p>
          <a:p>
            <a:pPr marL="0" lvl="0" indent="0" algn="l" rtl="0">
              <a:lnSpc>
                <a:spcPct val="100000"/>
              </a:lnSpc>
              <a:spcBef>
                <a:spcPts val="0"/>
              </a:spcBef>
              <a:spcAft>
                <a:spcPts val="0"/>
              </a:spcAft>
              <a:buSzPts val="1400"/>
              <a:buNone/>
            </a:pPr>
            <a:r>
              <a:rPr lang="en-US" sz="1814" b="0" i="1" u="none" strike="noStrike" cap="none" dirty="0">
                <a:solidFill>
                  <a:schemeClr val="dk1"/>
                </a:solidFill>
                <a:effectLst/>
                <a:latin typeface="Calibri"/>
                <a:ea typeface="Calibri"/>
                <a:cs typeface="Calibri"/>
                <a:sym typeface="Calibri"/>
              </a:rPr>
              <a:t>Demo </a:t>
            </a:r>
            <a:r>
              <a:rPr lang="en-US" sz="1814" b="0" i="1" u="none" strike="noStrike" cap="none" dirty="0" err="1">
                <a:solidFill>
                  <a:schemeClr val="dk1"/>
                </a:solidFill>
                <a:effectLst/>
                <a:latin typeface="Calibri"/>
                <a:ea typeface="Calibri"/>
                <a:cs typeface="Calibri"/>
                <a:sym typeface="Calibri"/>
              </a:rPr>
              <a:t>GraphQL</a:t>
            </a:r>
            <a:r>
              <a:rPr lang="en-US" sz="1814" b="0" i="1" u="none" strike="noStrike" cap="none" dirty="0">
                <a:solidFill>
                  <a:schemeClr val="dk1"/>
                </a:solidFill>
                <a:effectLst/>
                <a:latin typeface="Calibri"/>
                <a:ea typeface="Calibri"/>
                <a:cs typeface="Calibri"/>
                <a:sym typeface="Calibri"/>
              </a:rPr>
              <a:t> integration. Used for interacting with Unified Alert Management and XSPM (extended Security Posture Management) in the console.</a:t>
            </a:r>
            <a:endParaRPr lang="en-AE" sz="1814" b="0" i="1" u="none" strike="noStrike" cap="none" dirty="0">
              <a:solidFill>
                <a:schemeClr val="dk1"/>
              </a:solidFill>
              <a:effectLst/>
              <a:latin typeface="Calibri"/>
              <a:ea typeface="Calibri"/>
              <a:cs typeface="Calibri"/>
              <a:sym typeface="Calibri"/>
            </a:endParaRPr>
          </a:p>
          <a:p>
            <a:pPr marL="0" lvl="0" indent="0" algn="l" rtl="0">
              <a:lnSpc>
                <a:spcPct val="100000"/>
              </a:lnSpc>
              <a:spcBef>
                <a:spcPts val="0"/>
              </a:spcBef>
              <a:spcAft>
                <a:spcPts val="0"/>
              </a:spcAft>
              <a:buSzPts val="1400"/>
              <a:buNone/>
            </a:pPr>
            <a:endParaRPr i="1" dirty="0">
              <a:latin typeface="Arial" panose="020B0604020202020204" pitchFamily="34" charset="0"/>
              <a:cs typeface="Arial" panose="020B0604020202020204" pitchFamily="34" charset="0"/>
            </a:endParaRPr>
          </a:p>
        </p:txBody>
      </p:sp>
      <p:sp>
        <p:nvSpPr>
          <p:cNvPr id="181" name="Google Shape;181;p2:notes">
            <a:extLst>
              <a:ext uri="{FF2B5EF4-FFF2-40B4-BE49-F238E27FC236}">
                <a16:creationId xmlns:a16="http://schemas.microsoft.com/office/drawing/2014/main" id="{2779FA84-A8A9-3F9D-7EB5-28D4BB856B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572868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a:extLst>
            <a:ext uri="{FF2B5EF4-FFF2-40B4-BE49-F238E27FC236}">
              <a16:creationId xmlns:a16="http://schemas.microsoft.com/office/drawing/2014/main" id="{BDCE318A-37A0-05F1-7007-4779DA0DEDC6}"/>
            </a:ext>
          </a:extLst>
        </p:cNvPr>
        <p:cNvGrpSpPr/>
        <p:nvPr/>
      </p:nvGrpSpPr>
      <p:grpSpPr>
        <a:xfrm>
          <a:off x="0" y="0"/>
          <a:ext cx="0" cy="0"/>
          <a:chOff x="0" y="0"/>
          <a:chExt cx="0" cy="0"/>
        </a:xfrm>
      </p:grpSpPr>
      <p:sp>
        <p:nvSpPr>
          <p:cNvPr id="662" name="Google Shape;662;g32c685b26e9_0_2273:notes">
            <a:extLst>
              <a:ext uri="{FF2B5EF4-FFF2-40B4-BE49-F238E27FC236}">
                <a16:creationId xmlns:a16="http://schemas.microsoft.com/office/drawing/2014/main" id="{59C8CB84-8F08-5991-8761-776BF5169EF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i="1" dirty="0"/>
          </a:p>
        </p:txBody>
      </p:sp>
      <p:sp>
        <p:nvSpPr>
          <p:cNvPr id="663" name="Google Shape;663;g32c685b26e9_0_2273:notes">
            <a:extLst>
              <a:ext uri="{FF2B5EF4-FFF2-40B4-BE49-F238E27FC236}">
                <a16:creationId xmlns:a16="http://schemas.microsoft.com/office/drawing/2014/main" id="{788B5D5C-F6E0-AAB3-ED59-33EA90F384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38986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32c685b26e9_0_23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We didn’t see results in our simple email workflow until we tested them. Testing the trigger fetched the critical alert, and testing the send email action sent the email.</a:t>
            </a:r>
            <a:endParaRPr dirty="0"/>
          </a:p>
        </p:txBody>
      </p:sp>
      <p:sp>
        <p:nvSpPr>
          <p:cNvPr id="710" name="Google Shape;710;g32c685b26e9_0_23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50E7474-B513-D5FF-46B8-B44F106453FE}"/>
            </a:ext>
          </a:extLst>
        </p:cNvPr>
        <p:cNvGrpSpPr/>
        <p:nvPr/>
      </p:nvGrpSpPr>
      <p:grpSpPr>
        <a:xfrm>
          <a:off x="0" y="0"/>
          <a:ext cx="0" cy="0"/>
          <a:chOff x="0" y="0"/>
          <a:chExt cx="0" cy="0"/>
        </a:xfrm>
      </p:grpSpPr>
      <p:sp>
        <p:nvSpPr>
          <p:cNvPr id="180" name="Google Shape;180;p2:notes">
            <a:extLst>
              <a:ext uri="{FF2B5EF4-FFF2-40B4-BE49-F238E27FC236}">
                <a16:creationId xmlns:a16="http://schemas.microsoft.com/office/drawing/2014/main" id="{5EDEC9AA-998B-3C03-F768-6698544BBD9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i="1" dirty="0">
                <a:latin typeface="Arial" panose="020B0604020202020204" pitchFamily="34" charset="0"/>
                <a:cs typeface="Arial" panose="020B0604020202020204" pitchFamily="34" charset="0"/>
              </a:rPr>
              <a:t>Use the Enrich Alert with Virus Total workflow to </a:t>
            </a:r>
            <a:r>
              <a:rPr lang="en-US" i="1">
                <a:latin typeface="Arial" panose="020B0604020202020204" pitchFamily="34" charset="0"/>
                <a:cs typeface="Arial" panose="020B0604020202020204" pitchFamily="34" charset="0"/>
              </a:rPr>
              <a:t>demo testing. </a:t>
            </a:r>
            <a:endParaRPr i="1" dirty="0">
              <a:latin typeface="Arial" panose="020B0604020202020204" pitchFamily="34" charset="0"/>
              <a:cs typeface="Arial" panose="020B0604020202020204" pitchFamily="34" charset="0"/>
            </a:endParaRPr>
          </a:p>
        </p:txBody>
      </p:sp>
      <p:sp>
        <p:nvSpPr>
          <p:cNvPr id="181" name="Google Shape;181;p2:notes">
            <a:extLst>
              <a:ext uri="{FF2B5EF4-FFF2-40B4-BE49-F238E27FC236}">
                <a16:creationId xmlns:a16="http://schemas.microsoft.com/office/drawing/2014/main" id="{AE85FB1B-DEBD-764D-2CE4-ADDC1A21D5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5533100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32c685b26e9_0_22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21" name="Google Shape;721;g32c685b26e9_0_22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32c685b26e9_0_23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0" name="Google Shape;730;g32c685b26e9_0_23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a:extLst>
            <a:ext uri="{FF2B5EF4-FFF2-40B4-BE49-F238E27FC236}">
              <a16:creationId xmlns:a16="http://schemas.microsoft.com/office/drawing/2014/main" id="{CE51F2D4-8869-9863-2FCB-375C148BBDA2}"/>
            </a:ext>
          </a:extLst>
        </p:cNvPr>
        <p:cNvGrpSpPr/>
        <p:nvPr/>
      </p:nvGrpSpPr>
      <p:grpSpPr>
        <a:xfrm>
          <a:off x="0" y="0"/>
          <a:ext cx="0" cy="0"/>
          <a:chOff x="0" y="0"/>
          <a:chExt cx="0" cy="0"/>
        </a:xfrm>
      </p:grpSpPr>
      <p:sp>
        <p:nvSpPr>
          <p:cNvPr id="729" name="Google Shape;729;g32c685b26e9_0_2336:notes">
            <a:extLst>
              <a:ext uri="{FF2B5EF4-FFF2-40B4-BE49-F238E27FC236}">
                <a16:creationId xmlns:a16="http://schemas.microsoft.com/office/drawing/2014/main" id="{357CCBAA-70F8-0DA6-0B4F-4A500A675A4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https://github.com/simplescripter/OneCon25</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A note on scoping of workflows:</a:t>
            </a:r>
          </a:p>
          <a:p>
            <a:pPr marL="0" lvl="0" indent="0" algn="l" rtl="0">
              <a:lnSpc>
                <a:spcPct val="100000"/>
              </a:lnSpc>
              <a:spcBef>
                <a:spcPts val="0"/>
              </a:spcBef>
              <a:spcAft>
                <a:spcPts val="0"/>
              </a:spcAft>
              <a:buSzPts val="140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Workflows created at a specific scope (e.g., Account) are only visible and usable within that scope. They do not propagate to Sites or Groups below the Account.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There are ongoing discussions and plans to improve manageability, especially for MSSPs and organizations that want to share workflows across multiple accounts or sites. However, as of now, sharing or propagating workflows from Account to Site (or from Global to Account/Site) is not natively supported; each workflow must be created or imported at the specific scope where it is needed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Other elements with this non-inheritance behavior include integrations, connections, </a:t>
            </a:r>
            <a:r>
              <a:rPr lang="en-US" dirty="0" err="1"/>
              <a:t>RemoteOps</a:t>
            </a:r>
            <a:r>
              <a:rPr lang="en-US" dirty="0"/>
              <a:t> scripts, Console configuration settings, and Locations.</a:t>
            </a:r>
          </a:p>
          <a:p>
            <a:pPr marL="0" lvl="0" indent="0" algn="l" rtl="0">
              <a:lnSpc>
                <a:spcPct val="100000"/>
              </a:lnSpc>
              <a:spcBef>
                <a:spcPts val="0"/>
              </a:spcBef>
              <a:spcAft>
                <a:spcPts val="0"/>
              </a:spcAft>
              <a:buSzPts val="1400"/>
              <a:buNone/>
            </a:pPr>
            <a:endParaRPr dirty="0"/>
          </a:p>
        </p:txBody>
      </p:sp>
      <p:sp>
        <p:nvSpPr>
          <p:cNvPr id="730" name="Google Shape;730;g32c685b26e9_0_2336:notes">
            <a:extLst>
              <a:ext uri="{FF2B5EF4-FFF2-40B4-BE49-F238E27FC236}">
                <a16:creationId xmlns:a16="http://schemas.microsoft.com/office/drawing/2014/main" id="{4FD9B62F-8013-4974-2AB9-6C1EA06FD9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33053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2c685b26e9_0_23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9" name="Google Shape;739;g32c685b26e9_0_23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32c685b26e9_0_24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48" name="Google Shape;748;g32c685b26e9_0_24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9341747-AD24-BE16-673B-767DE30A7CD0}"/>
            </a:ext>
          </a:extLst>
        </p:cNvPr>
        <p:cNvGrpSpPr/>
        <p:nvPr/>
      </p:nvGrpSpPr>
      <p:grpSpPr>
        <a:xfrm>
          <a:off x="0" y="0"/>
          <a:ext cx="0" cy="0"/>
          <a:chOff x="0" y="0"/>
          <a:chExt cx="0" cy="0"/>
        </a:xfrm>
      </p:grpSpPr>
      <p:sp>
        <p:nvSpPr>
          <p:cNvPr id="180" name="Google Shape;180;p2:notes">
            <a:extLst>
              <a:ext uri="{FF2B5EF4-FFF2-40B4-BE49-F238E27FC236}">
                <a16:creationId xmlns:a16="http://schemas.microsoft.com/office/drawing/2014/main" id="{A5E579A8-4B56-9726-69CC-4AA7C87B552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i="1" dirty="0">
              <a:latin typeface="Arial" panose="020B0604020202020204" pitchFamily="34" charset="0"/>
              <a:cs typeface="Arial" panose="020B0604020202020204" pitchFamily="34" charset="0"/>
            </a:endParaRPr>
          </a:p>
        </p:txBody>
      </p:sp>
      <p:sp>
        <p:nvSpPr>
          <p:cNvPr id="181" name="Google Shape;181;p2:notes">
            <a:extLst>
              <a:ext uri="{FF2B5EF4-FFF2-40B4-BE49-F238E27FC236}">
                <a16:creationId xmlns:a16="http://schemas.microsoft.com/office/drawing/2014/main" id="{73BBC5AB-6E6C-445A-3735-3BECB8ED6A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4337232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2c685b26e9_0_23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Consider using https://jsonpathfinder.com/ to demonstrate JSON path structure</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Also note that you can click an element in the returned JSON to copy the entire JSON path to your clipboard.</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Return to the original email workflow to pull some details into the message and re-test it.</a:t>
            </a:r>
            <a:endParaRPr dirty="0"/>
          </a:p>
        </p:txBody>
      </p:sp>
      <p:sp>
        <p:nvSpPr>
          <p:cNvPr id="681" name="Google Shape;681;g32c685b26e9_0_23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FE69174B-3E2F-0A82-9857-A3D2F7CA0887}"/>
            </a:ext>
          </a:extLst>
        </p:cNvPr>
        <p:cNvGrpSpPr/>
        <p:nvPr/>
      </p:nvGrpSpPr>
      <p:grpSpPr>
        <a:xfrm>
          <a:off x="0" y="0"/>
          <a:ext cx="0" cy="0"/>
          <a:chOff x="0" y="0"/>
          <a:chExt cx="0" cy="0"/>
        </a:xfrm>
      </p:grpSpPr>
      <p:sp>
        <p:nvSpPr>
          <p:cNvPr id="700" name="Google Shape;700;g32c685b26e9_0_2363:notes">
            <a:extLst>
              <a:ext uri="{FF2B5EF4-FFF2-40B4-BE49-F238E27FC236}">
                <a16:creationId xmlns:a16="http://schemas.microsoft.com/office/drawing/2014/main" id="{C4C10772-649A-4968-0E27-3E671E98413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AE" sz="1814" b="1" i="0" u="none" strike="noStrike" cap="none" dirty="0">
                <a:solidFill>
                  <a:schemeClr val="dk1"/>
                </a:solidFill>
                <a:effectLst/>
                <a:latin typeface="Calibri"/>
                <a:ea typeface="Calibri"/>
                <a:cs typeface="Calibri"/>
                <a:sym typeface="Calibri"/>
              </a:rPr>
              <a:t>Variables </a:t>
            </a:r>
            <a:r>
              <a:rPr lang="en-AE" sz="1814" b="0" i="0" u="none" strike="noStrike" cap="none" dirty="0">
                <a:solidFill>
                  <a:schemeClr val="dk1"/>
                </a:solidFill>
                <a:effectLst/>
                <a:latin typeface="Calibri"/>
                <a:ea typeface="Calibri"/>
                <a:cs typeface="Calibri"/>
                <a:sym typeface="Calibri"/>
              </a:rPr>
              <a:t>enable your Actions to dynamically reference output from earlier steps, ensuring seamless data flow. The Workflow Inspector supports auto-complete and "fuzzy" search for easy selection of prior action results.</a:t>
            </a:r>
          </a:p>
          <a:p>
            <a:pPr marL="0" lvl="0" indent="0" algn="l" rtl="0">
              <a:lnSpc>
                <a:spcPct val="100000"/>
              </a:lnSpc>
              <a:spcBef>
                <a:spcPts val="0"/>
              </a:spcBef>
              <a:spcAft>
                <a:spcPts val="0"/>
              </a:spcAft>
              <a:buSzPts val="140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AE" sz="1814" b="1" i="0" u="none" strike="noStrike" cap="none" dirty="0">
                <a:solidFill>
                  <a:schemeClr val="dk1"/>
                </a:solidFill>
                <a:effectLst/>
                <a:latin typeface="Calibri"/>
                <a:ea typeface="Calibri"/>
                <a:cs typeface="Calibri"/>
                <a:sym typeface="Calibri"/>
              </a:rPr>
              <a:t>Note:</a:t>
            </a:r>
            <a:r>
              <a:rPr lang="en-AE" sz="1814" b="0" i="0" u="none" strike="noStrike" cap="none" dirty="0">
                <a:solidFill>
                  <a:schemeClr val="dk1"/>
                </a:solidFill>
                <a:effectLst/>
                <a:latin typeface="Calibri"/>
                <a:ea typeface="Calibri"/>
                <a:cs typeface="Calibri"/>
                <a:sym typeface="Calibri"/>
              </a:rPr>
              <a:t> Variables are </a:t>
            </a:r>
            <a:r>
              <a:rPr lang="en-AE" sz="1814" b="0" i="1" u="none" strike="noStrike" cap="none" dirty="0">
                <a:solidFill>
                  <a:schemeClr val="dk1"/>
                </a:solidFill>
                <a:effectLst/>
                <a:latin typeface="Calibri"/>
                <a:ea typeface="Calibri"/>
                <a:cs typeface="Calibri"/>
                <a:sym typeface="Calibri"/>
              </a:rPr>
              <a:t>local </a:t>
            </a:r>
            <a:r>
              <a:rPr lang="en-AE" sz="1814" b="0" i="0" u="none" strike="noStrike" cap="none" dirty="0">
                <a:solidFill>
                  <a:schemeClr val="dk1"/>
                </a:solidFill>
                <a:effectLst/>
                <a:latin typeface="Calibri"/>
                <a:ea typeface="Calibri"/>
                <a:cs typeface="Calibri"/>
                <a:sym typeface="Calibri"/>
              </a:rPr>
              <a:t>by default. For variables to be accessible by other workflows as well, you must set them to be </a:t>
            </a:r>
            <a:r>
              <a:rPr lang="en-AE" sz="1814" b="0" i="1" u="none" strike="noStrike" cap="none" dirty="0">
                <a:solidFill>
                  <a:schemeClr val="dk1"/>
                </a:solidFill>
                <a:effectLst/>
                <a:latin typeface="Calibri"/>
                <a:ea typeface="Calibri"/>
                <a:cs typeface="Calibri"/>
                <a:sym typeface="Calibri"/>
              </a:rPr>
              <a:t>global</a:t>
            </a:r>
            <a:r>
              <a:rPr lang="en-AE" sz="1814" b="0" i="0" u="none" strike="noStrike" cap="none" dirty="0">
                <a:solidFill>
                  <a:schemeClr val="dk1"/>
                </a:solidFill>
                <a:effectLst/>
                <a:latin typeface="Calibri"/>
                <a:ea typeface="Calibri"/>
                <a:cs typeface="Calibri"/>
                <a:sym typeface="Calibri"/>
              </a:rPr>
              <a: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AE" sz="1814"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AE" sz="1814" b="0" i="0" u="none" strike="noStrike" cap="none" dirty="0">
                <a:solidFill>
                  <a:schemeClr val="dk1"/>
                </a:solidFill>
                <a:effectLst/>
                <a:latin typeface="Calibri"/>
                <a:ea typeface="Calibri"/>
                <a:cs typeface="Calibri"/>
                <a:sym typeface="Calibri"/>
              </a:rPr>
              <a:t>The Variables page tracks your saved </a:t>
            </a:r>
            <a:r>
              <a:rPr lang="en-AE" sz="1814" b="0" i="1" u="none" strike="noStrike" cap="none" dirty="0">
                <a:solidFill>
                  <a:schemeClr val="dk1"/>
                </a:solidFill>
                <a:effectLst/>
                <a:latin typeface="Calibri"/>
                <a:ea typeface="Calibri"/>
                <a:cs typeface="Calibri"/>
                <a:sym typeface="Calibri"/>
              </a:rPr>
              <a:t>global </a:t>
            </a:r>
            <a:r>
              <a:rPr lang="en-AE" sz="1814" b="0" i="0" u="none" strike="noStrike" cap="none" dirty="0">
                <a:solidFill>
                  <a:schemeClr val="dk1"/>
                </a:solidFill>
                <a:effectLst/>
                <a:latin typeface="Calibri"/>
                <a:ea typeface="Calibri"/>
                <a:cs typeface="Calibri"/>
                <a:sym typeface="Calibri"/>
              </a:rPr>
              <a:t>variables. Variables store and share data both within workflows (local) and across workflows (global). These variables persist beyond a single execution, enabling great flexibility and seamless data reuse between workflows for consistent automation and streamlined operations. Variables empower advanced use of HA by defining key-value pairs to be used in Workflows, with an option to sanitize values of a given variable when inspecting executions (for example, a password or a token).</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Define an empty array as </a:t>
            </a:r>
            <a:r>
              <a:rPr lang="en-US" b="1" dirty="0"/>
              <a:t>[]</a:t>
            </a:r>
            <a:endParaRPr lang="en-US" b="0" dirty="0"/>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endParaRPr dirty="0"/>
          </a:p>
        </p:txBody>
      </p:sp>
      <p:sp>
        <p:nvSpPr>
          <p:cNvPr id="701" name="Google Shape;701;g32c685b26e9_0_2363:notes">
            <a:extLst>
              <a:ext uri="{FF2B5EF4-FFF2-40B4-BE49-F238E27FC236}">
                <a16:creationId xmlns:a16="http://schemas.microsoft.com/office/drawing/2014/main" id="{387FF197-2EB4-B51A-E74F-EAF7708DBB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933640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32c685b26e9_0_24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Open https://community.sentinelone.com/s/article/000010854 and talk through some examples. We’ll see several different uses for functions in the use cases section of the session, coming up next.</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For </a:t>
            </a:r>
            <a:r>
              <a:rPr lang="en-US" dirty="0" err="1"/>
              <a:t>Function.JQ</a:t>
            </a:r>
            <a:r>
              <a:rPr lang="en-US" dirty="0"/>
              <a:t> and an introduction to JQ, see https://www.digitalocean.com/community/tutorials/how-to-transform-json-data-with-jq</a:t>
            </a:r>
          </a:p>
          <a:p>
            <a:pPr marL="0" lvl="0" indent="0" algn="l" rtl="0">
              <a:lnSpc>
                <a:spcPct val="100000"/>
              </a:lnSpc>
              <a:spcBef>
                <a:spcPts val="0"/>
              </a:spcBef>
              <a:spcAft>
                <a:spcPts val="0"/>
              </a:spcAft>
              <a:buSzPts val="1400"/>
              <a:buNone/>
            </a:pPr>
            <a:r>
              <a:rPr lang="en-US" dirty="0"/>
              <a:t>Useful tool is https://jqplay.org</a:t>
            </a:r>
            <a:endParaRPr dirty="0"/>
          </a:p>
        </p:txBody>
      </p:sp>
      <p:sp>
        <p:nvSpPr>
          <p:cNvPr id="691" name="Google Shape;691;g32c685b26e9_0_24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a:extLst>
            <a:ext uri="{FF2B5EF4-FFF2-40B4-BE49-F238E27FC236}">
              <a16:creationId xmlns:a16="http://schemas.microsoft.com/office/drawing/2014/main" id="{3954B4D9-FC62-D425-5A15-E316C45B6917}"/>
            </a:ext>
          </a:extLst>
        </p:cNvPr>
        <p:cNvGrpSpPr/>
        <p:nvPr/>
      </p:nvGrpSpPr>
      <p:grpSpPr>
        <a:xfrm>
          <a:off x="0" y="0"/>
          <a:ext cx="0" cy="0"/>
          <a:chOff x="0" y="0"/>
          <a:chExt cx="0" cy="0"/>
        </a:xfrm>
      </p:grpSpPr>
      <p:sp>
        <p:nvSpPr>
          <p:cNvPr id="382" name="Google Shape;382;p18:notes">
            <a:extLst>
              <a:ext uri="{FF2B5EF4-FFF2-40B4-BE49-F238E27FC236}">
                <a16:creationId xmlns:a16="http://schemas.microsoft.com/office/drawing/2014/main" id="{1E36197E-6745-14C6-2EFA-0EA3F4AA83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latin typeface="Arial" panose="020B0604020202020204" pitchFamily="34" charset="0"/>
              <a:cs typeface="Arial" panose="020B0604020202020204" pitchFamily="34" charset="0"/>
            </a:endParaRPr>
          </a:p>
        </p:txBody>
      </p:sp>
      <p:sp>
        <p:nvSpPr>
          <p:cNvPr id="383" name="Google Shape;383;p18:notes">
            <a:extLst>
              <a:ext uri="{FF2B5EF4-FFF2-40B4-BE49-F238E27FC236}">
                <a16:creationId xmlns:a16="http://schemas.microsoft.com/office/drawing/2014/main" id="{49D339CB-2A33-E9D2-BAB8-EBA4844FB0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28905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B4ADD501-0621-696A-B8D3-8C429978EE73}"/>
            </a:ext>
          </a:extLst>
        </p:cNvPr>
        <p:cNvGrpSpPr/>
        <p:nvPr/>
      </p:nvGrpSpPr>
      <p:grpSpPr>
        <a:xfrm>
          <a:off x="0" y="0"/>
          <a:ext cx="0" cy="0"/>
          <a:chOff x="0" y="0"/>
          <a:chExt cx="0" cy="0"/>
        </a:xfrm>
      </p:grpSpPr>
      <p:sp>
        <p:nvSpPr>
          <p:cNvPr id="231" name="Google Shape;231;p10:notes">
            <a:extLst>
              <a:ext uri="{FF2B5EF4-FFF2-40B4-BE49-F238E27FC236}">
                <a16:creationId xmlns:a16="http://schemas.microsoft.com/office/drawing/2014/main" id="{E2CF066B-918D-1BEB-E340-A47236B499F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Arial" panose="020B0604020202020204" pitchFamily="34" charset="0"/>
              <a:cs typeface="Arial" panose="020B0604020202020204" pitchFamily="34" charset="0"/>
            </a:endParaRPr>
          </a:p>
        </p:txBody>
      </p:sp>
      <p:sp>
        <p:nvSpPr>
          <p:cNvPr id="232" name="Google Shape;232;p10:notes">
            <a:extLst>
              <a:ext uri="{FF2B5EF4-FFF2-40B4-BE49-F238E27FC236}">
                <a16:creationId xmlns:a16="http://schemas.microsoft.com/office/drawing/2014/main" id="{1FC42379-EBC7-9EDC-3524-B09FE884D5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764023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a:extLst>
            <a:ext uri="{FF2B5EF4-FFF2-40B4-BE49-F238E27FC236}">
              <a16:creationId xmlns:a16="http://schemas.microsoft.com/office/drawing/2014/main" id="{AB2FC8DA-17D6-F0CA-C094-E28043C63335}"/>
            </a:ext>
          </a:extLst>
        </p:cNvPr>
        <p:cNvGrpSpPr/>
        <p:nvPr/>
      </p:nvGrpSpPr>
      <p:grpSpPr>
        <a:xfrm>
          <a:off x="0" y="0"/>
          <a:ext cx="0" cy="0"/>
          <a:chOff x="0" y="0"/>
          <a:chExt cx="0" cy="0"/>
        </a:xfrm>
      </p:grpSpPr>
      <p:sp>
        <p:nvSpPr>
          <p:cNvPr id="239" name="Google Shape;239;p77:notes">
            <a:extLst>
              <a:ext uri="{FF2B5EF4-FFF2-40B4-BE49-F238E27FC236}">
                <a16:creationId xmlns:a16="http://schemas.microsoft.com/office/drawing/2014/main" id="{D9719F97-2AEA-6898-2B9A-A3B914F60A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2000" b="0" dirty="0">
                <a:latin typeface="Arial" panose="020B0604020202020204" pitchFamily="34" charset="0"/>
                <a:cs typeface="Arial" panose="020B0604020202020204" pitchFamily="34" charset="0"/>
              </a:rPr>
              <a:t>Note that when dealing with results in a loop, the special </a:t>
            </a:r>
            <a:r>
              <a:rPr lang="en-US" sz="2000" b="1" dirty="0">
                <a:latin typeface="Arial" panose="020B0604020202020204" pitchFamily="34" charset="0"/>
                <a:cs typeface="Arial" panose="020B0604020202020204" pitchFamily="34" charset="0"/>
              </a:rPr>
              <a:t>item</a:t>
            </a:r>
            <a:r>
              <a:rPr lang="en-US" sz="2000" b="0" dirty="0">
                <a:latin typeface="Arial" panose="020B0604020202020204" pitchFamily="34" charset="0"/>
                <a:cs typeface="Arial" panose="020B0604020202020204" pitchFamily="34" charset="0"/>
              </a:rPr>
              <a:t> term is a reference to the data returned within the current iteration (in other words, “item” isn’t a reference to a key in the JSON itself; it’s used by Hyperautomation as a special term).</a:t>
            </a:r>
            <a:endParaRPr dirty="0">
              <a:latin typeface="Arial" panose="020B0604020202020204" pitchFamily="34" charset="0"/>
              <a:cs typeface="Arial" panose="020B0604020202020204" pitchFamily="34" charset="0"/>
            </a:endParaRPr>
          </a:p>
        </p:txBody>
      </p:sp>
      <p:sp>
        <p:nvSpPr>
          <p:cNvPr id="240" name="Google Shape;240;p77:notes">
            <a:extLst>
              <a:ext uri="{FF2B5EF4-FFF2-40B4-BE49-F238E27FC236}">
                <a16:creationId xmlns:a16="http://schemas.microsoft.com/office/drawing/2014/main" id="{7E1BE76A-A1EA-1C83-C96D-286FFA1165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1225183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B71B3B1C-106F-0E1A-45D2-5A283B39163F}"/>
            </a:ext>
          </a:extLst>
        </p:cNvPr>
        <p:cNvGrpSpPr/>
        <p:nvPr/>
      </p:nvGrpSpPr>
      <p:grpSpPr>
        <a:xfrm>
          <a:off x="0" y="0"/>
          <a:ext cx="0" cy="0"/>
          <a:chOff x="0" y="0"/>
          <a:chExt cx="0" cy="0"/>
        </a:xfrm>
      </p:grpSpPr>
      <p:sp>
        <p:nvSpPr>
          <p:cNvPr id="231" name="Google Shape;231;p10:notes">
            <a:extLst>
              <a:ext uri="{FF2B5EF4-FFF2-40B4-BE49-F238E27FC236}">
                <a16:creationId xmlns:a16="http://schemas.microsoft.com/office/drawing/2014/main" id="{A7109142-6F6C-FB7F-72C6-252417A7D77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dirty="0">
                <a:latin typeface="Arial" panose="020B0604020202020204" pitchFamily="34" charset="0"/>
                <a:cs typeface="Arial" panose="020B0604020202020204" pitchFamily="34" charset="0"/>
              </a:rPr>
              <a:t>Unified Alert Management Ingest API: https://community.sentinelone.com/s/article/000009322</a:t>
            </a:r>
          </a:p>
          <a:p>
            <a:pPr marL="0" lvl="0" indent="0" algn="l" rtl="0">
              <a:lnSpc>
                <a:spcPct val="100000"/>
              </a:lnSpc>
              <a:spcBef>
                <a:spcPts val="0"/>
              </a:spcBef>
              <a:spcAft>
                <a:spcPts val="0"/>
              </a:spcAft>
              <a:buSzPts val="1400"/>
              <a:buNone/>
            </a:pPr>
            <a:endParaRPr lang="en-US" b="0"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r>
              <a:rPr lang="en-US" b="0" dirty="0" err="1">
                <a:latin typeface="Arial" panose="020B0604020202020204" pitchFamily="34" charset="0"/>
                <a:cs typeface="Arial" panose="020B0604020202020204" pitchFamily="34" charset="0"/>
              </a:rPr>
              <a:t>Function.ACCESS_LIST_ITEM</a:t>
            </a:r>
            <a:r>
              <a:rPr lang="en-US" b="0" dirty="0">
                <a:latin typeface="Arial" panose="020B0604020202020204" pitchFamily="34" charset="0"/>
                <a:cs typeface="Arial" panose="020B0604020202020204" pitchFamily="34" charset="0"/>
              </a:rPr>
              <a:t> accesses a list item at a specific index</a:t>
            </a:r>
          </a:p>
          <a:p>
            <a:pPr marL="0" lvl="0" indent="0" algn="l" rtl="0">
              <a:lnSpc>
                <a:spcPct val="100000"/>
              </a:lnSpc>
              <a:spcBef>
                <a:spcPts val="0"/>
              </a:spcBef>
              <a:spcAft>
                <a:spcPts val="0"/>
              </a:spcAft>
              <a:buSzPts val="1400"/>
              <a:buNone/>
            </a:pPr>
            <a:r>
              <a:rPr lang="en-US" b="0" dirty="0">
                <a:latin typeface="Arial" panose="020B0604020202020204" pitchFamily="34" charset="0"/>
                <a:cs typeface="Arial" panose="020B0604020202020204" pitchFamily="34" charset="0"/>
              </a:rPr>
              <a:t>Function.BASE64_DECODE_AS_BYTES: Converts a Base64 string to its byte sequence</a:t>
            </a:r>
          </a:p>
          <a:p>
            <a:pPr marL="0" lvl="0" indent="0" algn="l" rtl="0">
              <a:lnSpc>
                <a:spcPct val="100000"/>
              </a:lnSpc>
              <a:spcBef>
                <a:spcPts val="0"/>
              </a:spcBef>
              <a:spcAft>
                <a:spcPts val="0"/>
              </a:spcAft>
              <a:buSzPts val="1400"/>
              <a:buNone/>
            </a:pPr>
            <a:r>
              <a:rPr lang="en-US" b="0" dirty="0">
                <a:latin typeface="Arial" panose="020B0604020202020204" pitchFamily="34" charset="0"/>
                <a:cs typeface="Arial" panose="020B0604020202020204" pitchFamily="34" charset="0"/>
              </a:rPr>
              <a:t>_______________________________________________________________________________________________</a:t>
            </a:r>
          </a:p>
          <a:p>
            <a:pPr marL="0" lvl="0" indent="0" algn="l" rtl="0">
              <a:lnSpc>
                <a:spcPct val="100000"/>
              </a:lnSpc>
              <a:spcBef>
                <a:spcPts val="0"/>
              </a:spcBef>
              <a:spcAft>
                <a:spcPts val="0"/>
              </a:spcAft>
              <a:buSzPts val="1400"/>
              <a:buNone/>
            </a:pPr>
            <a:r>
              <a:rPr lang="en-US" b="0" dirty="0">
                <a:latin typeface="Arial" panose="020B0604020202020204" pitchFamily="34" charset="0"/>
                <a:cs typeface="Arial" panose="020B0604020202020204" pitchFamily="34" charset="0"/>
              </a:rPr>
              <a:t>regex breakdown for </a:t>
            </a:r>
            <a:r>
              <a:rPr lang="en-US" b="1" dirty="0">
                <a:latin typeface="Arial" panose="020B0604020202020204" pitchFamily="34" charset="0"/>
                <a:cs typeface="Arial" panose="020B0604020202020204" pitchFamily="34" charset="0"/>
              </a:rPr>
              <a:t>&lt;(?P&lt;</a:t>
            </a:r>
            <a:r>
              <a:rPr lang="en-US" b="1" dirty="0" err="1">
                <a:latin typeface="Arial" panose="020B0604020202020204" pitchFamily="34" charset="0"/>
                <a:cs typeface="Arial" panose="020B0604020202020204" pitchFamily="34" charset="0"/>
              </a:rPr>
              <a:t>url</a:t>
            </a:r>
            <a:r>
              <a:rPr lang="en-US" b="1" dirty="0">
                <a:latin typeface="Arial" panose="020B0604020202020204" pitchFamily="34" charset="0"/>
                <a:cs typeface="Arial" panose="020B0604020202020204" pitchFamily="34" charset="0"/>
              </a:rPr>
              <a:t>&gt;https?:\/\/[^&gt;\s]+)&gt;</a:t>
            </a:r>
          </a:p>
          <a:p>
            <a:pPr marL="0" lvl="0" indent="0" algn="l" rtl="0">
              <a:lnSpc>
                <a:spcPct val="100000"/>
              </a:lnSpc>
              <a:spcBef>
                <a:spcPts val="0"/>
              </a:spcBef>
              <a:spcAft>
                <a:spcPts val="0"/>
              </a:spcAft>
              <a:buSzPts val="1400"/>
              <a:buNone/>
            </a:pPr>
            <a:endParaRPr lang="en-US" b="0"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Font typeface="Symbol" panose="05050102010706020507" pitchFamily="18" charset="2"/>
              <a:buNone/>
            </a:pPr>
            <a:r>
              <a:rPr lang="en-US" dirty="0">
                <a:latin typeface="Arial" panose="020B0604020202020204" pitchFamily="34" charset="0"/>
                <a:cs typeface="Arial" panose="020B0604020202020204" pitchFamily="34" charset="0"/>
              </a:rPr>
              <a:t>&lt; &gt; literal opening and closing brackets</a:t>
            </a:r>
          </a:p>
          <a:p>
            <a:pPr marL="0" lvl="0" indent="0" algn="l" rtl="0">
              <a:lnSpc>
                <a:spcPct val="100000"/>
              </a:lnSpc>
              <a:spcBef>
                <a:spcPts val="0"/>
              </a:spcBef>
              <a:spcAft>
                <a:spcPts val="0"/>
              </a:spcAft>
              <a:buSzPts val="1400"/>
              <a:buFont typeface="Symbol" panose="05050102010706020507" pitchFamily="18" charset="2"/>
              <a:buNone/>
            </a:pPr>
            <a:r>
              <a:rPr lang="en-US" dirty="0">
                <a:latin typeface="Arial" panose="020B0604020202020204" pitchFamily="34" charset="0"/>
                <a:cs typeface="Arial" panose="020B0604020202020204" pitchFamily="34" charset="0"/>
              </a:rPr>
              <a:t>( ) create a capture group</a:t>
            </a:r>
          </a:p>
          <a:p>
            <a:pPr marL="0" lvl="0" indent="0" algn="l" rtl="0">
              <a:lnSpc>
                <a:spcPct val="100000"/>
              </a:lnSpc>
              <a:spcBef>
                <a:spcPts val="0"/>
              </a:spcBef>
              <a:spcAft>
                <a:spcPts val="0"/>
              </a:spcAft>
              <a:buSzPts val="1400"/>
              <a:buFont typeface="Symbol" panose="05050102010706020507" pitchFamily="18" charset="2"/>
              <a:buNone/>
            </a:pPr>
            <a:r>
              <a:rPr lang="en-US" dirty="0"/>
              <a:t>?P&lt;</a:t>
            </a:r>
            <a:r>
              <a:rPr lang="en-US" dirty="0" err="1"/>
              <a:t>url</a:t>
            </a:r>
            <a:r>
              <a:rPr lang="en-US" dirty="0"/>
              <a:t>&gt; assigns the name “</a:t>
            </a:r>
            <a:r>
              <a:rPr lang="en-US" dirty="0" err="1"/>
              <a:t>url</a:t>
            </a:r>
            <a:r>
              <a:rPr lang="en-US" dirty="0"/>
              <a:t>” to the capture group</a:t>
            </a:r>
          </a:p>
          <a:p>
            <a:pPr marL="0" lvl="0" indent="0" algn="l" rtl="0">
              <a:lnSpc>
                <a:spcPct val="100000"/>
              </a:lnSpc>
              <a:spcBef>
                <a:spcPts val="0"/>
              </a:spcBef>
              <a:spcAft>
                <a:spcPts val="0"/>
              </a:spcAft>
              <a:buSzPts val="1400"/>
              <a:buFont typeface="Symbol" panose="05050102010706020507" pitchFamily="18" charset="2"/>
              <a:buNone/>
            </a:pPr>
            <a:r>
              <a:rPr lang="en-US" dirty="0">
                <a:latin typeface="Arial" panose="020B0604020202020204" pitchFamily="34" charset="0"/>
                <a:cs typeface="Arial" panose="020B0604020202020204" pitchFamily="34" charset="0"/>
              </a:rPr>
              <a:t>https? matches both http and https</a:t>
            </a:r>
          </a:p>
          <a:p>
            <a:pPr marL="0" lvl="0" indent="0" algn="l" rtl="0">
              <a:lnSpc>
                <a:spcPct val="100000"/>
              </a:lnSpc>
              <a:spcBef>
                <a:spcPts val="0"/>
              </a:spcBef>
              <a:spcAft>
                <a:spcPts val="0"/>
              </a:spcAft>
              <a:buSzPts val="1400"/>
              <a:buFont typeface="Symbol" panose="05050102010706020507" pitchFamily="18" charset="2"/>
              <a:buNone/>
            </a:pPr>
            <a:r>
              <a:rPr lang="en-US" dirty="0">
                <a:latin typeface="Arial" panose="020B0604020202020204" pitchFamily="34" charset="0"/>
                <a:cs typeface="Arial" panose="020B0604020202020204" pitchFamily="34" charset="0"/>
              </a:rPr>
              <a:t>:\/\/ matches :// (escaping the forward slashes)</a:t>
            </a:r>
          </a:p>
          <a:p>
            <a:pPr marL="0" lvl="0" indent="0" algn="l" rtl="0">
              <a:lnSpc>
                <a:spcPct val="100000"/>
              </a:lnSpc>
              <a:spcBef>
                <a:spcPts val="0"/>
              </a:spcBef>
              <a:spcAft>
                <a:spcPts val="0"/>
              </a:spcAft>
              <a:buSzPts val="1400"/>
              <a:buFont typeface="Symbol" panose="05050102010706020507" pitchFamily="18" charset="2"/>
              <a:buNone/>
            </a:pPr>
            <a:r>
              <a:rPr lang="en-US" dirty="0">
                <a:latin typeface="Arial" panose="020B0604020202020204" pitchFamily="34" charset="0"/>
                <a:cs typeface="Arial" panose="020B0604020202020204" pitchFamily="34" charset="0"/>
              </a:rPr>
              <a:t>[ ] define a character set</a:t>
            </a:r>
          </a:p>
          <a:p>
            <a:pPr marL="0" lvl="0" indent="0" algn="l" rtl="0">
              <a:lnSpc>
                <a:spcPct val="100000"/>
              </a:lnSpc>
              <a:spcBef>
                <a:spcPts val="0"/>
              </a:spcBef>
              <a:spcAft>
                <a:spcPts val="0"/>
              </a:spcAft>
              <a:buSzPts val="1400"/>
              <a:buFont typeface="Symbol" panose="05050102010706020507" pitchFamily="18" charset="2"/>
              <a:buNone/>
            </a:pPr>
            <a:r>
              <a:rPr lang="en-US" sz="1814" b="0" i="0" u="none" strike="noStrike" cap="none" dirty="0">
                <a:solidFill>
                  <a:schemeClr val="dk1"/>
                </a:solidFill>
                <a:latin typeface="Arial"/>
                <a:ea typeface="Arial"/>
                <a:cs typeface="Arial"/>
                <a:sym typeface="Arial"/>
              </a:rPr>
              <a:t>^</a:t>
            </a:r>
            <a:r>
              <a:rPr lang="en-US" dirty="0"/>
              <a:t> at the start of the set means </a:t>
            </a:r>
            <a:r>
              <a:rPr lang="en-US" b="1" dirty="0"/>
              <a:t>"match any character </a:t>
            </a:r>
            <a:r>
              <a:rPr lang="en-US" b="1" i="1" dirty="0"/>
              <a:t>not</a:t>
            </a:r>
            <a:r>
              <a:rPr lang="en-US" b="1" dirty="0"/>
              <a:t> in this set“</a:t>
            </a:r>
          </a:p>
          <a:p>
            <a:pPr marL="0" lvl="0" indent="0" algn="l" rtl="0">
              <a:lnSpc>
                <a:spcPct val="100000"/>
              </a:lnSpc>
              <a:spcBef>
                <a:spcPts val="0"/>
              </a:spcBef>
              <a:spcAft>
                <a:spcPts val="0"/>
              </a:spcAft>
              <a:buSzPts val="1400"/>
              <a:buFont typeface="Wingdings" panose="05000000000000000000" pitchFamily="2" charset="2"/>
              <a:buNone/>
            </a:pPr>
            <a:r>
              <a:rPr lang="en-US" dirty="0"/>
              <a:t>&gt; means </a:t>
            </a:r>
            <a:r>
              <a:rPr lang="en-US" b="1" dirty="0"/>
              <a:t>do not match</a:t>
            </a:r>
            <a:r>
              <a:rPr lang="en-US" dirty="0"/>
              <a:t> the closing angle bracket.</a:t>
            </a:r>
          </a:p>
          <a:p>
            <a:pPr marL="0" lvl="0" indent="0" algn="l" rtl="0">
              <a:lnSpc>
                <a:spcPct val="100000"/>
              </a:lnSpc>
              <a:spcBef>
                <a:spcPts val="0"/>
              </a:spcBef>
              <a:spcAft>
                <a:spcPts val="0"/>
              </a:spcAft>
              <a:buSzPts val="1400"/>
              <a:buFont typeface="Wingdings" panose="05000000000000000000" pitchFamily="2" charset="2"/>
              <a:buNone/>
            </a:pPr>
            <a:r>
              <a:rPr lang="en-US" dirty="0"/>
              <a:t>\s means do not match any whitespace character</a:t>
            </a:r>
          </a:p>
          <a:p>
            <a:pPr marL="0" lvl="0" indent="0" algn="l" rtl="0">
              <a:lnSpc>
                <a:spcPct val="100000"/>
              </a:lnSpc>
              <a:spcBef>
                <a:spcPts val="0"/>
              </a:spcBef>
              <a:spcAft>
                <a:spcPts val="0"/>
              </a:spcAft>
              <a:buSzPts val="1400"/>
              <a:buFont typeface="Wingdings" panose="05000000000000000000" pitchFamily="2" charset="2"/>
              <a:buNone/>
            </a:pPr>
            <a:r>
              <a:rPr lang="en-US" sz="1814" b="0" i="0" u="none" strike="noStrike" cap="none" dirty="0">
                <a:solidFill>
                  <a:schemeClr val="dk1"/>
                </a:solidFill>
                <a:latin typeface="Arial"/>
                <a:ea typeface="Arial"/>
                <a:cs typeface="Arial"/>
                <a:sym typeface="Arial"/>
              </a:rPr>
              <a:t>+</a:t>
            </a:r>
            <a:r>
              <a:rPr lang="en-US" dirty="0"/>
              <a:t> means match the preceding character (or character set) </a:t>
            </a:r>
            <a:r>
              <a:rPr lang="en-US" b="1" dirty="0"/>
              <a:t>one or more times</a:t>
            </a:r>
            <a:endParaRPr lang="en-US" dirty="0"/>
          </a:p>
        </p:txBody>
      </p:sp>
      <p:sp>
        <p:nvSpPr>
          <p:cNvPr id="232" name="Google Shape;232;p10:notes">
            <a:extLst>
              <a:ext uri="{FF2B5EF4-FFF2-40B4-BE49-F238E27FC236}">
                <a16:creationId xmlns:a16="http://schemas.microsoft.com/office/drawing/2014/main" id="{556B84FB-EE0E-3ABC-860F-F9F98AD410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4052226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a:extLst>
            <a:ext uri="{FF2B5EF4-FFF2-40B4-BE49-F238E27FC236}">
              <a16:creationId xmlns:a16="http://schemas.microsoft.com/office/drawing/2014/main" id="{73432260-EE31-48A6-101A-6FB260B7EC4F}"/>
            </a:ext>
          </a:extLst>
        </p:cNvPr>
        <p:cNvGrpSpPr/>
        <p:nvPr/>
      </p:nvGrpSpPr>
      <p:grpSpPr>
        <a:xfrm>
          <a:off x="0" y="0"/>
          <a:ext cx="0" cy="0"/>
          <a:chOff x="0" y="0"/>
          <a:chExt cx="0" cy="0"/>
        </a:xfrm>
      </p:grpSpPr>
      <p:sp>
        <p:nvSpPr>
          <p:cNvPr id="239" name="Google Shape;239;p77:notes">
            <a:extLst>
              <a:ext uri="{FF2B5EF4-FFF2-40B4-BE49-F238E27FC236}">
                <a16:creationId xmlns:a16="http://schemas.microsoft.com/office/drawing/2014/main" id="{A16A1FEB-DFA7-F268-E4BE-3FA70AB83A3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latin typeface="Arial" panose="020B0604020202020204" pitchFamily="34" charset="0"/>
              <a:cs typeface="Arial" panose="020B0604020202020204" pitchFamily="34" charset="0"/>
            </a:endParaRPr>
          </a:p>
        </p:txBody>
      </p:sp>
      <p:sp>
        <p:nvSpPr>
          <p:cNvPr id="240" name="Google Shape;240;p77:notes">
            <a:extLst>
              <a:ext uri="{FF2B5EF4-FFF2-40B4-BE49-F238E27FC236}">
                <a16:creationId xmlns:a16="http://schemas.microsoft.com/office/drawing/2014/main" id="{BAA6A7C8-0C64-7A2A-0D86-0069F76974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247678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a:extLst>
            <a:ext uri="{FF2B5EF4-FFF2-40B4-BE49-F238E27FC236}">
              <a16:creationId xmlns:a16="http://schemas.microsoft.com/office/drawing/2014/main" id="{26F55000-6291-69F5-6C36-900AE80B67D0}"/>
            </a:ext>
          </a:extLst>
        </p:cNvPr>
        <p:cNvGrpSpPr/>
        <p:nvPr/>
      </p:nvGrpSpPr>
      <p:grpSpPr>
        <a:xfrm>
          <a:off x="0" y="0"/>
          <a:ext cx="0" cy="0"/>
          <a:chOff x="0" y="0"/>
          <a:chExt cx="0" cy="0"/>
        </a:xfrm>
      </p:grpSpPr>
      <p:sp>
        <p:nvSpPr>
          <p:cNvPr id="239" name="Google Shape;239;p77:notes">
            <a:extLst>
              <a:ext uri="{FF2B5EF4-FFF2-40B4-BE49-F238E27FC236}">
                <a16:creationId xmlns:a16="http://schemas.microsoft.com/office/drawing/2014/main" id="{9E2EAF0A-715C-93A6-044D-F1A75C30106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latin typeface="Arial" panose="020B0604020202020204" pitchFamily="34" charset="0"/>
                <a:cs typeface="Arial" panose="020B0604020202020204" pitchFamily="34" charset="0"/>
              </a:rPr>
              <a:t>From ITOCHU, a Japanese cybersecurity research company</a:t>
            </a:r>
            <a:endParaRPr dirty="0">
              <a:latin typeface="Arial" panose="020B0604020202020204" pitchFamily="34" charset="0"/>
              <a:cs typeface="Arial" panose="020B0604020202020204" pitchFamily="34" charset="0"/>
            </a:endParaRPr>
          </a:p>
        </p:txBody>
      </p:sp>
      <p:sp>
        <p:nvSpPr>
          <p:cNvPr id="240" name="Google Shape;240;p77:notes">
            <a:extLst>
              <a:ext uri="{FF2B5EF4-FFF2-40B4-BE49-F238E27FC236}">
                <a16:creationId xmlns:a16="http://schemas.microsoft.com/office/drawing/2014/main" id="{96D54B7B-A0B8-E901-2CB0-85B4FAFE66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0135403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73A599A5-D2DE-4B20-92E3-FB9BE092A555}"/>
            </a:ext>
          </a:extLst>
        </p:cNvPr>
        <p:cNvGrpSpPr/>
        <p:nvPr/>
      </p:nvGrpSpPr>
      <p:grpSpPr>
        <a:xfrm>
          <a:off x="0" y="0"/>
          <a:ext cx="0" cy="0"/>
          <a:chOff x="0" y="0"/>
          <a:chExt cx="0" cy="0"/>
        </a:xfrm>
      </p:grpSpPr>
      <p:sp>
        <p:nvSpPr>
          <p:cNvPr id="231" name="Google Shape;231;p10:notes">
            <a:extLst>
              <a:ext uri="{FF2B5EF4-FFF2-40B4-BE49-F238E27FC236}">
                <a16:creationId xmlns:a16="http://schemas.microsoft.com/office/drawing/2014/main" id="{A7A7A7CD-53A0-D63A-8CAE-E6BD12F6C4A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latin typeface="Arial" panose="020B0604020202020204" pitchFamily="34" charset="0"/>
              <a:cs typeface="Arial" panose="020B0604020202020204" pitchFamily="34" charset="0"/>
            </a:endParaRPr>
          </a:p>
        </p:txBody>
      </p:sp>
      <p:sp>
        <p:nvSpPr>
          <p:cNvPr id="232" name="Google Shape;232;p10:notes">
            <a:extLst>
              <a:ext uri="{FF2B5EF4-FFF2-40B4-BE49-F238E27FC236}">
                <a16:creationId xmlns:a16="http://schemas.microsoft.com/office/drawing/2014/main" id="{881BEA70-C4C7-971C-8317-1042C70124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2913218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Cover 01">
  <p:cSld name="Cover 01">
    <p:bg>
      <p:bgPr>
        <a:blipFill dpi="0" rotWithShape="1">
          <a:blip r:embed="rId2">
            <a:lum/>
          </a:blip>
          <a:srcRect/>
          <a:stretch>
            <a:fillRect/>
          </a:stretch>
        </a:blipFill>
        <a:effectLst/>
      </p:bgPr>
    </p:bg>
    <p:spTree>
      <p:nvGrpSpPr>
        <p:cNvPr id="1" name="Shape 12"/>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1_Cover 01" preserve="1" userDrawn="1">
  <p:cSld name="2_Cover 01">
    <p:bg>
      <p:bgPr>
        <a:blipFill dpi="0" rotWithShape="1">
          <a:blip r:embed="rId2">
            <a:lum/>
          </a:blip>
          <a:srcRect/>
          <a:stretch>
            <a:fillRect/>
          </a:stretch>
        </a:blipFill>
        <a:effectLst/>
      </p:bgPr>
    </p:bg>
    <p:spTree>
      <p:nvGrpSpPr>
        <p:cNvPr id="1" name="Shape 15"/>
        <p:cNvGrpSpPr/>
        <p:nvPr/>
      </p:nvGrpSpPr>
      <p:grpSpPr>
        <a:xfrm>
          <a:off x="0" y="0"/>
          <a:ext cx="0" cy="0"/>
          <a:chOff x="0" y="0"/>
          <a:chExt cx="0" cy="0"/>
        </a:xfrm>
      </p:grpSpPr>
      <p:sp>
        <p:nvSpPr>
          <p:cNvPr id="17" name="Google Shape;17;p58"/>
          <p:cNvSpPr txBox="1">
            <a:spLocks noGrp="1"/>
          </p:cNvSpPr>
          <p:nvPr>
            <p:ph type="title"/>
          </p:nvPr>
        </p:nvSpPr>
        <p:spPr>
          <a:xfrm>
            <a:off x="761935" y="3899754"/>
            <a:ext cx="7558826" cy="3133662"/>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lt1"/>
              </a:buClr>
              <a:buSzPts val="8000"/>
              <a:buFont typeface="Arial"/>
              <a:buNone/>
              <a:defRPr sz="7200" b="0" i="0">
                <a:solidFill>
                  <a:srgbClr val="EBEFFF"/>
                </a:solidFill>
                <a:latin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58"/>
          <p:cNvSpPr txBox="1">
            <a:spLocks noGrp="1"/>
          </p:cNvSpPr>
          <p:nvPr>
            <p:ph type="body" idx="1"/>
          </p:nvPr>
        </p:nvSpPr>
        <p:spPr>
          <a:xfrm>
            <a:off x="761935" y="7388110"/>
            <a:ext cx="7558826" cy="369332"/>
          </a:xfrm>
          <a:prstGeom prst="rect">
            <a:avLst/>
          </a:prstGeom>
          <a:noFill/>
          <a:ln>
            <a:noFill/>
          </a:ln>
        </p:spPr>
        <p:txBody>
          <a:bodyPr spcFirstLastPara="1" wrap="square" lIns="0" tIns="0" rIns="0" bIns="0" anchor="t" anchorCtr="0">
            <a:spAutoFit/>
          </a:bodyPr>
          <a:lstStyle>
            <a:lvl1pPr marL="0" lvl="0" indent="0" algn="l">
              <a:lnSpc>
                <a:spcPct val="100000"/>
              </a:lnSpc>
              <a:spcBef>
                <a:spcPts val="0"/>
              </a:spcBef>
              <a:spcAft>
                <a:spcPts val="0"/>
              </a:spcAft>
              <a:buClr>
                <a:schemeClr val="lt1"/>
              </a:buClr>
              <a:buSzPts val="2400"/>
              <a:buNone/>
              <a:defRPr sz="2400" b="0" i="0">
                <a:solidFill>
                  <a:srgbClr val="EBEFFF"/>
                </a:solidFill>
                <a:latin typeface="Arial" panose="020B0604020202020204" pitchFamily="34" charset="0"/>
                <a:ea typeface="Arial" panose="020B0604020202020204" pitchFamily="34" charset="0"/>
                <a:cs typeface="Arial"/>
                <a:sym typeface="Arial"/>
              </a:defRPr>
            </a:lvl1pPr>
            <a:lvl2pPr marL="914400" lvl="1" indent="-228600" algn="l">
              <a:lnSpc>
                <a:spcPct val="100000"/>
              </a:lnSpc>
              <a:spcBef>
                <a:spcPts val="0"/>
              </a:spcBef>
              <a:spcAft>
                <a:spcPts val="0"/>
              </a:spcAft>
              <a:buClr>
                <a:schemeClr val="lt1"/>
              </a:buClr>
              <a:buSzPts val="2400"/>
              <a:buNone/>
              <a:defRPr sz="2400" b="0">
                <a:solidFill>
                  <a:schemeClr val="lt1"/>
                </a:solidFill>
                <a:latin typeface="Arial"/>
                <a:ea typeface="Arial"/>
                <a:cs typeface="Arial"/>
                <a:sym typeface="Arial"/>
              </a:defRPr>
            </a:lvl2pPr>
            <a:lvl3pPr marL="1371600" lvl="2" indent="-342900" algn="l">
              <a:lnSpc>
                <a:spcPct val="100000"/>
              </a:lnSpc>
              <a:spcBef>
                <a:spcPts val="0"/>
              </a:spcBef>
              <a:spcAft>
                <a:spcPts val="0"/>
              </a:spcAft>
              <a:buClr>
                <a:srgbClr val="7F7F7F"/>
              </a:buClr>
              <a:buSzPts val="1800"/>
              <a:buChar char="•"/>
              <a:defRPr/>
            </a:lvl3pPr>
            <a:lvl4pPr marL="1828800" lvl="3" indent="-342900" algn="l">
              <a:lnSpc>
                <a:spcPct val="100000"/>
              </a:lnSpc>
              <a:spcBef>
                <a:spcPts val="0"/>
              </a:spcBef>
              <a:spcAft>
                <a:spcPts val="0"/>
              </a:spcAft>
              <a:buClr>
                <a:srgbClr val="7F7F7F"/>
              </a:buClr>
              <a:buSzPts val="1800"/>
              <a:buChar char="•"/>
              <a:defRPr/>
            </a:lvl4pPr>
            <a:lvl5pPr marL="2286000" lvl="4" indent="-342900" algn="l">
              <a:lnSpc>
                <a:spcPct val="100000"/>
              </a:lnSpc>
              <a:spcBef>
                <a:spcPts val="0"/>
              </a:spcBef>
              <a:spcAft>
                <a:spcPts val="0"/>
              </a:spcAft>
              <a:buClr>
                <a:srgbClr val="7F7F7F"/>
              </a:buClr>
              <a:buSzPts val="1800"/>
              <a:buChar char="•"/>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dirty="0"/>
          </a:p>
        </p:txBody>
      </p:sp>
      <p:pic>
        <p:nvPicPr>
          <p:cNvPr id="5" name="Graphic 4">
            <a:extLst>
              <a:ext uri="{FF2B5EF4-FFF2-40B4-BE49-F238E27FC236}">
                <a16:creationId xmlns:a16="http://schemas.microsoft.com/office/drawing/2014/main" id="{A8738012-21B6-9F55-A970-DDBFC373A95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788061" y="588917"/>
            <a:ext cx="2895663" cy="1026311"/>
          </a:xfrm>
          <a:prstGeom prst="rect">
            <a:avLst/>
          </a:prstGeom>
        </p:spPr>
      </p:pic>
    </p:spTree>
    <p:extLst>
      <p:ext uri="{BB962C8B-B14F-4D97-AF65-F5344CB8AC3E}">
        <p14:creationId xmlns:p14="http://schemas.microsoft.com/office/powerpoint/2010/main" val="2992667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Agenda" preserve="1">
  <p:cSld name="1_Agenda">
    <p:bg>
      <p:bgPr>
        <a:blipFill dpi="0" rotWithShape="1">
          <a:blip r:embed="rId2"/>
          <a:srcRect/>
          <a:stretch>
            <a:fillRect/>
          </a:stretch>
        </a:blipFill>
        <a:effectLst/>
      </p:bgPr>
    </p:bg>
    <p:spTree>
      <p:nvGrpSpPr>
        <p:cNvPr id="1" name="Shape 20"/>
        <p:cNvGrpSpPr/>
        <p:nvPr/>
      </p:nvGrpSpPr>
      <p:grpSpPr>
        <a:xfrm>
          <a:off x="0" y="0"/>
          <a:ext cx="0" cy="0"/>
          <a:chOff x="0" y="0"/>
          <a:chExt cx="0" cy="0"/>
        </a:xfrm>
      </p:grpSpPr>
      <p:sp>
        <p:nvSpPr>
          <p:cNvPr id="23" name="Google Shape;23;p59"/>
          <p:cNvSpPr txBox="1">
            <a:spLocks noGrp="1"/>
          </p:cNvSpPr>
          <p:nvPr>
            <p:ph type="body" idx="1"/>
          </p:nvPr>
        </p:nvSpPr>
        <p:spPr>
          <a:xfrm>
            <a:off x="10270123" y="866773"/>
            <a:ext cx="5768352" cy="7650210"/>
          </a:xfrm>
          <a:prstGeom prst="rect">
            <a:avLst/>
          </a:prstGeom>
          <a:noFill/>
          <a:ln>
            <a:noFill/>
          </a:ln>
        </p:spPr>
        <p:txBody>
          <a:bodyPr spcFirstLastPara="1" wrap="square" lIns="0" tIns="45700" rIns="0" bIns="45700" anchor="ctr" anchorCtr="0">
            <a:normAutofit/>
          </a:bodyPr>
          <a:lstStyle>
            <a:lvl1pPr marL="274320" lvl="0" indent="-381000" algn="l">
              <a:lnSpc>
                <a:spcPct val="150000"/>
              </a:lnSpc>
              <a:spcBef>
                <a:spcPts val="0"/>
              </a:spcBef>
              <a:spcAft>
                <a:spcPts val="0"/>
              </a:spcAft>
              <a:buClr>
                <a:srgbClr val="7165FF"/>
              </a:buClr>
              <a:buSzPct val="90000"/>
              <a:buFont typeface="Arial"/>
              <a:buChar char="•"/>
              <a:defRPr sz="3400" b="0" i="0" u="none" strike="noStrike" cap="none" dirty="0">
                <a:solidFill>
                  <a:srgbClr val="EBEFFF"/>
                </a:solidFill>
                <a:latin typeface="Arial" panose="020B0604020202020204" pitchFamily="34" charset="0"/>
                <a:ea typeface="Arial"/>
                <a:cs typeface="Arial"/>
                <a:sym typeface="Arial"/>
              </a:defRPr>
            </a:lvl1pPr>
            <a:lvl2pPr marL="914400" lvl="1" indent="-342900" algn="l">
              <a:lnSpc>
                <a:spcPct val="100000"/>
              </a:lnSpc>
              <a:spcBef>
                <a:spcPts val="18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gt;"/>
              <a:defRPr/>
            </a:lvl4pPr>
            <a:lvl5pPr marL="2286000" lvl="4" indent="-342900" algn="l">
              <a:lnSpc>
                <a:spcPct val="100000"/>
              </a:lnSpc>
              <a:spcBef>
                <a:spcPts val="600"/>
              </a:spcBef>
              <a:spcAft>
                <a:spcPts val="0"/>
              </a:spcAft>
              <a:buSzPts val="1800"/>
              <a:buChar char="o"/>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dirty="0"/>
          </a:p>
        </p:txBody>
      </p:sp>
      <p:sp>
        <p:nvSpPr>
          <p:cNvPr id="24" name="Google Shape;24;p59"/>
          <p:cNvSpPr txBox="1">
            <a:spLocks noGrp="1"/>
          </p:cNvSpPr>
          <p:nvPr>
            <p:ph type="title" hasCustomPrompt="1"/>
          </p:nvPr>
        </p:nvSpPr>
        <p:spPr>
          <a:xfrm flipH="1">
            <a:off x="762000" y="5371423"/>
            <a:ext cx="8159931" cy="1661993"/>
          </a:xfrm>
          <a:prstGeom prst="rect">
            <a:avLst/>
          </a:prstGeom>
          <a:noFill/>
          <a:ln>
            <a:noFill/>
          </a:ln>
        </p:spPr>
        <p:txBody>
          <a:bodyPr spcFirstLastPara="1" wrap="square" lIns="0" tIns="0" rIns="0" bIns="0" anchor="b" anchorCtr="0">
            <a:spAutoFit/>
          </a:bodyPr>
          <a:lstStyle>
            <a:lvl1pPr lvl="0" algn="l">
              <a:lnSpc>
                <a:spcPct val="75000"/>
              </a:lnSpc>
              <a:spcBef>
                <a:spcPts val="0"/>
              </a:spcBef>
              <a:spcAft>
                <a:spcPts val="0"/>
              </a:spcAft>
              <a:buClr>
                <a:schemeClr val="lt1"/>
              </a:buClr>
              <a:buSzPts val="6400"/>
              <a:buFont typeface="Arial"/>
              <a:buNone/>
              <a:defRPr sz="7200" b="0" i="0">
                <a:solidFill>
                  <a:srgbClr val="EBEFFF"/>
                </a:solidFill>
                <a:latin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dirty="0"/>
              <a:t>Presentation Agenda</a:t>
            </a:r>
            <a:endParaRPr dirty="0"/>
          </a:p>
        </p:txBody>
      </p:sp>
      <p:pic>
        <p:nvPicPr>
          <p:cNvPr id="6" name="Graphic 5">
            <a:extLst>
              <a:ext uri="{FF2B5EF4-FFF2-40B4-BE49-F238E27FC236}">
                <a16:creationId xmlns:a16="http://schemas.microsoft.com/office/drawing/2014/main" id="{E332739A-B60C-7845-B164-95C7E617C097}"/>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788061" y="588917"/>
            <a:ext cx="2895663" cy="1026311"/>
          </a:xfrm>
          <a:prstGeom prst="rect">
            <a:avLst/>
          </a:prstGeom>
        </p:spPr>
      </p:pic>
    </p:spTree>
    <p:extLst>
      <p:ext uri="{BB962C8B-B14F-4D97-AF65-F5344CB8AC3E}">
        <p14:creationId xmlns:p14="http://schemas.microsoft.com/office/powerpoint/2010/main" val="4205015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 Column Text">
  <p:cSld name="1 Column Text">
    <p:spTree>
      <p:nvGrpSpPr>
        <p:cNvPr id="1" name="Shape 26"/>
        <p:cNvGrpSpPr/>
        <p:nvPr/>
      </p:nvGrpSpPr>
      <p:grpSpPr>
        <a:xfrm>
          <a:off x="0" y="0"/>
          <a:ext cx="0" cy="0"/>
          <a:chOff x="0" y="0"/>
          <a:chExt cx="0" cy="0"/>
        </a:xfrm>
      </p:grpSpPr>
      <p:sp>
        <p:nvSpPr>
          <p:cNvPr id="28" name="Google Shape;28;p60"/>
          <p:cNvSpPr txBox="1">
            <a:spLocks noGrp="1"/>
          </p:cNvSpPr>
          <p:nvPr>
            <p:ph type="title"/>
          </p:nvPr>
        </p:nvSpPr>
        <p:spPr>
          <a:xfrm>
            <a:off x="819152" y="504825"/>
            <a:ext cx="16659223" cy="923925"/>
          </a:xfrm>
          <a:prstGeom prst="rect">
            <a:avLst/>
          </a:prstGeom>
          <a:noFill/>
          <a:ln>
            <a:noFill/>
          </a:ln>
        </p:spPr>
        <p:txBody>
          <a:bodyPr spcFirstLastPara="1" wrap="square" lIns="0" tIns="45700" rIns="0" bIns="45700" anchor="t" anchorCtr="0">
            <a:noAutofit/>
          </a:bodyPr>
          <a:lstStyle>
            <a:lvl1pPr lvl="0" algn="l">
              <a:lnSpc>
                <a:spcPct val="90000"/>
              </a:lnSpc>
              <a:spcBef>
                <a:spcPts val="0"/>
              </a:spcBef>
              <a:spcAft>
                <a:spcPts val="0"/>
              </a:spcAft>
              <a:buClr>
                <a:schemeClr val="dk1"/>
              </a:buClr>
              <a:buSzPts val="1800"/>
              <a:buNone/>
              <a:defRPr b="0" i="0">
                <a:latin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9" name="Google Shape;29;p60"/>
          <p:cNvSpPr txBox="1">
            <a:spLocks noGrp="1"/>
          </p:cNvSpPr>
          <p:nvPr>
            <p:ph type="body" idx="1"/>
          </p:nvPr>
        </p:nvSpPr>
        <p:spPr>
          <a:xfrm>
            <a:off x="819152" y="1600200"/>
            <a:ext cx="16659223" cy="7826400"/>
          </a:xfrm>
          <a:prstGeom prst="rect">
            <a:avLst/>
          </a:prstGeom>
          <a:noFill/>
          <a:ln>
            <a:noFill/>
          </a:ln>
        </p:spPr>
        <p:txBody>
          <a:bodyPr spcFirstLastPara="1" wrap="square" lIns="0" tIns="0" rIns="0" bIns="0" anchor="t" anchorCtr="0">
            <a:noAutofit/>
          </a:bodyPr>
          <a:lstStyle>
            <a:lvl1pPr marL="0" lvl="0" indent="0" algn="l">
              <a:lnSpc>
                <a:spcPct val="110000"/>
              </a:lnSpc>
              <a:spcBef>
                <a:spcPts val="0"/>
              </a:spcBef>
              <a:spcAft>
                <a:spcPts val="0"/>
              </a:spcAft>
              <a:buSzPts val="2200"/>
              <a:buNone/>
              <a:defRPr sz="2200" b="0" i="0">
                <a:latin typeface="Arial" panose="020B0604020202020204" pitchFamily="34" charset="0"/>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gt;"/>
              <a:defRPr/>
            </a:lvl4pPr>
            <a:lvl5pPr marL="2286000" lvl="4" indent="-342900" algn="l">
              <a:lnSpc>
                <a:spcPct val="100000"/>
              </a:lnSpc>
              <a:spcBef>
                <a:spcPts val="600"/>
              </a:spcBef>
              <a:spcAft>
                <a:spcPts val="0"/>
              </a:spcAft>
              <a:buSzPts val="1800"/>
              <a:buChar char="o"/>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dirty="0"/>
          </a:p>
        </p:txBody>
      </p:sp>
      <p:sp>
        <p:nvSpPr>
          <p:cNvPr id="6" name="Google Shape;151;p72">
            <a:extLst>
              <a:ext uri="{FF2B5EF4-FFF2-40B4-BE49-F238E27FC236}">
                <a16:creationId xmlns:a16="http://schemas.microsoft.com/office/drawing/2014/main" id="{C10FAA1D-BF0F-910B-0236-13F5AAEBCAC2}"/>
              </a:ext>
            </a:extLst>
          </p:cNvPr>
          <p:cNvSpPr txBox="1"/>
          <p:nvPr userDrawn="1"/>
        </p:nvSpPr>
        <p:spPr>
          <a:xfrm>
            <a:off x="17013836" y="9807253"/>
            <a:ext cx="455011" cy="300755"/>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6418BF60-5985-CB4A-BD86-A174B281FFE8}" type="slidenum">
              <a:rPr lang="en-US" sz="1100" b="0" i="0" u="none" strike="noStrike" cap="none" smtClean="0">
                <a:solidFill>
                  <a:srgbClr val="757AAD"/>
                </a:solidFill>
                <a:latin typeface="Arial" panose="020B0604020202020204" pitchFamily="34" charset="0"/>
                <a:ea typeface="Arial"/>
                <a:cs typeface="Arial"/>
                <a:sym typeface="Arial"/>
              </a:rPr>
              <a:t>‹#›</a:t>
            </a:fld>
            <a:endParaRPr sz="1100" b="0" i="0" u="none" strike="noStrike" cap="none" dirty="0">
              <a:solidFill>
                <a:srgbClr val="757AAD"/>
              </a:solidFill>
              <a:latin typeface="Arial" panose="020B0604020202020204" pitchFamily="34" charset="0"/>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68"/>
        <p:cNvGrpSpPr/>
        <p:nvPr/>
      </p:nvGrpSpPr>
      <p:grpSpPr>
        <a:xfrm>
          <a:off x="0" y="0"/>
          <a:ext cx="0" cy="0"/>
          <a:chOff x="0" y="0"/>
          <a:chExt cx="0" cy="0"/>
        </a:xfrm>
      </p:grpSpPr>
      <p:sp>
        <p:nvSpPr>
          <p:cNvPr id="69" name="Google Shape;69;p66"/>
          <p:cNvSpPr txBox="1">
            <a:spLocks noGrp="1"/>
          </p:cNvSpPr>
          <p:nvPr>
            <p:ph type="title"/>
          </p:nvPr>
        </p:nvSpPr>
        <p:spPr>
          <a:xfrm>
            <a:off x="820738" y="504825"/>
            <a:ext cx="16657637" cy="923925"/>
          </a:xfrm>
          <a:prstGeom prst="rect">
            <a:avLst/>
          </a:prstGeom>
          <a:noFill/>
          <a:ln>
            <a:noFill/>
          </a:ln>
        </p:spPr>
        <p:txBody>
          <a:bodyPr spcFirstLastPara="1" wrap="square" lIns="0" tIns="45700" rIns="0" bIns="45700" anchor="t" anchorCtr="0">
            <a:noAutofit/>
          </a:bodyPr>
          <a:lstStyle>
            <a:lvl1pPr lvl="0" algn="l">
              <a:lnSpc>
                <a:spcPct val="90000"/>
              </a:lnSpc>
              <a:spcBef>
                <a:spcPts val="0"/>
              </a:spcBef>
              <a:spcAft>
                <a:spcPts val="0"/>
              </a:spcAft>
              <a:buClr>
                <a:schemeClr val="dk1"/>
              </a:buClr>
              <a:buSzPts val="5800"/>
              <a:buFont typeface="Arial"/>
              <a:buNone/>
              <a:defRPr b="0" i="0">
                <a:solidFill>
                  <a:schemeClr val="dk1"/>
                </a:solidFill>
                <a:latin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66"/>
          <p:cNvSpPr txBox="1">
            <a:spLocks noGrp="1"/>
          </p:cNvSpPr>
          <p:nvPr>
            <p:ph type="body" idx="1"/>
          </p:nvPr>
        </p:nvSpPr>
        <p:spPr>
          <a:xfrm>
            <a:off x="820738" y="1600200"/>
            <a:ext cx="16657637" cy="7829550"/>
          </a:xfrm>
          <a:prstGeom prst="rect">
            <a:avLst/>
          </a:prstGeom>
          <a:noFill/>
          <a:ln>
            <a:noFill/>
          </a:ln>
        </p:spPr>
        <p:txBody>
          <a:bodyPr spcFirstLastPara="1" wrap="square" lIns="0" tIns="45700" rIns="0" bIns="45700" anchor="t" anchorCtr="0">
            <a:noAutofit/>
          </a:bodyPr>
          <a:lstStyle>
            <a:lvl1pPr marL="457200" lvl="0" indent="-368300" algn="l">
              <a:lnSpc>
                <a:spcPct val="100000"/>
              </a:lnSpc>
              <a:spcBef>
                <a:spcPts val="0"/>
              </a:spcBef>
              <a:spcAft>
                <a:spcPts val="0"/>
              </a:spcAft>
              <a:buClr>
                <a:schemeClr val="accent1"/>
              </a:buClr>
              <a:buSzPts val="2200"/>
              <a:buFont typeface="Arial" panose="020B0604020202020204" pitchFamily="34" charset="0"/>
              <a:buChar char="•"/>
              <a:defRPr b="0" i="0">
                <a:latin typeface="Arial" panose="020B0604020202020204" pitchFamily="34" charset="0"/>
              </a:defRPr>
            </a:lvl1pPr>
            <a:lvl2pPr marL="914400" lvl="1" indent="-355600" algn="l">
              <a:lnSpc>
                <a:spcPct val="100000"/>
              </a:lnSpc>
              <a:spcBef>
                <a:spcPts val="600"/>
              </a:spcBef>
              <a:spcAft>
                <a:spcPts val="0"/>
              </a:spcAft>
              <a:buSzPts val="2000"/>
              <a:buChar char="–"/>
              <a:defRPr/>
            </a:lvl2pPr>
            <a:lvl3pPr marL="1371600" lvl="2" indent="-342900" algn="l">
              <a:lnSpc>
                <a:spcPct val="100000"/>
              </a:lnSpc>
              <a:spcBef>
                <a:spcPts val="600"/>
              </a:spcBef>
              <a:spcAft>
                <a:spcPts val="0"/>
              </a:spcAft>
              <a:buSzPts val="1800"/>
              <a:buChar char="•"/>
              <a:defRPr/>
            </a:lvl3pPr>
            <a:lvl4pPr marL="1828800" lvl="3" indent="-330200" algn="l">
              <a:lnSpc>
                <a:spcPct val="100000"/>
              </a:lnSpc>
              <a:spcBef>
                <a:spcPts val="600"/>
              </a:spcBef>
              <a:spcAft>
                <a:spcPts val="0"/>
              </a:spcAft>
              <a:buSzPts val="1600"/>
              <a:buChar char="&gt;"/>
              <a:defRPr/>
            </a:lvl4pPr>
            <a:lvl5pPr marL="2286000" lvl="4" indent="-317500" algn="l">
              <a:lnSpc>
                <a:spcPct val="100000"/>
              </a:lnSpc>
              <a:spcBef>
                <a:spcPts val="600"/>
              </a:spcBef>
              <a:spcAft>
                <a:spcPts val="0"/>
              </a:spcAft>
              <a:buSzPts val="1400"/>
              <a:buChar char="o"/>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dirty="0"/>
          </a:p>
        </p:txBody>
      </p:sp>
      <p:sp>
        <p:nvSpPr>
          <p:cNvPr id="3" name="Google Shape;151;p72">
            <a:extLst>
              <a:ext uri="{FF2B5EF4-FFF2-40B4-BE49-F238E27FC236}">
                <a16:creationId xmlns:a16="http://schemas.microsoft.com/office/drawing/2014/main" id="{4B9A620D-E393-1C13-B53B-B2AABE70772B}"/>
              </a:ext>
            </a:extLst>
          </p:cNvPr>
          <p:cNvSpPr txBox="1"/>
          <p:nvPr userDrawn="1"/>
        </p:nvSpPr>
        <p:spPr>
          <a:xfrm>
            <a:off x="17013836" y="9807253"/>
            <a:ext cx="455011" cy="300755"/>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6418BF60-5985-CB4A-BD86-A174B281FFE8}" type="slidenum">
              <a:rPr lang="en-US" sz="1100" b="0" i="0" u="none" strike="noStrike" cap="none" smtClean="0">
                <a:solidFill>
                  <a:srgbClr val="757AAD"/>
                </a:solidFill>
                <a:latin typeface="Arial" panose="020B0604020202020204" pitchFamily="34" charset="0"/>
                <a:ea typeface="Arial"/>
                <a:cs typeface="Arial"/>
                <a:sym typeface="Arial"/>
              </a:rPr>
              <a:t>‹#›</a:t>
            </a:fld>
            <a:endParaRPr sz="1100" b="0" i="0" u="none" strike="noStrike" cap="none" dirty="0">
              <a:solidFill>
                <a:srgbClr val="757AAD"/>
              </a:solidFill>
              <a:latin typeface="Arial" panose="020B0604020202020204" pitchFamily="34" charset="0"/>
              <a:ea typeface="Arial"/>
              <a:cs typeface="Arial"/>
              <a:sym typeface="Arial"/>
            </a:endParaRPr>
          </a:p>
        </p:txBody>
      </p:sp>
    </p:spTree>
    <p:custDataLst>
      <p:tags r:id="rId1"/>
    </p:custData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Right Text, Left Image, Angled">
  <p:cSld name="Right Text, Left Image, Angled">
    <p:spTree>
      <p:nvGrpSpPr>
        <p:cNvPr id="1" name="Shape 53"/>
        <p:cNvGrpSpPr/>
        <p:nvPr/>
      </p:nvGrpSpPr>
      <p:grpSpPr>
        <a:xfrm>
          <a:off x="0" y="0"/>
          <a:ext cx="0" cy="0"/>
          <a:chOff x="0" y="0"/>
          <a:chExt cx="0" cy="0"/>
        </a:xfrm>
      </p:grpSpPr>
      <p:sp>
        <p:nvSpPr>
          <p:cNvPr id="55" name="Google Shape;55;p64"/>
          <p:cNvSpPr>
            <a:spLocks noGrp="1"/>
          </p:cNvSpPr>
          <p:nvPr>
            <p:ph type="pic" idx="2"/>
          </p:nvPr>
        </p:nvSpPr>
        <p:spPr>
          <a:xfrm rot="5400000">
            <a:off x="-1186180" y="-43180"/>
            <a:ext cx="10287000" cy="10373360"/>
          </a:xfrm>
          <a:prstGeom prst="roundRect">
            <a:avLst>
              <a:gd name="adj" fmla="val 0"/>
            </a:avLst>
          </a:prstGeom>
          <a:solidFill>
            <a:schemeClr val="accent2"/>
          </a:solidFill>
          <a:ln>
            <a:noFill/>
          </a:ln>
        </p:spPr>
        <p:txBody>
          <a:bodyPr/>
          <a:lstStyle/>
          <a:p>
            <a:endParaRPr lang="en-US"/>
          </a:p>
        </p:txBody>
      </p:sp>
      <p:sp>
        <p:nvSpPr>
          <p:cNvPr id="56" name="Google Shape;56;p64"/>
          <p:cNvSpPr txBox="1"/>
          <p:nvPr/>
        </p:nvSpPr>
        <p:spPr>
          <a:xfrm>
            <a:off x="0" y="344271"/>
            <a:ext cx="8799728" cy="9598457"/>
          </a:xfrm>
          <a:prstGeom prst="rect">
            <a:avLst/>
          </a:prstGeom>
          <a:noFill/>
          <a:ln>
            <a:noFill/>
          </a:ln>
        </p:spPr>
        <p:txBody>
          <a:bodyPr spcFirstLastPara="1" wrap="square" lIns="91425" tIns="91425" rIns="91425" bIns="91425" anchor="ctr" anchorCtr="0">
            <a:noAutofit/>
          </a:bodyPr>
          <a:lstStyle/>
          <a:p>
            <a:pPr marL="457200" marR="0" lvl="0" indent="-368300" algn="ctr" rtl="0">
              <a:lnSpc>
                <a:spcPct val="100000"/>
              </a:lnSpc>
              <a:spcBef>
                <a:spcPts val="0"/>
              </a:spcBef>
              <a:spcAft>
                <a:spcPts val="0"/>
              </a:spcAft>
              <a:buClr>
                <a:schemeClr val="accent1"/>
              </a:buClr>
              <a:buSzPts val="2200"/>
              <a:buFont typeface="Arial"/>
              <a:buNone/>
            </a:pPr>
            <a:r>
              <a:rPr lang="en-US" sz="2200" b="0" i="0" u="none" strike="noStrike" cap="none" dirty="0">
                <a:solidFill>
                  <a:schemeClr val="bg1"/>
                </a:solidFill>
                <a:latin typeface="Arial" panose="020B0604020202020204" pitchFamily="34" charset="0"/>
                <a:ea typeface="Arial"/>
                <a:cs typeface="Arial"/>
                <a:sym typeface="Arial"/>
              </a:rPr>
              <a:t>Click Icon to Insert Picture</a:t>
            </a:r>
            <a:endParaRPr sz="1400" b="0" i="0" u="none" strike="noStrike" cap="none" dirty="0">
              <a:solidFill>
                <a:schemeClr val="bg1"/>
              </a:solidFill>
              <a:latin typeface="Arial" panose="020B0604020202020204" pitchFamily="34" charset="0"/>
              <a:ea typeface="Arial"/>
              <a:cs typeface="Arial"/>
              <a:sym typeface="Arial"/>
            </a:endParaRPr>
          </a:p>
        </p:txBody>
      </p:sp>
      <p:sp>
        <p:nvSpPr>
          <p:cNvPr id="57" name="Google Shape;57;p64"/>
          <p:cNvSpPr txBox="1">
            <a:spLocks noGrp="1"/>
          </p:cNvSpPr>
          <p:nvPr>
            <p:ph type="title"/>
          </p:nvPr>
        </p:nvSpPr>
        <p:spPr>
          <a:xfrm>
            <a:off x="10354614" y="2752161"/>
            <a:ext cx="6787166" cy="895630"/>
          </a:xfrm>
          <a:prstGeom prst="rect">
            <a:avLst/>
          </a:prstGeom>
          <a:noFill/>
          <a:ln>
            <a:noFill/>
          </a:ln>
        </p:spPr>
        <p:txBody>
          <a:bodyPr spcFirstLastPara="1" wrap="square" lIns="0" tIns="45700" rIns="0" bIns="45700" anchor="b" anchorCtr="0">
            <a:spAutoFit/>
          </a:bodyPr>
          <a:lstStyle>
            <a:lvl1pPr lvl="0" algn="l">
              <a:lnSpc>
                <a:spcPct val="90000"/>
              </a:lnSpc>
              <a:spcBef>
                <a:spcPts val="0"/>
              </a:spcBef>
              <a:spcAft>
                <a:spcPts val="0"/>
              </a:spcAft>
              <a:buClr>
                <a:schemeClr val="lt1"/>
              </a:buClr>
              <a:buSzPts val="5800"/>
              <a:buFont typeface="Arial"/>
              <a:buNone/>
              <a:defRPr b="0" i="0">
                <a:latin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8" name="Google Shape;58;p64"/>
          <p:cNvSpPr txBox="1">
            <a:spLocks noGrp="1"/>
          </p:cNvSpPr>
          <p:nvPr>
            <p:ph type="body" idx="1"/>
          </p:nvPr>
        </p:nvSpPr>
        <p:spPr>
          <a:xfrm>
            <a:off x="10354614" y="3969920"/>
            <a:ext cx="6787166" cy="464702"/>
          </a:xfrm>
          <a:prstGeom prst="rect">
            <a:avLst/>
          </a:prstGeom>
          <a:noFill/>
          <a:ln>
            <a:noFill/>
          </a:ln>
        </p:spPr>
        <p:txBody>
          <a:bodyPr spcFirstLastPara="1" wrap="square" lIns="0" tIns="45700" rIns="0" bIns="45700" anchor="t" anchorCtr="0">
            <a:spAutoFit/>
          </a:bodyPr>
          <a:lstStyle>
            <a:lvl1pPr marL="0" lvl="0" indent="0" algn="l">
              <a:lnSpc>
                <a:spcPct val="110000"/>
              </a:lnSpc>
              <a:spcBef>
                <a:spcPts val="0"/>
              </a:spcBef>
              <a:spcAft>
                <a:spcPts val="0"/>
              </a:spcAft>
              <a:buSzPts val="2200"/>
              <a:buNone/>
              <a:defRPr b="0" i="0">
                <a:latin typeface="Arial" panose="020B0604020202020204" pitchFamily="34" charset="0"/>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gt;"/>
              <a:defRPr/>
            </a:lvl4pPr>
            <a:lvl5pPr marL="2286000" lvl="4" indent="-342900" algn="l">
              <a:lnSpc>
                <a:spcPct val="100000"/>
              </a:lnSpc>
              <a:spcBef>
                <a:spcPts val="600"/>
              </a:spcBef>
              <a:spcAft>
                <a:spcPts val="0"/>
              </a:spcAft>
              <a:buSzPts val="1800"/>
              <a:buChar char="o"/>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
        <p:nvSpPr>
          <p:cNvPr id="60" name="Google Shape;60;p64"/>
          <p:cNvSpPr txBox="1"/>
          <p:nvPr/>
        </p:nvSpPr>
        <p:spPr>
          <a:xfrm>
            <a:off x="8927024" y="263471"/>
            <a:ext cx="18473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panose="020B0604020202020204" pitchFamily="34" charset="0"/>
              <a:ea typeface="Arial"/>
              <a:cs typeface="Arial"/>
              <a:sym typeface="Arial"/>
            </a:endParaRPr>
          </a:p>
        </p:txBody>
      </p:sp>
      <p:sp>
        <p:nvSpPr>
          <p:cNvPr id="3" name="Google Shape;151;p72">
            <a:extLst>
              <a:ext uri="{FF2B5EF4-FFF2-40B4-BE49-F238E27FC236}">
                <a16:creationId xmlns:a16="http://schemas.microsoft.com/office/drawing/2014/main" id="{7414C4A3-6772-5641-9827-8B5129EB00FB}"/>
              </a:ext>
            </a:extLst>
          </p:cNvPr>
          <p:cNvSpPr txBox="1"/>
          <p:nvPr userDrawn="1"/>
        </p:nvSpPr>
        <p:spPr>
          <a:xfrm>
            <a:off x="16597474" y="9782175"/>
            <a:ext cx="871373" cy="325833"/>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6418BF60-5985-CB4A-BD86-A174B281FFE8}" type="slidenum">
              <a:rPr lang="en-US" sz="1100" b="0" i="0" u="none" strike="noStrike" cap="none" smtClean="0">
                <a:solidFill>
                  <a:srgbClr val="757AAD"/>
                </a:solidFill>
                <a:latin typeface="Arial" panose="020B0604020202020204" pitchFamily="34" charset="0"/>
                <a:ea typeface="Arial"/>
                <a:cs typeface="Arial"/>
                <a:sym typeface="Arial"/>
              </a:rPr>
              <a:t>‹#›</a:t>
            </a:fld>
            <a:endParaRPr sz="1100" b="0" i="0" u="none" strike="noStrike" cap="none" dirty="0">
              <a:solidFill>
                <a:srgbClr val="757AAD"/>
              </a:solidFill>
              <a:latin typeface="Arial" panose="020B0604020202020204" pitchFamily="34" charset="0"/>
              <a:ea typeface="Arial"/>
              <a:cs typeface="Arial"/>
              <a:sym typeface="Arial"/>
            </a:endParaRPr>
          </a:p>
        </p:txBody>
      </p:sp>
      <p:sp>
        <p:nvSpPr>
          <p:cNvPr id="2" name="Google Shape;151;p72">
            <a:extLst>
              <a:ext uri="{FF2B5EF4-FFF2-40B4-BE49-F238E27FC236}">
                <a16:creationId xmlns:a16="http://schemas.microsoft.com/office/drawing/2014/main" id="{8B78675C-6629-C864-18D0-197A7FC809E3}"/>
              </a:ext>
            </a:extLst>
          </p:cNvPr>
          <p:cNvSpPr txBox="1"/>
          <p:nvPr userDrawn="1"/>
        </p:nvSpPr>
        <p:spPr>
          <a:xfrm>
            <a:off x="12870163" y="9782175"/>
            <a:ext cx="4019066" cy="325833"/>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100" b="0" i="0" u="none" strike="noStrike" cap="none" dirty="0" err="1">
                <a:solidFill>
                  <a:srgbClr val="757AAD"/>
                </a:solidFill>
                <a:latin typeface="Arial" panose="020B0604020202020204" pitchFamily="34" charset="0"/>
                <a:ea typeface="Arial"/>
                <a:cs typeface="Arial"/>
                <a:sym typeface="Arial"/>
              </a:rPr>
              <a:t>SentinelOne</a:t>
            </a:r>
            <a:r>
              <a:rPr lang="en-US" sz="1100" b="0" i="0" u="none" strike="noStrike" cap="none" dirty="0">
                <a:solidFill>
                  <a:srgbClr val="757AAD"/>
                </a:solidFill>
                <a:latin typeface="Arial" panose="020B0604020202020204" pitchFamily="34" charset="0"/>
                <a:ea typeface="Arial"/>
                <a:cs typeface="Arial"/>
                <a:sym typeface="Arial"/>
              </a:rPr>
              <a:t>, Inc. Confidential and Proprietary Information</a:t>
            </a:r>
            <a:endParaRPr sz="1100" b="0" i="0" u="none" strike="noStrike" cap="none" dirty="0">
              <a:solidFill>
                <a:srgbClr val="757AAD"/>
              </a:solidFill>
              <a:latin typeface="Arial" panose="020B0604020202020204" pitchFamily="34" charset="0"/>
              <a:ea typeface="Arial"/>
              <a:cs typeface="Arial"/>
              <a:sym typeface="Arial"/>
            </a:endParaRPr>
          </a:p>
        </p:txBody>
      </p:sp>
    </p:spTree>
    <p:custDataLst>
      <p:tags r:id="rId1"/>
    </p:custData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Left Text, Right Image, Angled" userDrawn="1">
  <p:cSld name="Left Text, Right Image, Angled">
    <p:spTree>
      <p:nvGrpSpPr>
        <p:cNvPr id="1" name="Shape 61"/>
        <p:cNvGrpSpPr/>
        <p:nvPr/>
      </p:nvGrpSpPr>
      <p:grpSpPr>
        <a:xfrm>
          <a:off x="0" y="0"/>
          <a:ext cx="0" cy="0"/>
          <a:chOff x="0" y="0"/>
          <a:chExt cx="0" cy="0"/>
        </a:xfrm>
      </p:grpSpPr>
      <p:sp>
        <p:nvSpPr>
          <p:cNvPr id="63" name="Google Shape;63;p65"/>
          <p:cNvSpPr txBox="1">
            <a:spLocks noGrp="1"/>
          </p:cNvSpPr>
          <p:nvPr>
            <p:ph type="title"/>
          </p:nvPr>
        </p:nvSpPr>
        <p:spPr>
          <a:xfrm>
            <a:off x="809625" y="2884120"/>
            <a:ext cx="6696075" cy="763671"/>
          </a:xfrm>
          <a:prstGeom prst="rect">
            <a:avLst/>
          </a:prstGeom>
          <a:noFill/>
          <a:ln>
            <a:noFill/>
          </a:ln>
        </p:spPr>
        <p:txBody>
          <a:bodyPr spcFirstLastPara="1" wrap="square" lIns="0" tIns="45700" rIns="0" bIns="45700" anchor="b" anchorCtr="0">
            <a:spAutoFit/>
          </a:bodyPr>
          <a:lstStyle>
            <a:lvl1pPr lvl="0" algn="l">
              <a:lnSpc>
                <a:spcPct val="75000"/>
              </a:lnSpc>
              <a:spcBef>
                <a:spcPts val="0"/>
              </a:spcBef>
              <a:spcAft>
                <a:spcPts val="0"/>
              </a:spcAft>
              <a:buClr>
                <a:schemeClr val="lt1"/>
              </a:buClr>
              <a:buSzPts val="5800"/>
              <a:buFont typeface="Arial"/>
              <a:buNone/>
              <a:defRPr b="0" i="0">
                <a:latin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65"/>
          <p:cNvSpPr txBox="1">
            <a:spLocks noGrp="1"/>
          </p:cNvSpPr>
          <p:nvPr>
            <p:ph type="body" idx="1"/>
          </p:nvPr>
        </p:nvSpPr>
        <p:spPr>
          <a:xfrm>
            <a:off x="809625" y="3969920"/>
            <a:ext cx="6696075" cy="464702"/>
          </a:xfrm>
          <a:prstGeom prst="rect">
            <a:avLst/>
          </a:prstGeom>
          <a:noFill/>
          <a:ln>
            <a:noFill/>
          </a:ln>
        </p:spPr>
        <p:txBody>
          <a:bodyPr spcFirstLastPara="1" wrap="square" lIns="0" tIns="45700" rIns="0" bIns="45700" anchor="t" anchorCtr="0">
            <a:spAutoFit/>
          </a:bodyPr>
          <a:lstStyle>
            <a:lvl1pPr marL="0" lvl="0" indent="0" algn="l">
              <a:lnSpc>
                <a:spcPct val="110000"/>
              </a:lnSpc>
              <a:spcBef>
                <a:spcPts val="0"/>
              </a:spcBef>
              <a:spcAft>
                <a:spcPts val="0"/>
              </a:spcAft>
              <a:buSzPts val="2200"/>
              <a:buNone/>
              <a:defRPr b="0" i="0">
                <a:latin typeface="Arial" panose="020B0604020202020204" pitchFamily="34" charset="0"/>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gt;"/>
              <a:defRPr/>
            </a:lvl4pPr>
            <a:lvl5pPr marL="2286000" lvl="4" indent="-342900" algn="l">
              <a:lnSpc>
                <a:spcPct val="100000"/>
              </a:lnSpc>
              <a:spcBef>
                <a:spcPts val="600"/>
              </a:spcBef>
              <a:spcAft>
                <a:spcPts val="0"/>
              </a:spcAft>
              <a:buSzPts val="1800"/>
              <a:buChar char="o"/>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dirty="0"/>
          </a:p>
        </p:txBody>
      </p:sp>
      <p:sp>
        <p:nvSpPr>
          <p:cNvPr id="2" name="Google Shape;55;p64">
            <a:extLst>
              <a:ext uri="{FF2B5EF4-FFF2-40B4-BE49-F238E27FC236}">
                <a16:creationId xmlns:a16="http://schemas.microsoft.com/office/drawing/2014/main" id="{E7249F79-8ECB-2ED1-2F58-8A684D7DA4AE}"/>
              </a:ext>
            </a:extLst>
          </p:cNvPr>
          <p:cNvSpPr>
            <a:spLocks noGrp="1"/>
          </p:cNvSpPr>
          <p:nvPr>
            <p:ph type="pic" idx="2"/>
          </p:nvPr>
        </p:nvSpPr>
        <p:spPr>
          <a:xfrm rot="5400000">
            <a:off x="9001596" y="-43180"/>
            <a:ext cx="10287000" cy="10373360"/>
          </a:xfrm>
          <a:prstGeom prst="roundRect">
            <a:avLst>
              <a:gd name="adj" fmla="val 0"/>
            </a:avLst>
          </a:prstGeom>
          <a:solidFill>
            <a:schemeClr val="accent2"/>
          </a:solidFill>
          <a:ln>
            <a:noFill/>
          </a:ln>
        </p:spPr>
        <p:txBody>
          <a:bodyPr/>
          <a:lstStyle/>
          <a:p>
            <a:endParaRPr lang="en-US"/>
          </a:p>
        </p:txBody>
      </p:sp>
      <p:sp>
        <p:nvSpPr>
          <p:cNvPr id="3" name="Google Shape;56;p64">
            <a:extLst>
              <a:ext uri="{FF2B5EF4-FFF2-40B4-BE49-F238E27FC236}">
                <a16:creationId xmlns:a16="http://schemas.microsoft.com/office/drawing/2014/main" id="{BAB594A3-7146-1EF2-C37A-939D8D5A7DC0}"/>
              </a:ext>
            </a:extLst>
          </p:cNvPr>
          <p:cNvSpPr txBox="1"/>
          <p:nvPr userDrawn="1"/>
        </p:nvSpPr>
        <p:spPr>
          <a:xfrm>
            <a:off x="10187776" y="344272"/>
            <a:ext cx="8799728" cy="9598457"/>
          </a:xfrm>
          <a:prstGeom prst="rect">
            <a:avLst/>
          </a:prstGeom>
          <a:noFill/>
          <a:ln>
            <a:noFill/>
          </a:ln>
        </p:spPr>
        <p:txBody>
          <a:bodyPr spcFirstLastPara="1" wrap="square" lIns="91425" tIns="91425" rIns="91425" bIns="91425" anchor="ctr" anchorCtr="0">
            <a:noAutofit/>
          </a:bodyPr>
          <a:lstStyle/>
          <a:p>
            <a:pPr marL="457200" marR="0" lvl="0" indent="-368300" algn="ctr" rtl="0">
              <a:lnSpc>
                <a:spcPct val="100000"/>
              </a:lnSpc>
              <a:spcBef>
                <a:spcPts val="0"/>
              </a:spcBef>
              <a:spcAft>
                <a:spcPts val="0"/>
              </a:spcAft>
              <a:buClr>
                <a:schemeClr val="accent1"/>
              </a:buClr>
              <a:buSzPts val="2200"/>
              <a:buFont typeface="Arial"/>
              <a:buNone/>
            </a:pPr>
            <a:r>
              <a:rPr lang="en-US" sz="2200" b="0" i="0" u="none" strike="noStrike" cap="none" dirty="0">
                <a:solidFill>
                  <a:schemeClr val="bg1"/>
                </a:solidFill>
                <a:latin typeface="Arial" panose="020B0604020202020204" pitchFamily="34" charset="0"/>
                <a:ea typeface="Arial"/>
                <a:cs typeface="Arial"/>
                <a:sym typeface="Arial"/>
              </a:rPr>
              <a:t>Click Icon to Insert Picture</a:t>
            </a:r>
            <a:endParaRPr sz="1400" b="0" i="0" u="none" strike="noStrike" cap="none" dirty="0">
              <a:solidFill>
                <a:schemeClr val="bg1"/>
              </a:solidFill>
              <a:latin typeface="Arial" panose="020B0604020202020204" pitchFamily="34" charset="0"/>
              <a:ea typeface="Arial"/>
              <a:cs typeface="Arial"/>
              <a:sym typeface="Arial"/>
            </a:endParaRPr>
          </a:p>
        </p:txBody>
      </p:sp>
      <p:sp>
        <p:nvSpPr>
          <p:cNvPr id="4" name="Google Shape;151;p72">
            <a:extLst>
              <a:ext uri="{FF2B5EF4-FFF2-40B4-BE49-F238E27FC236}">
                <a16:creationId xmlns:a16="http://schemas.microsoft.com/office/drawing/2014/main" id="{F5E00F25-5B82-D1D8-E572-F9F999DC77C2}"/>
              </a:ext>
            </a:extLst>
          </p:cNvPr>
          <p:cNvSpPr txBox="1"/>
          <p:nvPr userDrawn="1"/>
        </p:nvSpPr>
        <p:spPr>
          <a:xfrm>
            <a:off x="809625" y="9782175"/>
            <a:ext cx="4019066" cy="32583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100" b="0" i="0" u="none" strike="noStrike" cap="none" dirty="0" err="1">
                <a:solidFill>
                  <a:srgbClr val="757AAD"/>
                </a:solidFill>
                <a:latin typeface="Arial" panose="020B0604020202020204" pitchFamily="34" charset="0"/>
                <a:ea typeface="Arial"/>
                <a:cs typeface="Arial"/>
                <a:sym typeface="Arial"/>
              </a:rPr>
              <a:t>SentinelOne</a:t>
            </a:r>
            <a:r>
              <a:rPr lang="en-US" sz="1100" b="0" i="0" u="none" strike="noStrike" cap="none" dirty="0">
                <a:solidFill>
                  <a:srgbClr val="757AAD"/>
                </a:solidFill>
                <a:latin typeface="Arial" panose="020B0604020202020204" pitchFamily="34" charset="0"/>
                <a:ea typeface="Arial"/>
                <a:cs typeface="Arial"/>
                <a:sym typeface="Arial"/>
              </a:rPr>
              <a:t>, Inc. Confidential and Proprietary Information</a:t>
            </a:r>
            <a:endParaRPr sz="1100" b="0" i="0" u="none" strike="noStrike" cap="none" dirty="0">
              <a:solidFill>
                <a:srgbClr val="757AAD"/>
              </a:solidFill>
              <a:latin typeface="Arial" panose="020B0604020202020204" pitchFamily="34" charset="0"/>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ver 02" userDrawn="1">
  <p:cSld name="Cover 02">
    <p:bg>
      <p:bgPr>
        <a:blipFill dpi="0" rotWithShape="1">
          <a:blip r:embed="rId2">
            <a:lum/>
          </a:blip>
          <a:srcRect/>
          <a:stretch>
            <a:fillRect/>
          </a:stretch>
        </a:blipFill>
        <a:effectLst/>
      </p:bgPr>
    </p:bg>
    <p:spTree>
      <p:nvGrpSpPr>
        <p:cNvPr id="1" name="Shape 73"/>
        <p:cNvGrpSpPr/>
        <p:nvPr/>
      </p:nvGrpSpPr>
      <p:grpSpPr>
        <a:xfrm>
          <a:off x="0" y="0"/>
          <a:ext cx="0" cy="0"/>
          <a:chOff x="0" y="0"/>
          <a:chExt cx="0" cy="0"/>
        </a:xfrm>
      </p:grpSpPr>
      <p:sp>
        <p:nvSpPr>
          <p:cNvPr id="76" name="Google Shape;76;p67"/>
          <p:cNvSpPr txBox="1">
            <a:spLocks noGrp="1"/>
          </p:cNvSpPr>
          <p:nvPr>
            <p:ph type="title"/>
          </p:nvPr>
        </p:nvSpPr>
        <p:spPr>
          <a:xfrm>
            <a:off x="761935" y="6100828"/>
            <a:ext cx="6544267" cy="923330"/>
          </a:xfrm>
          <a:prstGeom prst="rect">
            <a:avLst/>
          </a:prstGeom>
          <a:noFill/>
          <a:ln>
            <a:noFill/>
          </a:ln>
        </p:spPr>
        <p:txBody>
          <a:bodyPr spcFirstLastPara="1" wrap="square" lIns="0" tIns="0" rIns="0" bIns="0" anchor="b" anchorCtr="0">
            <a:spAutoFit/>
          </a:bodyPr>
          <a:lstStyle>
            <a:lvl1pPr lvl="0" algn="l">
              <a:lnSpc>
                <a:spcPct val="75000"/>
              </a:lnSpc>
              <a:spcBef>
                <a:spcPts val="0"/>
              </a:spcBef>
              <a:spcAft>
                <a:spcPts val="0"/>
              </a:spcAft>
              <a:buClr>
                <a:schemeClr val="lt1"/>
              </a:buClr>
              <a:buSzPts val="8000"/>
              <a:buFont typeface="Arial"/>
              <a:buNone/>
              <a:defRPr sz="8000" b="0" i="0">
                <a:solidFill>
                  <a:srgbClr val="EBEFFF"/>
                </a:solidFill>
                <a:latin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18;p58">
            <a:extLst>
              <a:ext uri="{FF2B5EF4-FFF2-40B4-BE49-F238E27FC236}">
                <a16:creationId xmlns:a16="http://schemas.microsoft.com/office/drawing/2014/main" id="{8A200DA5-8660-CA7B-4D3B-D4595A78FF64}"/>
              </a:ext>
            </a:extLst>
          </p:cNvPr>
          <p:cNvSpPr txBox="1">
            <a:spLocks noGrp="1"/>
          </p:cNvSpPr>
          <p:nvPr>
            <p:ph type="body" idx="10"/>
          </p:nvPr>
        </p:nvSpPr>
        <p:spPr>
          <a:xfrm>
            <a:off x="761935" y="7335095"/>
            <a:ext cx="6544266" cy="476993"/>
          </a:xfrm>
          <a:prstGeom prst="rect">
            <a:avLst/>
          </a:prstGeom>
          <a:noFill/>
          <a:ln>
            <a:noFill/>
          </a:ln>
        </p:spPr>
        <p:txBody>
          <a:bodyPr spcFirstLastPara="1" wrap="square" lIns="0" tIns="68550" rIns="0" bIns="68550" anchor="t" anchorCtr="0">
            <a:spAutoFit/>
          </a:bodyPr>
          <a:lstStyle>
            <a:lvl1pPr marL="0" indent="0" algn="l">
              <a:buNone/>
              <a:defRPr dirty="0">
                <a:solidFill>
                  <a:srgbClr val="EBEFFF"/>
                </a:solidFill>
                <a:latin typeface="Arial" panose="020B0604020202020204" pitchFamily="34" charset="0"/>
              </a:defRPr>
            </a:lvl1pPr>
          </a:lstStyle>
          <a:p>
            <a:pPr marL="342900" lvl="0" indent="-342900">
              <a:buSzPts val="3300"/>
            </a:pPr>
            <a:endParaRPr dirty="0"/>
          </a:p>
        </p:txBody>
      </p:sp>
      <p:pic>
        <p:nvPicPr>
          <p:cNvPr id="4" name="Graphic 3">
            <a:extLst>
              <a:ext uri="{FF2B5EF4-FFF2-40B4-BE49-F238E27FC236}">
                <a16:creationId xmlns:a16="http://schemas.microsoft.com/office/drawing/2014/main" id="{4753F11F-99C1-53A6-ABA6-95FF55BF32FC}"/>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788061" y="588917"/>
            <a:ext cx="2895663" cy="1026311"/>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peaker Highlight">
  <p:cSld name="Speaker Highlight">
    <p:spTree>
      <p:nvGrpSpPr>
        <p:cNvPr id="1" name="Shape 79"/>
        <p:cNvGrpSpPr/>
        <p:nvPr/>
      </p:nvGrpSpPr>
      <p:grpSpPr>
        <a:xfrm>
          <a:off x="0" y="0"/>
          <a:ext cx="0" cy="0"/>
          <a:chOff x="0" y="0"/>
          <a:chExt cx="0" cy="0"/>
        </a:xfrm>
      </p:grpSpPr>
      <p:sp>
        <p:nvSpPr>
          <p:cNvPr id="80" name="Google Shape;80;p68"/>
          <p:cNvSpPr txBox="1">
            <a:spLocks noGrp="1"/>
          </p:cNvSpPr>
          <p:nvPr>
            <p:ph type="title"/>
          </p:nvPr>
        </p:nvSpPr>
        <p:spPr>
          <a:xfrm>
            <a:off x="820738" y="504825"/>
            <a:ext cx="16657637" cy="923925"/>
          </a:xfrm>
          <a:prstGeom prst="rect">
            <a:avLst/>
          </a:prstGeom>
          <a:noFill/>
          <a:ln>
            <a:noFill/>
          </a:ln>
        </p:spPr>
        <p:txBody>
          <a:bodyPr spcFirstLastPara="1" wrap="square" lIns="0" tIns="45700" rIns="0" bIns="45700" anchor="t" anchorCtr="0">
            <a:noAutofit/>
          </a:bodyPr>
          <a:lstStyle>
            <a:lvl1pPr lvl="0" algn="l">
              <a:lnSpc>
                <a:spcPct val="90000"/>
              </a:lnSpc>
              <a:spcBef>
                <a:spcPts val="0"/>
              </a:spcBef>
              <a:spcAft>
                <a:spcPts val="0"/>
              </a:spcAft>
              <a:buClr>
                <a:schemeClr val="dk1"/>
              </a:buClr>
              <a:buSzPts val="1800"/>
              <a:buNone/>
              <a:defRPr b="0" i="0">
                <a:latin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2" name="Google Shape;82;p68"/>
          <p:cNvSpPr>
            <a:spLocks noGrp="1"/>
          </p:cNvSpPr>
          <p:nvPr>
            <p:ph type="pic" idx="2"/>
          </p:nvPr>
        </p:nvSpPr>
        <p:spPr>
          <a:xfrm>
            <a:off x="3877703" y="3063819"/>
            <a:ext cx="4159369" cy="4159369"/>
          </a:xfrm>
          <a:prstGeom prst="ellipse">
            <a:avLst/>
          </a:prstGeom>
          <a:solidFill>
            <a:srgbClr val="B8BACC"/>
          </a:solidFill>
          <a:ln>
            <a:noFill/>
          </a:ln>
          <a:effectLst/>
        </p:spPr>
        <p:txBody>
          <a:bodyPr/>
          <a:lstStyle>
            <a:lvl1pPr marL="88900" indent="0" algn="ctr">
              <a:buNone/>
              <a:defRPr/>
            </a:lvl1pPr>
          </a:lstStyle>
          <a:p>
            <a:endParaRPr lang="en-US"/>
          </a:p>
        </p:txBody>
      </p:sp>
      <p:sp>
        <p:nvSpPr>
          <p:cNvPr id="83" name="Google Shape;83;p68"/>
          <p:cNvSpPr txBox="1">
            <a:spLocks noGrp="1"/>
          </p:cNvSpPr>
          <p:nvPr>
            <p:ph type="body" idx="1"/>
          </p:nvPr>
        </p:nvSpPr>
        <p:spPr>
          <a:xfrm>
            <a:off x="9486901" y="4033710"/>
            <a:ext cx="7831097" cy="891270"/>
          </a:xfrm>
          <a:prstGeom prst="rect">
            <a:avLst/>
          </a:prstGeom>
          <a:noFill/>
          <a:ln>
            <a:noFill/>
          </a:ln>
        </p:spPr>
        <p:txBody>
          <a:bodyPr spcFirstLastPara="1" wrap="square" lIns="0" tIns="45700" rIns="0" bIns="45700" anchor="t" anchorCtr="0">
            <a:noAutofit/>
          </a:bodyPr>
          <a:lstStyle>
            <a:lvl1pPr marL="457200" lvl="0" indent="-228600" algn="l">
              <a:lnSpc>
                <a:spcPct val="100000"/>
              </a:lnSpc>
              <a:spcBef>
                <a:spcPts val="0"/>
              </a:spcBef>
              <a:spcAft>
                <a:spcPts val="0"/>
              </a:spcAft>
              <a:buSzPts val="4800"/>
              <a:buNone/>
              <a:defRPr sz="4800" b="0" i="0">
                <a:solidFill>
                  <a:srgbClr val="010A27"/>
                </a:solidFill>
                <a:latin typeface="Arial" panose="020B0604020202020204" pitchFamily="34" charset="0"/>
                <a:ea typeface="Arial" panose="020B0604020202020204" pitchFamily="34" charset="0"/>
                <a:cs typeface="Arial"/>
                <a:sym typeface="Arial"/>
              </a:defRPr>
            </a:lvl1pPr>
            <a:lvl2pPr marL="914400" lvl="1" indent="-228600" algn="l">
              <a:lnSpc>
                <a:spcPct val="100000"/>
              </a:lnSpc>
              <a:spcBef>
                <a:spcPts val="600"/>
              </a:spcBef>
              <a:spcAft>
                <a:spcPts val="0"/>
              </a:spcAft>
              <a:buSzPts val="2000"/>
              <a:buNone/>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gt;"/>
              <a:defRPr/>
            </a:lvl4pPr>
            <a:lvl5pPr marL="2286000" lvl="4" indent="-342900" algn="l">
              <a:lnSpc>
                <a:spcPct val="100000"/>
              </a:lnSpc>
              <a:spcBef>
                <a:spcPts val="600"/>
              </a:spcBef>
              <a:spcAft>
                <a:spcPts val="0"/>
              </a:spcAft>
              <a:buSzPts val="1800"/>
              <a:buChar char="o"/>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
        <p:nvSpPr>
          <p:cNvPr id="84" name="Google Shape;84;p68"/>
          <p:cNvSpPr txBox="1">
            <a:spLocks noGrp="1"/>
          </p:cNvSpPr>
          <p:nvPr>
            <p:ph type="body" idx="3"/>
          </p:nvPr>
        </p:nvSpPr>
        <p:spPr>
          <a:xfrm>
            <a:off x="9486900" y="5338368"/>
            <a:ext cx="5154023" cy="447835"/>
          </a:xfrm>
          <a:prstGeom prst="rect">
            <a:avLst/>
          </a:prstGeom>
          <a:noFill/>
          <a:ln>
            <a:noFill/>
          </a:ln>
        </p:spPr>
        <p:txBody>
          <a:bodyPr spcFirstLastPara="1" wrap="square" lIns="0" tIns="45700" rIns="0" bIns="45700" anchor="t" anchorCtr="0">
            <a:noAutofit/>
          </a:bodyPr>
          <a:lstStyle>
            <a:lvl1pPr marL="457200" lvl="0" indent="-228600" algn="l">
              <a:lnSpc>
                <a:spcPct val="75000"/>
              </a:lnSpc>
              <a:spcBef>
                <a:spcPts val="150"/>
              </a:spcBef>
              <a:spcAft>
                <a:spcPts val="0"/>
              </a:spcAft>
              <a:buSzPts val="3000"/>
              <a:buNone/>
              <a:defRPr sz="3000" b="0" i="0">
                <a:solidFill>
                  <a:srgbClr val="010A27"/>
                </a:solidFill>
                <a:latin typeface="Arial" panose="020B0604020202020204" pitchFamily="34" charset="0"/>
                <a:ea typeface="Arial" panose="020B0604020202020204" pitchFamily="34" charset="0"/>
                <a:cs typeface="Arial"/>
                <a:sym typeface="Arial"/>
              </a:defRPr>
            </a:lvl1pPr>
            <a:lvl2pPr marL="914400" lvl="1" indent="-228600" algn="l">
              <a:lnSpc>
                <a:spcPct val="100000"/>
              </a:lnSpc>
              <a:spcBef>
                <a:spcPts val="900"/>
              </a:spcBef>
              <a:spcAft>
                <a:spcPts val="0"/>
              </a:spcAft>
              <a:buSzPts val="2000"/>
              <a:buNone/>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gt;"/>
              <a:defRPr/>
            </a:lvl4pPr>
            <a:lvl5pPr marL="2286000" lvl="4" indent="-342900" algn="l">
              <a:lnSpc>
                <a:spcPct val="100000"/>
              </a:lnSpc>
              <a:spcBef>
                <a:spcPts val="600"/>
              </a:spcBef>
              <a:spcAft>
                <a:spcPts val="0"/>
              </a:spcAft>
              <a:buSzPts val="1800"/>
              <a:buChar char="o"/>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
        <p:nvSpPr>
          <p:cNvPr id="85" name="Google Shape;85;p68"/>
          <p:cNvSpPr txBox="1">
            <a:spLocks noGrp="1"/>
          </p:cNvSpPr>
          <p:nvPr>
            <p:ph type="body" idx="4"/>
          </p:nvPr>
        </p:nvSpPr>
        <p:spPr>
          <a:xfrm>
            <a:off x="9486900" y="5871230"/>
            <a:ext cx="5154023" cy="447835"/>
          </a:xfrm>
          <a:prstGeom prst="rect">
            <a:avLst/>
          </a:prstGeom>
          <a:noFill/>
          <a:ln>
            <a:noFill/>
          </a:ln>
        </p:spPr>
        <p:txBody>
          <a:bodyPr spcFirstLastPara="1" wrap="square" lIns="0" tIns="45700" rIns="0" bIns="45700" anchor="t" anchorCtr="0">
            <a:noAutofit/>
          </a:bodyPr>
          <a:lstStyle>
            <a:lvl1pPr marL="457200" lvl="0" indent="-228600" algn="l">
              <a:lnSpc>
                <a:spcPct val="75000"/>
              </a:lnSpc>
              <a:spcBef>
                <a:spcPts val="150"/>
              </a:spcBef>
              <a:spcAft>
                <a:spcPts val="0"/>
              </a:spcAft>
              <a:buSzPts val="3000"/>
              <a:buNone/>
              <a:defRPr sz="3000" b="0" i="0">
                <a:solidFill>
                  <a:srgbClr val="010A27"/>
                </a:solidFill>
                <a:latin typeface="Arial" panose="020B0604020202020204" pitchFamily="34" charset="0"/>
                <a:ea typeface="Arial" panose="020B0604020202020204" pitchFamily="34" charset="0"/>
                <a:cs typeface="Arial"/>
                <a:sym typeface="Arial"/>
              </a:defRPr>
            </a:lvl1pPr>
            <a:lvl2pPr marL="914400" lvl="1" indent="-228600" algn="l">
              <a:lnSpc>
                <a:spcPct val="100000"/>
              </a:lnSpc>
              <a:spcBef>
                <a:spcPts val="900"/>
              </a:spcBef>
              <a:spcAft>
                <a:spcPts val="0"/>
              </a:spcAft>
              <a:buSzPts val="2000"/>
              <a:buNone/>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gt;"/>
              <a:defRPr/>
            </a:lvl4pPr>
            <a:lvl5pPr marL="2286000" lvl="4" indent="-342900" algn="l">
              <a:lnSpc>
                <a:spcPct val="100000"/>
              </a:lnSpc>
              <a:spcBef>
                <a:spcPts val="600"/>
              </a:spcBef>
              <a:spcAft>
                <a:spcPts val="0"/>
              </a:spcAft>
              <a:buSzPts val="1800"/>
              <a:buChar char="o"/>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
        <p:nvSpPr>
          <p:cNvPr id="6" name="Google Shape;151;p72">
            <a:extLst>
              <a:ext uri="{FF2B5EF4-FFF2-40B4-BE49-F238E27FC236}">
                <a16:creationId xmlns:a16="http://schemas.microsoft.com/office/drawing/2014/main" id="{77D41BB2-25E1-D67D-D73A-CD8135D5BF8A}"/>
              </a:ext>
            </a:extLst>
          </p:cNvPr>
          <p:cNvSpPr txBox="1"/>
          <p:nvPr userDrawn="1"/>
        </p:nvSpPr>
        <p:spPr>
          <a:xfrm>
            <a:off x="17013836" y="9807253"/>
            <a:ext cx="455011" cy="300755"/>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6418BF60-5985-CB4A-BD86-A174B281FFE8}" type="slidenum">
              <a:rPr lang="en-US" sz="1100" b="0" i="0" u="none" strike="noStrike" cap="none" smtClean="0">
                <a:solidFill>
                  <a:srgbClr val="757AAD"/>
                </a:solidFill>
                <a:latin typeface="Arial" panose="020B0604020202020204" pitchFamily="34" charset="0"/>
                <a:ea typeface="Arial"/>
                <a:cs typeface="Arial"/>
                <a:sym typeface="Arial"/>
              </a:rPr>
              <a:t>‹#›</a:t>
            </a:fld>
            <a:endParaRPr sz="1100" b="0" i="0" u="none" strike="noStrike" cap="none" dirty="0">
              <a:solidFill>
                <a:srgbClr val="757AAD"/>
              </a:solidFill>
              <a:latin typeface="Arial" panose="020B0604020202020204" pitchFamily="34" charset="0"/>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 Column Text" preserve="1">
  <p:cSld name="1_2 Column Text">
    <p:spTree>
      <p:nvGrpSpPr>
        <p:cNvPr id="1" name="Shape 109"/>
        <p:cNvGrpSpPr/>
        <p:nvPr/>
      </p:nvGrpSpPr>
      <p:grpSpPr>
        <a:xfrm>
          <a:off x="0" y="0"/>
          <a:ext cx="0" cy="0"/>
          <a:chOff x="0" y="0"/>
          <a:chExt cx="0" cy="0"/>
        </a:xfrm>
      </p:grpSpPr>
      <p:sp>
        <p:nvSpPr>
          <p:cNvPr id="110" name="Google Shape;110;p58"/>
          <p:cNvSpPr txBox="1">
            <a:spLocks noGrp="1"/>
          </p:cNvSpPr>
          <p:nvPr>
            <p:ph type="title"/>
          </p:nvPr>
        </p:nvSpPr>
        <p:spPr>
          <a:xfrm>
            <a:off x="820738" y="504825"/>
            <a:ext cx="16657637" cy="923925"/>
          </a:xfrm>
          <a:prstGeom prst="rect">
            <a:avLst/>
          </a:prstGeom>
          <a:noFill/>
          <a:ln>
            <a:noFill/>
          </a:ln>
        </p:spPr>
        <p:txBody>
          <a:bodyPr spcFirstLastPara="1" wrap="square" lIns="0" tIns="45700" rIns="0" bIns="45700" anchor="t" anchorCtr="0">
            <a:noAutofit/>
          </a:bodyPr>
          <a:lstStyle>
            <a:lvl1pPr lvl="0" algn="l">
              <a:lnSpc>
                <a:spcPct val="90000"/>
              </a:lnSpc>
              <a:spcBef>
                <a:spcPts val="0"/>
              </a:spcBef>
              <a:spcAft>
                <a:spcPts val="0"/>
              </a:spcAft>
              <a:buClr>
                <a:schemeClr val="dk1"/>
              </a:buClr>
              <a:buSzPts val="1800"/>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1" name="Google Shape;111;p58"/>
          <p:cNvPicPr preferRelativeResize="0"/>
          <p:nvPr/>
        </p:nvPicPr>
        <p:blipFill>
          <a:blip r:embed="rId2"/>
          <a:srcRect/>
          <a:stretch/>
        </p:blipFill>
        <p:spPr>
          <a:xfrm>
            <a:off x="845555" y="3672840"/>
            <a:ext cx="17430731" cy="1519018"/>
          </a:xfrm>
          <a:prstGeom prst="rect">
            <a:avLst/>
          </a:prstGeom>
          <a:noFill/>
          <a:ln>
            <a:noFill/>
          </a:ln>
        </p:spPr>
      </p:pic>
      <p:sp>
        <p:nvSpPr>
          <p:cNvPr id="112" name="Google Shape;112;p58"/>
          <p:cNvSpPr txBox="1">
            <a:spLocks noGrp="1"/>
          </p:cNvSpPr>
          <p:nvPr>
            <p:ph type="body" idx="1"/>
          </p:nvPr>
        </p:nvSpPr>
        <p:spPr>
          <a:xfrm>
            <a:off x="1128254" y="6771190"/>
            <a:ext cx="3468693" cy="400069"/>
          </a:xfrm>
          <a:prstGeom prst="rect">
            <a:avLst/>
          </a:prstGeom>
          <a:noFill/>
          <a:ln>
            <a:noFill/>
          </a:ln>
        </p:spPr>
        <p:txBody>
          <a:bodyPr spcFirstLastPara="1" wrap="square" lIns="0" tIns="45700" rIns="0" bIns="45700" anchor="t" anchorCtr="0">
            <a:spAutoFit/>
          </a:bodyPr>
          <a:lstStyle>
            <a:lvl1pPr marL="457200" lvl="0" indent="-228600" algn="l">
              <a:lnSpc>
                <a:spcPct val="100000"/>
              </a:lnSpc>
              <a:spcBef>
                <a:spcPts val="0"/>
              </a:spcBef>
              <a:spcAft>
                <a:spcPts val="0"/>
              </a:spcAft>
              <a:buSzPts val="2200"/>
              <a:buFont typeface="Arial"/>
              <a:buNone/>
              <a:defRPr sz="2000"/>
            </a:lvl1pPr>
            <a:lvl2pPr marL="914400" lvl="1" indent="-228600" algn="l">
              <a:lnSpc>
                <a:spcPct val="100000"/>
              </a:lnSpc>
              <a:spcBef>
                <a:spcPts val="600"/>
              </a:spcBef>
              <a:spcAft>
                <a:spcPts val="0"/>
              </a:spcAft>
              <a:buSzPts val="2000"/>
              <a:buFont typeface="Arial"/>
              <a:buNone/>
              <a:defRPr/>
            </a:lvl2pPr>
            <a:lvl3pPr marL="1371600" lvl="2" indent="-228600" algn="l">
              <a:lnSpc>
                <a:spcPct val="100000"/>
              </a:lnSpc>
              <a:spcBef>
                <a:spcPts val="600"/>
              </a:spcBef>
              <a:spcAft>
                <a:spcPts val="0"/>
              </a:spcAft>
              <a:buSzPts val="1800"/>
              <a:buFont typeface="Arial"/>
              <a:buNone/>
              <a:defRPr/>
            </a:lvl3pPr>
            <a:lvl4pPr marL="1828800" lvl="3" indent="-228600" algn="l">
              <a:lnSpc>
                <a:spcPct val="100000"/>
              </a:lnSpc>
              <a:spcBef>
                <a:spcPts val="600"/>
              </a:spcBef>
              <a:spcAft>
                <a:spcPts val="0"/>
              </a:spcAft>
              <a:buSzPts val="1600"/>
              <a:buFont typeface="Arial"/>
              <a:buNone/>
              <a:defRPr/>
            </a:lvl4pPr>
            <a:lvl5pPr marL="2286000" lvl="4" indent="-228600" algn="l">
              <a:lnSpc>
                <a:spcPct val="100000"/>
              </a:lnSpc>
              <a:spcBef>
                <a:spcPts val="600"/>
              </a:spcBef>
              <a:spcAft>
                <a:spcPts val="0"/>
              </a:spcAft>
              <a:buSzPts val="1400"/>
              <a:buFont typeface="Arial"/>
              <a:buNone/>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a:p>
        </p:txBody>
      </p:sp>
      <p:sp>
        <p:nvSpPr>
          <p:cNvPr id="113" name="Google Shape;113;p58"/>
          <p:cNvSpPr txBox="1">
            <a:spLocks noGrp="1"/>
          </p:cNvSpPr>
          <p:nvPr>
            <p:ph type="body" idx="2"/>
          </p:nvPr>
        </p:nvSpPr>
        <p:spPr>
          <a:xfrm>
            <a:off x="1128255" y="6013301"/>
            <a:ext cx="3468694" cy="523180"/>
          </a:xfrm>
          <a:prstGeom prst="rect">
            <a:avLst/>
          </a:prstGeom>
          <a:noFill/>
          <a:ln>
            <a:noFill/>
          </a:ln>
        </p:spPr>
        <p:txBody>
          <a:bodyPr spcFirstLastPara="1" wrap="square" lIns="0" tIns="45700" rIns="0" bIns="45700" anchor="t" anchorCtr="0">
            <a:spAutoFit/>
          </a:bodyPr>
          <a:lstStyle>
            <a:lvl1pPr marL="457200" lvl="0" indent="-228600" algn="l">
              <a:lnSpc>
                <a:spcPct val="100000"/>
              </a:lnSpc>
              <a:spcBef>
                <a:spcPts val="0"/>
              </a:spcBef>
              <a:spcAft>
                <a:spcPts val="0"/>
              </a:spcAft>
              <a:buSzPts val="2200"/>
              <a:buFont typeface="Arial"/>
              <a:buNone/>
              <a:defRPr sz="2800" b="0">
                <a:solidFill>
                  <a:schemeClr val="dk1"/>
                </a:solidFill>
              </a:defRPr>
            </a:lvl1pPr>
            <a:lvl2pPr marL="914400" lvl="1" indent="-228600" algn="l">
              <a:lnSpc>
                <a:spcPct val="100000"/>
              </a:lnSpc>
              <a:spcBef>
                <a:spcPts val="600"/>
              </a:spcBef>
              <a:spcAft>
                <a:spcPts val="0"/>
              </a:spcAft>
              <a:buSzPts val="2000"/>
              <a:buFont typeface="Arial"/>
              <a:buNone/>
              <a:defRPr/>
            </a:lvl2pPr>
            <a:lvl3pPr marL="1371600" lvl="2" indent="-228600" algn="l">
              <a:lnSpc>
                <a:spcPct val="100000"/>
              </a:lnSpc>
              <a:spcBef>
                <a:spcPts val="600"/>
              </a:spcBef>
              <a:spcAft>
                <a:spcPts val="0"/>
              </a:spcAft>
              <a:buSzPts val="1800"/>
              <a:buFont typeface="Arial"/>
              <a:buNone/>
              <a:defRPr/>
            </a:lvl3pPr>
            <a:lvl4pPr marL="1828800" lvl="3" indent="-228600" algn="l">
              <a:lnSpc>
                <a:spcPct val="100000"/>
              </a:lnSpc>
              <a:spcBef>
                <a:spcPts val="600"/>
              </a:spcBef>
              <a:spcAft>
                <a:spcPts val="0"/>
              </a:spcAft>
              <a:buSzPts val="1600"/>
              <a:buFont typeface="Arial"/>
              <a:buNone/>
              <a:defRPr/>
            </a:lvl4pPr>
            <a:lvl5pPr marL="2286000" lvl="4" indent="-228600" algn="l">
              <a:lnSpc>
                <a:spcPct val="100000"/>
              </a:lnSpc>
              <a:spcBef>
                <a:spcPts val="600"/>
              </a:spcBef>
              <a:spcAft>
                <a:spcPts val="0"/>
              </a:spcAft>
              <a:buSzPts val="1400"/>
              <a:buFont typeface="Arial"/>
              <a:buNone/>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a:p>
        </p:txBody>
      </p:sp>
      <p:sp>
        <p:nvSpPr>
          <p:cNvPr id="114" name="Google Shape;114;p58"/>
          <p:cNvSpPr txBox="1">
            <a:spLocks noGrp="1"/>
          </p:cNvSpPr>
          <p:nvPr>
            <p:ph type="body" idx="3"/>
          </p:nvPr>
        </p:nvSpPr>
        <p:spPr>
          <a:xfrm>
            <a:off x="7347890" y="6771190"/>
            <a:ext cx="3468693" cy="400069"/>
          </a:xfrm>
          <a:prstGeom prst="rect">
            <a:avLst/>
          </a:prstGeom>
          <a:noFill/>
          <a:ln>
            <a:noFill/>
          </a:ln>
        </p:spPr>
        <p:txBody>
          <a:bodyPr spcFirstLastPara="1" wrap="square" lIns="0" tIns="45700" rIns="0" bIns="45700" anchor="t" anchorCtr="0">
            <a:spAutoFit/>
          </a:bodyPr>
          <a:lstStyle>
            <a:lvl1pPr marL="457200" lvl="0" indent="-228600" algn="l">
              <a:lnSpc>
                <a:spcPct val="100000"/>
              </a:lnSpc>
              <a:spcBef>
                <a:spcPts val="0"/>
              </a:spcBef>
              <a:spcAft>
                <a:spcPts val="0"/>
              </a:spcAft>
              <a:buSzPts val="2200"/>
              <a:buFont typeface="Arial"/>
              <a:buNone/>
              <a:defRPr sz="2000"/>
            </a:lvl1pPr>
            <a:lvl2pPr marL="914400" lvl="1" indent="-228600" algn="l">
              <a:lnSpc>
                <a:spcPct val="100000"/>
              </a:lnSpc>
              <a:spcBef>
                <a:spcPts val="600"/>
              </a:spcBef>
              <a:spcAft>
                <a:spcPts val="0"/>
              </a:spcAft>
              <a:buSzPts val="2000"/>
              <a:buFont typeface="Arial"/>
              <a:buNone/>
              <a:defRPr/>
            </a:lvl2pPr>
            <a:lvl3pPr marL="1371600" lvl="2" indent="-228600" algn="l">
              <a:lnSpc>
                <a:spcPct val="100000"/>
              </a:lnSpc>
              <a:spcBef>
                <a:spcPts val="600"/>
              </a:spcBef>
              <a:spcAft>
                <a:spcPts val="0"/>
              </a:spcAft>
              <a:buSzPts val="1800"/>
              <a:buFont typeface="Arial"/>
              <a:buNone/>
              <a:defRPr/>
            </a:lvl3pPr>
            <a:lvl4pPr marL="1828800" lvl="3" indent="-228600" algn="l">
              <a:lnSpc>
                <a:spcPct val="100000"/>
              </a:lnSpc>
              <a:spcBef>
                <a:spcPts val="600"/>
              </a:spcBef>
              <a:spcAft>
                <a:spcPts val="0"/>
              </a:spcAft>
              <a:buSzPts val="1600"/>
              <a:buFont typeface="Arial"/>
              <a:buNone/>
              <a:defRPr/>
            </a:lvl4pPr>
            <a:lvl5pPr marL="2286000" lvl="4" indent="-228600" algn="l">
              <a:lnSpc>
                <a:spcPct val="100000"/>
              </a:lnSpc>
              <a:spcBef>
                <a:spcPts val="600"/>
              </a:spcBef>
              <a:spcAft>
                <a:spcPts val="0"/>
              </a:spcAft>
              <a:buSzPts val="1400"/>
              <a:buFont typeface="Arial"/>
              <a:buNone/>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a:p>
        </p:txBody>
      </p:sp>
      <p:sp>
        <p:nvSpPr>
          <p:cNvPr id="115" name="Google Shape;115;p58"/>
          <p:cNvSpPr txBox="1">
            <a:spLocks noGrp="1"/>
          </p:cNvSpPr>
          <p:nvPr>
            <p:ph type="body" idx="4"/>
          </p:nvPr>
        </p:nvSpPr>
        <p:spPr>
          <a:xfrm>
            <a:off x="7347891" y="6013301"/>
            <a:ext cx="3468694" cy="523180"/>
          </a:xfrm>
          <a:prstGeom prst="rect">
            <a:avLst/>
          </a:prstGeom>
          <a:noFill/>
          <a:ln>
            <a:noFill/>
          </a:ln>
        </p:spPr>
        <p:txBody>
          <a:bodyPr spcFirstLastPara="1" wrap="square" lIns="0" tIns="45700" rIns="0" bIns="45700" anchor="t" anchorCtr="0">
            <a:spAutoFit/>
          </a:bodyPr>
          <a:lstStyle>
            <a:lvl1pPr marL="457200" lvl="0" indent="-228600" algn="l">
              <a:lnSpc>
                <a:spcPct val="100000"/>
              </a:lnSpc>
              <a:spcBef>
                <a:spcPts val="0"/>
              </a:spcBef>
              <a:spcAft>
                <a:spcPts val="0"/>
              </a:spcAft>
              <a:buSzPts val="2200"/>
              <a:buFont typeface="Arial"/>
              <a:buNone/>
              <a:defRPr sz="2800" b="0">
                <a:solidFill>
                  <a:schemeClr val="dk1"/>
                </a:solidFill>
              </a:defRPr>
            </a:lvl1pPr>
            <a:lvl2pPr marL="914400" lvl="1" indent="-228600" algn="l">
              <a:lnSpc>
                <a:spcPct val="100000"/>
              </a:lnSpc>
              <a:spcBef>
                <a:spcPts val="600"/>
              </a:spcBef>
              <a:spcAft>
                <a:spcPts val="0"/>
              </a:spcAft>
              <a:buSzPts val="2000"/>
              <a:buFont typeface="Arial"/>
              <a:buNone/>
              <a:defRPr/>
            </a:lvl2pPr>
            <a:lvl3pPr marL="1371600" lvl="2" indent="-228600" algn="l">
              <a:lnSpc>
                <a:spcPct val="100000"/>
              </a:lnSpc>
              <a:spcBef>
                <a:spcPts val="600"/>
              </a:spcBef>
              <a:spcAft>
                <a:spcPts val="0"/>
              </a:spcAft>
              <a:buSzPts val="1800"/>
              <a:buFont typeface="Arial"/>
              <a:buNone/>
              <a:defRPr/>
            </a:lvl3pPr>
            <a:lvl4pPr marL="1828800" lvl="3" indent="-228600" algn="l">
              <a:lnSpc>
                <a:spcPct val="100000"/>
              </a:lnSpc>
              <a:spcBef>
                <a:spcPts val="600"/>
              </a:spcBef>
              <a:spcAft>
                <a:spcPts val="0"/>
              </a:spcAft>
              <a:buSzPts val="1600"/>
              <a:buFont typeface="Arial"/>
              <a:buNone/>
              <a:defRPr/>
            </a:lvl4pPr>
            <a:lvl5pPr marL="2286000" lvl="4" indent="-228600" algn="l">
              <a:lnSpc>
                <a:spcPct val="100000"/>
              </a:lnSpc>
              <a:spcBef>
                <a:spcPts val="600"/>
              </a:spcBef>
              <a:spcAft>
                <a:spcPts val="0"/>
              </a:spcAft>
              <a:buSzPts val="1400"/>
              <a:buFont typeface="Arial"/>
              <a:buNone/>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a:p>
        </p:txBody>
      </p:sp>
      <p:sp>
        <p:nvSpPr>
          <p:cNvPr id="116" name="Google Shape;116;p58"/>
          <p:cNvSpPr txBox="1">
            <a:spLocks noGrp="1"/>
          </p:cNvSpPr>
          <p:nvPr>
            <p:ph type="body" idx="5"/>
          </p:nvPr>
        </p:nvSpPr>
        <p:spPr>
          <a:xfrm>
            <a:off x="12569732" y="6771190"/>
            <a:ext cx="3468693" cy="400069"/>
          </a:xfrm>
          <a:prstGeom prst="rect">
            <a:avLst/>
          </a:prstGeom>
          <a:noFill/>
          <a:ln>
            <a:noFill/>
          </a:ln>
        </p:spPr>
        <p:txBody>
          <a:bodyPr spcFirstLastPara="1" wrap="square" lIns="0" tIns="45700" rIns="0" bIns="45700" anchor="t" anchorCtr="0">
            <a:spAutoFit/>
          </a:bodyPr>
          <a:lstStyle>
            <a:lvl1pPr marL="457200" lvl="0" indent="-228600" algn="l">
              <a:lnSpc>
                <a:spcPct val="100000"/>
              </a:lnSpc>
              <a:spcBef>
                <a:spcPts val="0"/>
              </a:spcBef>
              <a:spcAft>
                <a:spcPts val="0"/>
              </a:spcAft>
              <a:buSzPts val="2200"/>
              <a:buFont typeface="Arial"/>
              <a:buNone/>
              <a:defRPr sz="2000"/>
            </a:lvl1pPr>
            <a:lvl2pPr marL="914400" lvl="1" indent="-228600" algn="l">
              <a:lnSpc>
                <a:spcPct val="100000"/>
              </a:lnSpc>
              <a:spcBef>
                <a:spcPts val="600"/>
              </a:spcBef>
              <a:spcAft>
                <a:spcPts val="0"/>
              </a:spcAft>
              <a:buSzPts val="2000"/>
              <a:buFont typeface="Arial"/>
              <a:buNone/>
              <a:defRPr/>
            </a:lvl2pPr>
            <a:lvl3pPr marL="1371600" lvl="2" indent="-228600" algn="l">
              <a:lnSpc>
                <a:spcPct val="100000"/>
              </a:lnSpc>
              <a:spcBef>
                <a:spcPts val="600"/>
              </a:spcBef>
              <a:spcAft>
                <a:spcPts val="0"/>
              </a:spcAft>
              <a:buSzPts val="1800"/>
              <a:buFont typeface="Arial"/>
              <a:buNone/>
              <a:defRPr/>
            </a:lvl3pPr>
            <a:lvl4pPr marL="1828800" lvl="3" indent="-228600" algn="l">
              <a:lnSpc>
                <a:spcPct val="100000"/>
              </a:lnSpc>
              <a:spcBef>
                <a:spcPts val="600"/>
              </a:spcBef>
              <a:spcAft>
                <a:spcPts val="0"/>
              </a:spcAft>
              <a:buSzPts val="1600"/>
              <a:buFont typeface="Arial"/>
              <a:buNone/>
              <a:defRPr/>
            </a:lvl4pPr>
            <a:lvl5pPr marL="2286000" lvl="4" indent="-228600" algn="l">
              <a:lnSpc>
                <a:spcPct val="100000"/>
              </a:lnSpc>
              <a:spcBef>
                <a:spcPts val="600"/>
              </a:spcBef>
              <a:spcAft>
                <a:spcPts val="0"/>
              </a:spcAft>
              <a:buSzPts val="1400"/>
              <a:buFont typeface="Arial"/>
              <a:buNone/>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a:p>
        </p:txBody>
      </p:sp>
      <p:sp>
        <p:nvSpPr>
          <p:cNvPr id="117" name="Google Shape;117;p58"/>
          <p:cNvSpPr txBox="1">
            <a:spLocks noGrp="1"/>
          </p:cNvSpPr>
          <p:nvPr>
            <p:ph type="body" idx="6"/>
          </p:nvPr>
        </p:nvSpPr>
        <p:spPr>
          <a:xfrm>
            <a:off x="12569733" y="6013301"/>
            <a:ext cx="3468694" cy="523180"/>
          </a:xfrm>
          <a:prstGeom prst="rect">
            <a:avLst/>
          </a:prstGeom>
          <a:noFill/>
          <a:ln>
            <a:noFill/>
          </a:ln>
        </p:spPr>
        <p:txBody>
          <a:bodyPr spcFirstLastPara="1" wrap="square" lIns="0" tIns="45700" rIns="0" bIns="45700" anchor="t" anchorCtr="0">
            <a:spAutoFit/>
          </a:bodyPr>
          <a:lstStyle>
            <a:lvl1pPr marL="457200" lvl="0" indent="-228600" algn="l">
              <a:lnSpc>
                <a:spcPct val="100000"/>
              </a:lnSpc>
              <a:spcBef>
                <a:spcPts val="0"/>
              </a:spcBef>
              <a:spcAft>
                <a:spcPts val="0"/>
              </a:spcAft>
              <a:buSzPts val="2200"/>
              <a:buFont typeface="Arial"/>
              <a:buNone/>
              <a:defRPr sz="2800" b="0">
                <a:solidFill>
                  <a:schemeClr val="dk1"/>
                </a:solidFill>
              </a:defRPr>
            </a:lvl1pPr>
            <a:lvl2pPr marL="914400" lvl="1" indent="-228600" algn="l">
              <a:lnSpc>
                <a:spcPct val="100000"/>
              </a:lnSpc>
              <a:spcBef>
                <a:spcPts val="600"/>
              </a:spcBef>
              <a:spcAft>
                <a:spcPts val="0"/>
              </a:spcAft>
              <a:buSzPts val="2000"/>
              <a:buFont typeface="Arial"/>
              <a:buNone/>
              <a:defRPr/>
            </a:lvl2pPr>
            <a:lvl3pPr marL="1371600" lvl="2" indent="-228600" algn="l">
              <a:lnSpc>
                <a:spcPct val="100000"/>
              </a:lnSpc>
              <a:spcBef>
                <a:spcPts val="600"/>
              </a:spcBef>
              <a:spcAft>
                <a:spcPts val="0"/>
              </a:spcAft>
              <a:buSzPts val="1800"/>
              <a:buFont typeface="Arial"/>
              <a:buNone/>
              <a:defRPr/>
            </a:lvl3pPr>
            <a:lvl4pPr marL="1828800" lvl="3" indent="-228600" algn="l">
              <a:lnSpc>
                <a:spcPct val="100000"/>
              </a:lnSpc>
              <a:spcBef>
                <a:spcPts val="600"/>
              </a:spcBef>
              <a:spcAft>
                <a:spcPts val="0"/>
              </a:spcAft>
              <a:buSzPts val="1600"/>
              <a:buFont typeface="Arial"/>
              <a:buNone/>
              <a:defRPr/>
            </a:lvl4pPr>
            <a:lvl5pPr marL="2286000" lvl="4" indent="-228600" algn="l">
              <a:lnSpc>
                <a:spcPct val="100000"/>
              </a:lnSpc>
              <a:spcBef>
                <a:spcPts val="600"/>
              </a:spcBef>
              <a:spcAft>
                <a:spcPts val="0"/>
              </a:spcAft>
              <a:buSzPts val="1400"/>
              <a:buFont typeface="Arial"/>
              <a:buNone/>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a:p>
        </p:txBody>
      </p:sp>
      <p:sp>
        <p:nvSpPr>
          <p:cNvPr id="2" name="Google Shape;151;p72">
            <a:extLst>
              <a:ext uri="{FF2B5EF4-FFF2-40B4-BE49-F238E27FC236}">
                <a16:creationId xmlns:a16="http://schemas.microsoft.com/office/drawing/2014/main" id="{2401094D-F4C9-B7CA-64B3-403CC67626E7}"/>
              </a:ext>
            </a:extLst>
          </p:cNvPr>
          <p:cNvSpPr txBox="1"/>
          <p:nvPr userDrawn="1"/>
        </p:nvSpPr>
        <p:spPr>
          <a:xfrm>
            <a:off x="17013836" y="9807253"/>
            <a:ext cx="455011" cy="300755"/>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6418BF60-5985-CB4A-BD86-A174B281FFE8}" type="slidenum">
              <a:rPr lang="en-US" sz="1100" b="0" i="0" u="none" strike="noStrike" cap="none" smtClean="0">
                <a:solidFill>
                  <a:srgbClr val="757AAD"/>
                </a:solidFill>
                <a:latin typeface="Arial" panose="020B0604020202020204" pitchFamily="34" charset="0"/>
                <a:ea typeface="Arial"/>
                <a:cs typeface="Arial"/>
                <a:sym typeface="Arial"/>
              </a:rPr>
              <a:t>‹#›</a:t>
            </a:fld>
            <a:endParaRPr sz="1100" b="0" i="0" u="none" strike="noStrike" cap="none" dirty="0">
              <a:solidFill>
                <a:srgbClr val="757AAD"/>
              </a:solidFill>
              <a:latin typeface="Arial" panose="020B0604020202020204" pitchFamily="34" charset="0"/>
              <a:ea typeface="Arial"/>
              <a:cs typeface="Arial"/>
              <a:sym typeface="Arial"/>
            </a:endParaRPr>
          </a:p>
        </p:txBody>
      </p:sp>
    </p:spTree>
    <p:extLst>
      <p:ext uri="{BB962C8B-B14F-4D97-AF65-F5344CB8AC3E}">
        <p14:creationId xmlns:p14="http://schemas.microsoft.com/office/powerpoint/2010/main" val="879561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 Column Text" preserve="1">
  <p:cSld name="1_2 Column Text">
    <p:spTree>
      <p:nvGrpSpPr>
        <p:cNvPr id="1" name="Shape 119"/>
        <p:cNvGrpSpPr/>
        <p:nvPr/>
      </p:nvGrpSpPr>
      <p:grpSpPr>
        <a:xfrm>
          <a:off x="0" y="0"/>
          <a:ext cx="0" cy="0"/>
          <a:chOff x="0" y="0"/>
          <a:chExt cx="0" cy="0"/>
        </a:xfrm>
      </p:grpSpPr>
      <p:sp>
        <p:nvSpPr>
          <p:cNvPr id="120" name="Google Shape;120;p96"/>
          <p:cNvSpPr txBox="1">
            <a:spLocks noGrp="1"/>
          </p:cNvSpPr>
          <p:nvPr>
            <p:ph type="title" hasCustomPrompt="1"/>
          </p:nvPr>
        </p:nvSpPr>
        <p:spPr>
          <a:xfrm>
            <a:off x="820738" y="504825"/>
            <a:ext cx="16657637" cy="923925"/>
          </a:xfrm>
          <a:prstGeom prst="rect">
            <a:avLst/>
          </a:prstGeom>
          <a:noFill/>
          <a:ln>
            <a:noFill/>
          </a:ln>
        </p:spPr>
        <p:txBody>
          <a:bodyPr spcFirstLastPara="1" wrap="square" lIns="0" tIns="45700" rIns="0" bIns="45700" anchor="t" anchorCtr="0">
            <a:noAutofit/>
          </a:bodyPr>
          <a:lstStyle>
            <a:lvl1pPr lvl="0" algn="l">
              <a:lnSpc>
                <a:spcPct val="90000"/>
              </a:lnSpc>
              <a:spcBef>
                <a:spcPts val="0"/>
              </a:spcBef>
              <a:spcAft>
                <a:spcPts val="0"/>
              </a:spcAft>
              <a:buClr>
                <a:schemeClr val="dk1"/>
              </a:buClr>
              <a:buSzPts val="1800"/>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dirty="0"/>
              <a:t> </a:t>
            </a:r>
            <a:endParaRPr dirty="0"/>
          </a:p>
        </p:txBody>
      </p:sp>
      <p:sp>
        <p:nvSpPr>
          <p:cNvPr id="121" name="Google Shape;121;p96"/>
          <p:cNvSpPr txBox="1">
            <a:spLocks noGrp="1"/>
          </p:cNvSpPr>
          <p:nvPr>
            <p:ph type="body" idx="1"/>
          </p:nvPr>
        </p:nvSpPr>
        <p:spPr>
          <a:xfrm>
            <a:off x="1128254" y="7368888"/>
            <a:ext cx="3468693" cy="400069"/>
          </a:xfrm>
          <a:prstGeom prst="rect">
            <a:avLst/>
          </a:prstGeom>
          <a:noFill/>
          <a:ln>
            <a:noFill/>
          </a:ln>
        </p:spPr>
        <p:txBody>
          <a:bodyPr spcFirstLastPara="1" wrap="square" lIns="0" tIns="45700" rIns="0" bIns="45700" anchor="t" anchorCtr="0">
            <a:spAutoFit/>
          </a:bodyPr>
          <a:lstStyle>
            <a:lvl1pPr marL="457200" lvl="0" indent="-228600" algn="l">
              <a:lnSpc>
                <a:spcPct val="100000"/>
              </a:lnSpc>
              <a:spcBef>
                <a:spcPts val="0"/>
              </a:spcBef>
              <a:spcAft>
                <a:spcPts val="0"/>
              </a:spcAft>
              <a:buSzPts val="2200"/>
              <a:buFont typeface="Arial"/>
              <a:buNone/>
              <a:defRPr sz="2000"/>
            </a:lvl1pPr>
            <a:lvl2pPr marL="914400" lvl="1" indent="-228600" algn="l">
              <a:lnSpc>
                <a:spcPct val="100000"/>
              </a:lnSpc>
              <a:spcBef>
                <a:spcPts val="600"/>
              </a:spcBef>
              <a:spcAft>
                <a:spcPts val="0"/>
              </a:spcAft>
              <a:buSzPts val="2000"/>
              <a:buFont typeface="Arial"/>
              <a:buNone/>
              <a:defRPr/>
            </a:lvl2pPr>
            <a:lvl3pPr marL="1371600" lvl="2" indent="-228600" algn="l">
              <a:lnSpc>
                <a:spcPct val="100000"/>
              </a:lnSpc>
              <a:spcBef>
                <a:spcPts val="600"/>
              </a:spcBef>
              <a:spcAft>
                <a:spcPts val="0"/>
              </a:spcAft>
              <a:buSzPts val="1800"/>
              <a:buFont typeface="Arial"/>
              <a:buNone/>
              <a:defRPr/>
            </a:lvl3pPr>
            <a:lvl4pPr marL="1828800" lvl="3" indent="-228600" algn="l">
              <a:lnSpc>
                <a:spcPct val="100000"/>
              </a:lnSpc>
              <a:spcBef>
                <a:spcPts val="600"/>
              </a:spcBef>
              <a:spcAft>
                <a:spcPts val="0"/>
              </a:spcAft>
              <a:buSzPts val="1600"/>
              <a:buFont typeface="Arial"/>
              <a:buNone/>
              <a:defRPr/>
            </a:lvl4pPr>
            <a:lvl5pPr marL="2286000" lvl="4" indent="-228600" algn="l">
              <a:lnSpc>
                <a:spcPct val="100000"/>
              </a:lnSpc>
              <a:spcBef>
                <a:spcPts val="600"/>
              </a:spcBef>
              <a:spcAft>
                <a:spcPts val="0"/>
              </a:spcAft>
              <a:buSzPts val="1400"/>
              <a:buFont typeface="Arial"/>
              <a:buNone/>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a:p>
        </p:txBody>
      </p:sp>
      <p:sp>
        <p:nvSpPr>
          <p:cNvPr id="122" name="Google Shape;122;p96"/>
          <p:cNvSpPr txBox="1">
            <a:spLocks noGrp="1"/>
          </p:cNvSpPr>
          <p:nvPr>
            <p:ph type="body" idx="2"/>
          </p:nvPr>
        </p:nvSpPr>
        <p:spPr>
          <a:xfrm>
            <a:off x="1128255" y="6610999"/>
            <a:ext cx="3468694" cy="523180"/>
          </a:xfrm>
          <a:prstGeom prst="rect">
            <a:avLst/>
          </a:prstGeom>
          <a:noFill/>
          <a:ln>
            <a:noFill/>
          </a:ln>
        </p:spPr>
        <p:txBody>
          <a:bodyPr spcFirstLastPara="1" wrap="square" lIns="0" tIns="45700" rIns="0" bIns="45700" anchor="t" anchorCtr="0">
            <a:spAutoFit/>
          </a:bodyPr>
          <a:lstStyle>
            <a:lvl1pPr marL="457200" lvl="0" indent="-228600" algn="l">
              <a:lnSpc>
                <a:spcPct val="100000"/>
              </a:lnSpc>
              <a:spcBef>
                <a:spcPts val="0"/>
              </a:spcBef>
              <a:spcAft>
                <a:spcPts val="0"/>
              </a:spcAft>
              <a:buSzPts val="2200"/>
              <a:buFont typeface="Arial"/>
              <a:buNone/>
              <a:defRPr sz="2800" b="0">
                <a:solidFill>
                  <a:schemeClr val="dk1"/>
                </a:solidFill>
              </a:defRPr>
            </a:lvl1pPr>
            <a:lvl2pPr marL="914400" lvl="1" indent="-228600" algn="l">
              <a:lnSpc>
                <a:spcPct val="100000"/>
              </a:lnSpc>
              <a:spcBef>
                <a:spcPts val="600"/>
              </a:spcBef>
              <a:spcAft>
                <a:spcPts val="0"/>
              </a:spcAft>
              <a:buSzPts val="2000"/>
              <a:buFont typeface="Arial"/>
              <a:buNone/>
              <a:defRPr/>
            </a:lvl2pPr>
            <a:lvl3pPr marL="1371600" lvl="2" indent="-228600" algn="l">
              <a:lnSpc>
                <a:spcPct val="100000"/>
              </a:lnSpc>
              <a:spcBef>
                <a:spcPts val="600"/>
              </a:spcBef>
              <a:spcAft>
                <a:spcPts val="0"/>
              </a:spcAft>
              <a:buSzPts val="1800"/>
              <a:buFont typeface="Arial"/>
              <a:buNone/>
              <a:defRPr/>
            </a:lvl3pPr>
            <a:lvl4pPr marL="1828800" lvl="3" indent="-228600" algn="l">
              <a:lnSpc>
                <a:spcPct val="100000"/>
              </a:lnSpc>
              <a:spcBef>
                <a:spcPts val="600"/>
              </a:spcBef>
              <a:spcAft>
                <a:spcPts val="0"/>
              </a:spcAft>
              <a:buSzPts val="1600"/>
              <a:buFont typeface="Arial"/>
              <a:buNone/>
              <a:defRPr/>
            </a:lvl4pPr>
            <a:lvl5pPr marL="2286000" lvl="4" indent="-228600" algn="l">
              <a:lnSpc>
                <a:spcPct val="100000"/>
              </a:lnSpc>
              <a:spcBef>
                <a:spcPts val="600"/>
              </a:spcBef>
              <a:spcAft>
                <a:spcPts val="0"/>
              </a:spcAft>
              <a:buSzPts val="1400"/>
              <a:buFont typeface="Arial"/>
              <a:buNone/>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a:p>
        </p:txBody>
      </p:sp>
      <p:sp>
        <p:nvSpPr>
          <p:cNvPr id="123" name="Google Shape;123;p96"/>
          <p:cNvSpPr txBox="1">
            <a:spLocks noGrp="1"/>
          </p:cNvSpPr>
          <p:nvPr>
            <p:ph type="body" idx="3"/>
          </p:nvPr>
        </p:nvSpPr>
        <p:spPr>
          <a:xfrm>
            <a:off x="7846466" y="7368888"/>
            <a:ext cx="3468693" cy="400069"/>
          </a:xfrm>
          <a:prstGeom prst="rect">
            <a:avLst/>
          </a:prstGeom>
          <a:noFill/>
          <a:ln>
            <a:noFill/>
          </a:ln>
        </p:spPr>
        <p:txBody>
          <a:bodyPr spcFirstLastPara="1" wrap="square" lIns="0" tIns="45700" rIns="0" bIns="45700" anchor="t" anchorCtr="0">
            <a:spAutoFit/>
          </a:bodyPr>
          <a:lstStyle>
            <a:lvl1pPr marL="457200" lvl="0" indent="-228600" algn="l">
              <a:lnSpc>
                <a:spcPct val="100000"/>
              </a:lnSpc>
              <a:spcBef>
                <a:spcPts val="0"/>
              </a:spcBef>
              <a:spcAft>
                <a:spcPts val="0"/>
              </a:spcAft>
              <a:buSzPts val="2200"/>
              <a:buFont typeface="Arial"/>
              <a:buNone/>
              <a:defRPr sz="2000"/>
            </a:lvl1pPr>
            <a:lvl2pPr marL="914400" lvl="1" indent="-228600" algn="l">
              <a:lnSpc>
                <a:spcPct val="100000"/>
              </a:lnSpc>
              <a:spcBef>
                <a:spcPts val="600"/>
              </a:spcBef>
              <a:spcAft>
                <a:spcPts val="0"/>
              </a:spcAft>
              <a:buSzPts val="2000"/>
              <a:buFont typeface="Arial"/>
              <a:buNone/>
              <a:defRPr/>
            </a:lvl2pPr>
            <a:lvl3pPr marL="1371600" lvl="2" indent="-228600" algn="l">
              <a:lnSpc>
                <a:spcPct val="100000"/>
              </a:lnSpc>
              <a:spcBef>
                <a:spcPts val="600"/>
              </a:spcBef>
              <a:spcAft>
                <a:spcPts val="0"/>
              </a:spcAft>
              <a:buSzPts val="1800"/>
              <a:buFont typeface="Arial"/>
              <a:buNone/>
              <a:defRPr/>
            </a:lvl3pPr>
            <a:lvl4pPr marL="1828800" lvl="3" indent="-228600" algn="l">
              <a:lnSpc>
                <a:spcPct val="100000"/>
              </a:lnSpc>
              <a:spcBef>
                <a:spcPts val="600"/>
              </a:spcBef>
              <a:spcAft>
                <a:spcPts val="0"/>
              </a:spcAft>
              <a:buSzPts val="1600"/>
              <a:buFont typeface="Arial"/>
              <a:buNone/>
              <a:defRPr/>
            </a:lvl4pPr>
            <a:lvl5pPr marL="2286000" lvl="4" indent="-228600" algn="l">
              <a:lnSpc>
                <a:spcPct val="100000"/>
              </a:lnSpc>
              <a:spcBef>
                <a:spcPts val="600"/>
              </a:spcBef>
              <a:spcAft>
                <a:spcPts val="0"/>
              </a:spcAft>
              <a:buSzPts val="1400"/>
              <a:buFont typeface="Arial"/>
              <a:buNone/>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a:p>
        </p:txBody>
      </p:sp>
      <p:sp>
        <p:nvSpPr>
          <p:cNvPr id="124" name="Google Shape;124;p96"/>
          <p:cNvSpPr txBox="1">
            <a:spLocks noGrp="1"/>
          </p:cNvSpPr>
          <p:nvPr>
            <p:ph type="body" idx="4"/>
          </p:nvPr>
        </p:nvSpPr>
        <p:spPr>
          <a:xfrm>
            <a:off x="7846465" y="6610999"/>
            <a:ext cx="3468694" cy="523180"/>
          </a:xfrm>
          <a:prstGeom prst="rect">
            <a:avLst/>
          </a:prstGeom>
          <a:noFill/>
          <a:ln>
            <a:noFill/>
          </a:ln>
        </p:spPr>
        <p:txBody>
          <a:bodyPr spcFirstLastPara="1" wrap="square" lIns="0" tIns="45700" rIns="0" bIns="45700" anchor="t" anchorCtr="0">
            <a:spAutoFit/>
          </a:bodyPr>
          <a:lstStyle>
            <a:lvl1pPr marL="457200" lvl="0" indent="-228600" algn="l">
              <a:lnSpc>
                <a:spcPct val="100000"/>
              </a:lnSpc>
              <a:spcBef>
                <a:spcPts val="0"/>
              </a:spcBef>
              <a:spcAft>
                <a:spcPts val="0"/>
              </a:spcAft>
              <a:buSzPts val="2200"/>
              <a:buFont typeface="Arial"/>
              <a:buNone/>
              <a:defRPr sz="2800" b="0">
                <a:solidFill>
                  <a:schemeClr val="dk1"/>
                </a:solidFill>
              </a:defRPr>
            </a:lvl1pPr>
            <a:lvl2pPr marL="914400" lvl="1" indent="-228600" algn="l">
              <a:lnSpc>
                <a:spcPct val="100000"/>
              </a:lnSpc>
              <a:spcBef>
                <a:spcPts val="600"/>
              </a:spcBef>
              <a:spcAft>
                <a:spcPts val="0"/>
              </a:spcAft>
              <a:buSzPts val="2000"/>
              <a:buFont typeface="Arial"/>
              <a:buNone/>
              <a:defRPr/>
            </a:lvl2pPr>
            <a:lvl3pPr marL="1371600" lvl="2" indent="-228600" algn="l">
              <a:lnSpc>
                <a:spcPct val="100000"/>
              </a:lnSpc>
              <a:spcBef>
                <a:spcPts val="600"/>
              </a:spcBef>
              <a:spcAft>
                <a:spcPts val="0"/>
              </a:spcAft>
              <a:buSzPts val="1800"/>
              <a:buFont typeface="Arial"/>
              <a:buNone/>
              <a:defRPr/>
            </a:lvl3pPr>
            <a:lvl4pPr marL="1828800" lvl="3" indent="-228600" algn="l">
              <a:lnSpc>
                <a:spcPct val="100000"/>
              </a:lnSpc>
              <a:spcBef>
                <a:spcPts val="600"/>
              </a:spcBef>
              <a:spcAft>
                <a:spcPts val="0"/>
              </a:spcAft>
              <a:buSzPts val="1600"/>
              <a:buFont typeface="Arial"/>
              <a:buNone/>
              <a:defRPr/>
            </a:lvl4pPr>
            <a:lvl5pPr marL="2286000" lvl="4" indent="-228600" algn="l">
              <a:lnSpc>
                <a:spcPct val="100000"/>
              </a:lnSpc>
              <a:spcBef>
                <a:spcPts val="600"/>
              </a:spcBef>
              <a:spcAft>
                <a:spcPts val="0"/>
              </a:spcAft>
              <a:buSzPts val="1400"/>
              <a:buFont typeface="Arial"/>
              <a:buNone/>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a:p>
        </p:txBody>
      </p:sp>
      <p:sp>
        <p:nvSpPr>
          <p:cNvPr id="125" name="Google Shape;125;p96"/>
          <p:cNvSpPr txBox="1">
            <a:spLocks noGrp="1"/>
          </p:cNvSpPr>
          <p:nvPr>
            <p:ph type="body" idx="5"/>
          </p:nvPr>
        </p:nvSpPr>
        <p:spPr>
          <a:xfrm>
            <a:off x="13009665" y="7368888"/>
            <a:ext cx="3468693" cy="400069"/>
          </a:xfrm>
          <a:prstGeom prst="rect">
            <a:avLst/>
          </a:prstGeom>
          <a:noFill/>
          <a:ln>
            <a:noFill/>
          </a:ln>
        </p:spPr>
        <p:txBody>
          <a:bodyPr spcFirstLastPara="1" wrap="square" lIns="0" tIns="45700" rIns="0" bIns="45700" anchor="t" anchorCtr="0">
            <a:spAutoFit/>
          </a:bodyPr>
          <a:lstStyle>
            <a:lvl1pPr marL="457200" lvl="0" indent="-228600" algn="l">
              <a:lnSpc>
                <a:spcPct val="100000"/>
              </a:lnSpc>
              <a:spcBef>
                <a:spcPts val="0"/>
              </a:spcBef>
              <a:spcAft>
                <a:spcPts val="0"/>
              </a:spcAft>
              <a:buSzPts val="2200"/>
              <a:buFont typeface="Arial"/>
              <a:buNone/>
              <a:defRPr sz="2000"/>
            </a:lvl1pPr>
            <a:lvl2pPr marL="914400" lvl="1" indent="-228600" algn="l">
              <a:lnSpc>
                <a:spcPct val="100000"/>
              </a:lnSpc>
              <a:spcBef>
                <a:spcPts val="600"/>
              </a:spcBef>
              <a:spcAft>
                <a:spcPts val="0"/>
              </a:spcAft>
              <a:buSzPts val="2000"/>
              <a:buFont typeface="Arial"/>
              <a:buNone/>
              <a:defRPr/>
            </a:lvl2pPr>
            <a:lvl3pPr marL="1371600" lvl="2" indent="-228600" algn="l">
              <a:lnSpc>
                <a:spcPct val="100000"/>
              </a:lnSpc>
              <a:spcBef>
                <a:spcPts val="600"/>
              </a:spcBef>
              <a:spcAft>
                <a:spcPts val="0"/>
              </a:spcAft>
              <a:buSzPts val="1800"/>
              <a:buFont typeface="Arial"/>
              <a:buNone/>
              <a:defRPr/>
            </a:lvl3pPr>
            <a:lvl4pPr marL="1828800" lvl="3" indent="-228600" algn="l">
              <a:lnSpc>
                <a:spcPct val="100000"/>
              </a:lnSpc>
              <a:spcBef>
                <a:spcPts val="600"/>
              </a:spcBef>
              <a:spcAft>
                <a:spcPts val="0"/>
              </a:spcAft>
              <a:buSzPts val="1600"/>
              <a:buFont typeface="Arial"/>
              <a:buNone/>
              <a:defRPr/>
            </a:lvl4pPr>
            <a:lvl5pPr marL="2286000" lvl="4" indent="-228600" algn="l">
              <a:lnSpc>
                <a:spcPct val="100000"/>
              </a:lnSpc>
              <a:spcBef>
                <a:spcPts val="600"/>
              </a:spcBef>
              <a:spcAft>
                <a:spcPts val="0"/>
              </a:spcAft>
              <a:buSzPts val="1400"/>
              <a:buFont typeface="Arial"/>
              <a:buNone/>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a:p>
        </p:txBody>
      </p:sp>
      <p:sp>
        <p:nvSpPr>
          <p:cNvPr id="126" name="Google Shape;126;p96"/>
          <p:cNvSpPr txBox="1">
            <a:spLocks noGrp="1"/>
          </p:cNvSpPr>
          <p:nvPr>
            <p:ph type="body" idx="6"/>
          </p:nvPr>
        </p:nvSpPr>
        <p:spPr>
          <a:xfrm>
            <a:off x="13009666" y="6610999"/>
            <a:ext cx="3468694" cy="523180"/>
          </a:xfrm>
          <a:prstGeom prst="rect">
            <a:avLst/>
          </a:prstGeom>
          <a:noFill/>
          <a:ln>
            <a:noFill/>
          </a:ln>
        </p:spPr>
        <p:txBody>
          <a:bodyPr spcFirstLastPara="1" wrap="square" lIns="0" tIns="45700" rIns="0" bIns="45700" anchor="t" anchorCtr="0">
            <a:spAutoFit/>
          </a:bodyPr>
          <a:lstStyle>
            <a:lvl1pPr marL="457200" lvl="0" indent="-228600" algn="l">
              <a:lnSpc>
                <a:spcPct val="100000"/>
              </a:lnSpc>
              <a:spcBef>
                <a:spcPts val="0"/>
              </a:spcBef>
              <a:spcAft>
                <a:spcPts val="0"/>
              </a:spcAft>
              <a:buSzPts val="2200"/>
              <a:buFont typeface="Arial"/>
              <a:buNone/>
              <a:defRPr sz="2800" b="0">
                <a:solidFill>
                  <a:schemeClr val="dk1"/>
                </a:solidFill>
              </a:defRPr>
            </a:lvl1pPr>
            <a:lvl2pPr marL="914400" lvl="1" indent="-228600" algn="l">
              <a:lnSpc>
                <a:spcPct val="100000"/>
              </a:lnSpc>
              <a:spcBef>
                <a:spcPts val="600"/>
              </a:spcBef>
              <a:spcAft>
                <a:spcPts val="0"/>
              </a:spcAft>
              <a:buSzPts val="2000"/>
              <a:buFont typeface="Arial"/>
              <a:buNone/>
              <a:defRPr/>
            </a:lvl2pPr>
            <a:lvl3pPr marL="1371600" lvl="2" indent="-228600" algn="l">
              <a:lnSpc>
                <a:spcPct val="100000"/>
              </a:lnSpc>
              <a:spcBef>
                <a:spcPts val="600"/>
              </a:spcBef>
              <a:spcAft>
                <a:spcPts val="0"/>
              </a:spcAft>
              <a:buSzPts val="1800"/>
              <a:buFont typeface="Arial"/>
              <a:buNone/>
              <a:defRPr/>
            </a:lvl3pPr>
            <a:lvl4pPr marL="1828800" lvl="3" indent="-228600" algn="l">
              <a:lnSpc>
                <a:spcPct val="100000"/>
              </a:lnSpc>
              <a:spcBef>
                <a:spcPts val="600"/>
              </a:spcBef>
              <a:spcAft>
                <a:spcPts val="0"/>
              </a:spcAft>
              <a:buSzPts val="1600"/>
              <a:buFont typeface="Arial"/>
              <a:buNone/>
              <a:defRPr/>
            </a:lvl4pPr>
            <a:lvl5pPr marL="2286000" lvl="4" indent="-228600" algn="l">
              <a:lnSpc>
                <a:spcPct val="100000"/>
              </a:lnSpc>
              <a:spcBef>
                <a:spcPts val="600"/>
              </a:spcBef>
              <a:spcAft>
                <a:spcPts val="0"/>
              </a:spcAft>
              <a:buSzPts val="1400"/>
              <a:buFont typeface="Arial"/>
              <a:buNone/>
              <a:defRPr/>
            </a:lvl5pPr>
            <a:lvl6pPr marL="2743200" lvl="5" indent="-400050" algn="l">
              <a:lnSpc>
                <a:spcPct val="90000"/>
              </a:lnSpc>
              <a:spcBef>
                <a:spcPts val="750"/>
              </a:spcBef>
              <a:spcAft>
                <a:spcPts val="0"/>
              </a:spcAft>
              <a:buSzPts val="2700"/>
              <a:buChar char="•"/>
              <a:defRPr/>
            </a:lvl6pPr>
            <a:lvl7pPr marL="3200400" lvl="6" indent="-400050" algn="l">
              <a:lnSpc>
                <a:spcPct val="90000"/>
              </a:lnSpc>
              <a:spcBef>
                <a:spcPts val="750"/>
              </a:spcBef>
              <a:spcAft>
                <a:spcPts val="0"/>
              </a:spcAft>
              <a:buSzPts val="2700"/>
              <a:buChar char="•"/>
              <a:defRPr/>
            </a:lvl7pPr>
            <a:lvl8pPr marL="3657600" lvl="7" indent="-400050" algn="l">
              <a:lnSpc>
                <a:spcPct val="90000"/>
              </a:lnSpc>
              <a:spcBef>
                <a:spcPts val="750"/>
              </a:spcBef>
              <a:spcAft>
                <a:spcPts val="0"/>
              </a:spcAft>
              <a:buSzPts val="2700"/>
              <a:buChar char="•"/>
              <a:defRPr/>
            </a:lvl8pPr>
            <a:lvl9pPr marL="4114800" lvl="8" indent="-400050" algn="l">
              <a:lnSpc>
                <a:spcPct val="90000"/>
              </a:lnSpc>
              <a:spcBef>
                <a:spcPts val="750"/>
              </a:spcBef>
              <a:spcAft>
                <a:spcPts val="0"/>
              </a:spcAft>
              <a:buSzPts val="2700"/>
              <a:buChar char="•"/>
              <a:defRPr/>
            </a:lvl9pPr>
          </a:lstStyle>
          <a:p>
            <a:endParaRPr/>
          </a:p>
        </p:txBody>
      </p:sp>
      <p:pic>
        <p:nvPicPr>
          <p:cNvPr id="127" name="Google Shape;127;p96"/>
          <p:cNvPicPr preferRelativeResize="0"/>
          <p:nvPr/>
        </p:nvPicPr>
        <p:blipFill>
          <a:blip r:embed="rId2"/>
          <a:srcRect/>
          <a:stretch/>
        </p:blipFill>
        <p:spPr>
          <a:xfrm>
            <a:off x="35201" y="3672840"/>
            <a:ext cx="17449707" cy="1519017"/>
          </a:xfrm>
          <a:prstGeom prst="rect">
            <a:avLst/>
          </a:prstGeom>
          <a:noFill/>
          <a:ln>
            <a:noFill/>
          </a:ln>
        </p:spPr>
      </p:pic>
      <p:sp>
        <p:nvSpPr>
          <p:cNvPr id="2" name="Google Shape;151;p72">
            <a:extLst>
              <a:ext uri="{FF2B5EF4-FFF2-40B4-BE49-F238E27FC236}">
                <a16:creationId xmlns:a16="http://schemas.microsoft.com/office/drawing/2014/main" id="{D0992D63-2B9E-6C8D-3147-576A9E7FEB4A}"/>
              </a:ext>
            </a:extLst>
          </p:cNvPr>
          <p:cNvSpPr txBox="1"/>
          <p:nvPr userDrawn="1"/>
        </p:nvSpPr>
        <p:spPr>
          <a:xfrm>
            <a:off x="17013836" y="9807253"/>
            <a:ext cx="455011" cy="300755"/>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fld id="{6418BF60-5985-CB4A-BD86-A174B281FFE8}" type="slidenum">
              <a:rPr lang="en-US" sz="1100" b="0" i="0" u="none" strike="noStrike" cap="none" smtClean="0">
                <a:solidFill>
                  <a:srgbClr val="757AAD"/>
                </a:solidFill>
                <a:latin typeface="Arial" panose="020B0604020202020204" pitchFamily="34" charset="0"/>
                <a:ea typeface="Arial"/>
                <a:cs typeface="Arial"/>
                <a:sym typeface="Arial"/>
              </a:rPr>
              <a:t>‹#›</a:t>
            </a:fld>
            <a:endParaRPr sz="1100" b="0" i="0" u="none" strike="noStrike" cap="none" dirty="0">
              <a:solidFill>
                <a:srgbClr val="757AAD"/>
              </a:solidFill>
              <a:latin typeface="Arial" panose="020B0604020202020204" pitchFamily="34" charset="0"/>
              <a:ea typeface="Arial"/>
              <a:cs typeface="Arial"/>
              <a:sym typeface="Arial"/>
            </a:endParaRPr>
          </a:p>
        </p:txBody>
      </p:sp>
    </p:spTree>
    <p:extLst>
      <p:ext uri="{BB962C8B-B14F-4D97-AF65-F5344CB8AC3E}">
        <p14:creationId xmlns:p14="http://schemas.microsoft.com/office/powerpoint/2010/main" val="2621020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Bookend" preserve="1">
  <p:cSld name="1_Bookend">
    <p:bg>
      <p:bgPr>
        <a:blipFill dpi="0" rotWithShape="1">
          <a:blip r:embed="rId2">
            <a:lum/>
          </a:blip>
          <a:srcRect/>
          <a:stretch>
            <a:fillRect/>
          </a:stretch>
        </a:blipFill>
        <a:effectLst/>
      </p:bgPr>
    </p:bg>
    <p:spTree>
      <p:nvGrpSpPr>
        <p:cNvPr id="1" name="Shape 159"/>
        <p:cNvGrpSpPr/>
        <p:nvPr/>
      </p:nvGrpSpPr>
      <p:grpSpPr>
        <a:xfrm>
          <a:off x="0" y="0"/>
          <a:ext cx="0" cy="0"/>
          <a:chOff x="0" y="0"/>
          <a:chExt cx="0" cy="0"/>
        </a:xfrm>
      </p:grpSpPr>
      <p:pic>
        <p:nvPicPr>
          <p:cNvPr id="4" name="Graphic 3">
            <a:extLst>
              <a:ext uri="{FF2B5EF4-FFF2-40B4-BE49-F238E27FC236}">
                <a16:creationId xmlns:a16="http://schemas.microsoft.com/office/drawing/2014/main" id="{D5F6D38C-8205-F883-6245-2E381C5DA4F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5400000">
            <a:off x="-18117059" y="18500021"/>
            <a:ext cx="37355239" cy="355197"/>
          </a:xfrm>
          <a:prstGeom prst="rect">
            <a:avLst/>
          </a:prstGeom>
        </p:spPr>
      </p:pic>
      <p:pic>
        <p:nvPicPr>
          <p:cNvPr id="7" name="Graphic 6">
            <a:extLst>
              <a:ext uri="{FF2B5EF4-FFF2-40B4-BE49-F238E27FC236}">
                <a16:creationId xmlns:a16="http://schemas.microsoft.com/office/drawing/2014/main" id="{F9121A8B-6EAD-CC1B-85F3-821F8D78DFC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956111" y="-8568218"/>
            <a:ext cx="37355239" cy="355197"/>
          </a:xfrm>
          <a:prstGeom prst="rect">
            <a:avLst/>
          </a:prstGeom>
        </p:spPr>
      </p:pic>
    </p:spTree>
    <p:extLst>
      <p:ext uri="{BB962C8B-B14F-4D97-AF65-F5344CB8AC3E}">
        <p14:creationId xmlns:p14="http://schemas.microsoft.com/office/powerpoint/2010/main" val="313907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fill="hold" nodeType="withEffect">
                                  <p:stCondLst>
                                    <p:cond delay="0"/>
                                  </p:stCondLst>
                                  <p:childTnLst>
                                    <p:animMotion origin="layout" path="M -2.36111E-6 -0.00078 L -2.36111E-6 -2.17361 " pathEditMode="fixed" rAng="0" ptsTypes="AA">
                                      <p:cBhvr>
                                        <p:cTn id="6" dur="25000" fill="hold"/>
                                        <p:tgtEl>
                                          <p:spTgt spid="4"/>
                                        </p:tgtEl>
                                        <p:attrNameLst>
                                          <p:attrName>ppt_x</p:attrName>
                                          <p:attrName>ppt_y</p:attrName>
                                        </p:attrNameLst>
                                      </p:cBhvr>
                                      <p:rCtr x="0" y="-108642"/>
                                    </p:animMotion>
                                  </p:childTnLst>
                                </p:cTn>
                              </p:par>
                              <p:par>
                                <p:cTn id="7" presetID="42" presetClass="path" presetSubtype="0" repeatCount="indefinite" fill="hold" nodeType="withEffect">
                                  <p:stCondLst>
                                    <p:cond delay="0"/>
                                  </p:stCondLst>
                                  <p:childTnLst>
                                    <p:animMotion origin="layout" path="M -4.16667E-7 -3.58025E-6 L -4.16667E-7 2.17377 " pathEditMode="fixed" rAng="0" ptsTypes="AA">
                                      <p:cBhvr>
                                        <p:cTn id="8" dur="25000" fill="hold"/>
                                        <p:tgtEl>
                                          <p:spTgt spid="7"/>
                                        </p:tgtEl>
                                        <p:attrNameLst>
                                          <p:attrName>ppt_x</p:attrName>
                                          <p:attrName>ppt_y</p:attrName>
                                        </p:attrNameLst>
                                      </p:cBhvr>
                                      <p:rCtr x="0" y="10868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ver 01 1">
  <p:cSld name="Cover 01 1">
    <p:spTree>
      <p:nvGrpSpPr>
        <p:cNvPr id="1" name="Shape 61"/>
        <p:cNvGrpSpPr/>
        <p:nvPr/>
      </p:nvGrpSpPr>
      <p:grpSpPr>
        <a:xfrm>
          <a:off x="0" y="0"/>
          <a:ext cx="0" cy="0"/>
          <a:chOff x="0" y="0"/>
          <a:chExt cx="0" cy="0"/>
        </a:xfrm>
      </p:grpSpPr>
    </p:spTree>
    <p:extLst>
      <p:ext uri="{BB962C8B-B14F-4D97-AF65-F5344CB8AC3E}">
        <p14:creationId xmlns:p14="http://schemas.microsoft.com/office/powerpoint/2010/main" val="3690902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EEFF"/>
        </a:solidFill>
        <a:effectLst/>
      </p:bgPr>
    </p:bg>
    <p:spTree>
      <p:nvGrpSpPr>
        <p:cNvPr id="1" name="Shape 9"/>
        <p:cNvGrpSpPr/>
        <p:nvPr/>
      </p:nvGrpSpPr>
      <p:grpSpPr>
        <a:xfrm>
          <a:off x="0" y="0"/>
          <a:ext cx="0" cy="0"/>
          <a:chOff x="0" y="0"/>
          <a:chExt cx="0" cy="0"/>
        </a:xfrm>
      </p:grpSpPr>
      <p:sp>
        <p:nvSpPr>
          <p:cNvPr id="10" name="Google Shape;10;p56"/>
          <p:cNvSpPr txBox="1">
            <a:spLocks noGrp="1"/>
          </p:cNvSpPr>
          <p:nvPr>
            <p:ph type="title"/>
          </p:nvPr>
        </p:nvSpPr>
        <p:spPr>
          <a:xfrm>
            <a:off x="820738" y="504826"/>
            <a:ext cx="16657636" cy="923924"/>
          </a:xfrm>
          <a:prstGeom prst="rect">
            <a:avLst/>
          </a:prstGeom>
          <a:noFill/>
          <a:ln>
            <a:noFill/>
          </a:ln>
        </p:spPr>
        <p:txBody>
          <a:bodyPr spcFirstLastPara="1" wrap="square" lIns="0" tIns="45700" rIns="0" bIns="45700" anchor="t" anchorCtr="0">
            <a:noAutofit/>
          </a:bodyPr>
          <a:lstStyle>
            <a:lvl1pPr marR="0" lvl="0" algn="l" rtl="0">
              <a:lnSpc>
                <a:spcPct val="90000"/>
              </a:lnSpc>
              <a:spcBef>
                <a:spcPts val="0"/>
              </a:spcBef>
              <a:spcAft>
                <a:spcPts val="0"/>
              </a:spcAft>
              <a:buClr>
                <a:schemeClr val="dk1"/>
              </a:buClr>
              <a:buSzPts val="5800"/>
              <a:buFont typeface="Arial"/>
              <a:buNone/>
              <a:defRPr sz="5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6"/>
          <p:cNvSpPr txBox="1">
            <a:spLocks noGrp="1"/>
          </p:cNvSpPr>
          <p:nvPr>
            <p:ph type="body" idx="1"/>
          </p:nvPr>
        </p:nvSpPr>
        <p:spPr>
          <a:xfrm>
            <a:off x="809626" y="1600200"/>
            <a:ext cx="16657636" cy="7829550"/>
          </a:xfrm>
          <a:prstGeom prst="rect">
            <a:avLst/>
          </a:prstGeom>
          <a:noFill/>
          <a:ln>
            <a:noFill/>
          </a:ln>
        </p:spPr>
        <p:txBody>
          <a:bodyPr spcFirstLastPara="1" wrap="square" lIns="0" tIns="45700" rIns="0" bIns="45700" anchor="t" anchorCtr="0">
            <a:noAutofit/>
          </a:bodyPr>
          <a:lstStyle>
            <a:lvl1pPr marL="457200" marR="0" lvl="0" indent="-368300" algn="l" rtl="0">
              <a:lnSpc>
                <a:spcPct val="100000"/>
              </a:lnSpc>
              <a:spcBef>
                <a:spcPts val="0"/>
              </a:spcBef>
              <a:spcAft>
                <a:spcPts val="0"/>
              </a:spcAft>
              <a:buClr>
                <a:schemeClr val="accent1"/>
              </a:buClr>
              <a:buSzPts val="2200"/>
              <a:buFont typeface="Arial"/>
              <a:buChar char="▪"/>
              <a:defRPr sz="2200" b="0" i="0" u="none" strike="noStrike" cap="none">
                <a:solidFill>
                  <a:schemeClr val="accent2"/>
                </a:solidFill>
                <a:latin typeface="Arial"/>
                <a:ea typeface="Arial"/>
                <a:cs typeface="Arial"/>
                <a:sym typeface="Arial"/>
              </a:defRPr>
            </a:lvl1pPr>
            <a:lvl2pPr marL="914400" marR="0" lvl="1" indent="-355600" algn="l" rtl="0">
              <a:lnSpc>
                <a:spcPct val="100000"/>
              </a:lnSpc>
              <a:spcBef>
                <a:spcPts val="600"/>
              </a:spcBef>
              <a:spcAft>
                <a:spcPts val="0"/>
              </a:spcAft>
              <a:buClr>
                <a:schemeClr val="accent1"/>
              </a:buClr>
              <a:buSzPts val="2000"/>
              <a:buFont typeface="Arial"/>
              <a:buChar char="–"/>
              <a:defRPr sz="20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800" b="0" i="0" u="none" strike="noStrike" cap="none">
                <a:solidFill>
                  <a:schemeClr val="accent2"/>
                </a:solidFill>
                <a:latin typeface="Arial"/>
                <a:ea typeface="Arial"/>
                <a:cs typeface="Arial"/>
                <a:sym typeface="Arial"/>
              </a:defRPr>
            </a:lvl3pPr>
            <a:lvl4pPr marL="1828800" marR="0" lvl="3" indent="-330200" algn="l" rtl="0">
              <a:lnSpc>
                <a:spcPct val="100000"/>
              </a:lnSpc>
              <a:spcBef>
                <a:spcPts val="600"/>
              </a:spcBef>
              <a:spcAft>
                <a:spcPts val="0"/>
              </a:spcAft>
              <a:buClr>
                <a:schemeClr val="accent1"/>
              </a:buClr>
              <a:buSzPts val="1600"/>
              <a:buFont typeface="Arial"/>
              <a:buChar char="&gt;"/>
              <a:defRPr sz="1600" b="0" i="0" u="none" strike="noStrike" cap="none">
                <a:solidFill>
                  <a:schemeClr val="accent2"/>
                </a:solidFill>
                <a:latin typeface="Arial"/>
                <a:ea typeface="Arial"/>
                <a:cs typeface="Arial"/>
                <a:sym typeface="Arial"/>
              </a:defRPr>
            </a:lvl4pPr>
            <a:lvl5pPr marL="2286000" marR="0" lvl="4" indent="-317500" algn="l" rtl="0">
              <a:lnSpc>
                <a:spcPct val="100000"/>
              </a:lnSpc>
              <a:spcBef>
                <a:spcPts val="600"/>
              </a:spcBef>
              <a:spcAft>
                <a:spcPts val="0"/>
              </a:spcAft>
              <a:buClr>
                <a:schemeClr val="accent1"/>
              </a:buClr>
              <a:buSzPts val="1400"/>
              <a:buFont typeface="Arial"/>
              <a:buChar char="o"/>
              <a:defRPr sz="1400" b="0" i="0" u="none" strike="noStrike" cap="none">
                <a:solidFill>
                  <a:schemeClr val="accent2"/>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endParaRPr dirty="0"/>
          </a:p>
        </p:txBody>
      </p:sp>
      <p:grpSp>
        <p:nvGrpSpPr>
          <p:cNvPr id="2" name="Group 1">
            <a:extLst>
              <a:ext uri="{FF2B5EF4-FFF2-40B4-BE49-F238E27FC236}">
                <a16:creationId xmlns:a16="http://schemas.microsoft.com/office/drawing/2014/main" id="{AFAC0412-F4C2-DA58-451D-EF610C4961EA}"/>
              </a:ext>
            </a:extLst>
          </p:cNvPr>
          <p:cNvGrpSpPr/>
          <p:nvPr userDrawn="1"/>
        </p:nvGrpSpPr>
        <p:grpSpPr>
          <a:xfrm>
            <a:off x="809625" y="9782175"/>
            <a:ext cx="16668750" cy="504825"/>
            <a:chOff x="809625" y="9782175"/>
            <a:chExt cx="16668750" cy="504825"/>
          </a:xfrm>
        </p:grpSpPr>
        <p:pic>
          <p:nvPicPr>
            <p:cNvPr id="3" name="Graphic 2">
              <a:extLst>
                <a:ext uri="{FF2B5EF4-FFF2-40B4-BE49-F238E27FC236}">
                  <a16:creationId xmlns:a16="http://schemas.microsoft.com/office/drawing/2014/main" id="{E3B3D5E4-07C9-A2E0-3FAC-BC391B2A9472}"/>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819152" y="9807253"/>
              <a:ext cx="1282133" cy="261518"/>
            </a:xfrm>
            <a:prstGeom prst="rect">
              <a:avLst/>
            </a:prstGeom>
          </p:spPr>
        </p:pic>
        <p:sp>
          <p:nvSpPr>
            <p:cNvPr id="5" name="Google Shape;151;p72">
              <a:extLst>
                <a:ext uri="{FF2B5EF4-FFF2-40B4-BE49-F238E27FC236}">
                  <a16:creationId xmlns:a16="http://schemas.microsoft.com/office/drawing/2014/main" id="{6D3B87DC-F59A-DA84-73E9-6A2014BDECF6}"/>
                </a:ext>
              </a:extLst>
            </p:cNvPr>
            <p:cNvSpPr txBox="1"/>
            <p:nvPr userDrawn="1"/>
          </p:nvSpPr>
          <p:spPr>
            <a:xfrm>
              <a:off x="12870163" y="9782175"/>
              <a:ext cx="4019066" cy="325833"/>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100" b="0" i="0" u="none" strike="noStrike" cap="none" dirty="0" err="1">
                  <a:solidFill>
                    <a:srgbClr val="757AAD"/>
                  </a:solidFill>
                  <a:latin typeface="Arial" panose="020B0604020202020204" pitchFamily="34" charset="0"/>
                  <a:ea typeface="Arial"/>
                  <a:cs typeface="Arial"/>
                  <a:sym typeface="Arial"/>
                </a:rPr>
                <a:t>SentinelOne</a:t>
              </a:r>
              <a:r>
                <a:rPr lang="en-US" sz="1100" b="0" i="0" u="none" strike="noStrike" cap="none" dirty="0">
                  <a:solidFill>
                    <a:srgbClr val="757AAD"/>
                  </a:solidFill>
                  <a:latin typeface="Arial" panose="020B0604020202020204" pitchFamily="34" charset="0"/>
                  <a:ea typeface="Arial"/>
                  <a:cs typeface="Arial"/>
                  <a:sym typeface="Arial"/>
                </a:rPr>
                <a:t>, Inc. Confidential and Proprietary Information</a:t>
              </a:r>
              <a:endParaRPr sz="1100" b="0" i="0" u="none" strike="noStrike" cap="none" dirty="0">
                <a:solidFill>
                  <a:srgbClr val="757AAD"/>
                </a:solidFill>
                <a:latin typeface="Arial" panose="020B0604020202020204" pitchFamily="34" charset="0"/>
                <a:ea typeface="Arial"/>
                <a:cs typeface="Arial"/>
                <a:sym typeface="Arial"/>
              </a:endParaRPr>
            </a:p>
          </p:txBody>
        </p:sp>
        <p:sp>
          <p:nvSpPr>
            <p:cNvPr id="6" name="Round Same Side Corner Rectangle 5">
              <a:extLst>
                <a:ext uri="{FF2B5EF4-FFF2-40B4-BE49-F238E27FC236}">
                  <a16:creationId xmlns:a16="http://schemas.microsoft.com/office/drawing/2014/main" id="{9F4C5896-EAD6-C2C8-DB61-116F8433AF89}"/>
                </a:ext>
              </a:extLst>
            </p:cNvPr>
            <p:cNvSpPr/>
            <p:nvPr userDrawn="1"/>
          </p:nvSpPr>
          <p:spPr>
            <a:xfrm>
              <a:off x="809625" y="10230062"/>
              <a:ext cx="16668750" cy="56938"/>
            </a:xfrm>
            <a:prstGeom prst="round2SameRect">
              <a:avLst/>
            </a:prstGeom>
            <a:gradFill flip="none" rotWithShape="1">
              <a:gsLst>
                <a:gs pos="100000">
                  <a:srgbClr val="673DF9"/>
                </a:gs>
                <a:gs pos="0">
                  <a:srgbClr val="6FB5F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grpSp>
    </p:spTree>
  </p:cSld>
  <p:clrMap bg1="lt1" tx1="dk1" bg2="dk2" tx2="lt2" accent1="accent1" accent2="accent2" accent3="accent3" accent4="accent4" accent5="accent5" accent6="accent6" hlink="hlink" folHlink="folHlink"/>
  <p:sldLayoutIdLst>
    <p:sldLayoutId id="2147483649" r:id="rId1"/>
    <p:sldLayoutId id="2147483675" r:id="rId2"/>
    <p:sldLayoutId id="2147483670" r:id="rId3"/>
    <p:sldLayoutId id="2147483652" r:id="rId4"/>
    <p:sldLayoutId id="2147483659" r:id="rId5"/>
    <p:sldLayoutId id="2147483657" r:id="rId6"/>
    <p:sldLayoutId id="2147483658" r:id="rId7"/>
    <p:sldLayoutId id="2147483660" r:id="rId8"/>
    <p:sldLayoutId id="2147483661" r:id="rId9"/>
    <p:sldLayoutId id="2147483672" r:id="rId10"/>
    <p:sldLayoutId id="2147483673" r:id="rId11"/>
    <p:sldLayoutId id="2147483674" r:id="rId12"/>
    <p:sldLayoutId id="2147483676" r:id="rId13"/>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1" i="0" u="none" strike="noStrike" cap="none">
          <a:solidFill>
            <a:srgbClr val="000000"/>
          </a:solidFill>
          <a:latin typeface="Arial" panose="020B0004040202060203" pitchFamily="34" charset="77"/>
          <a:ea typeface="Arial" panose="020B0004040202060203" pitchFamily="34"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457200" marR="0" lvl="0" indent="-368300" algn="l" rtl="0">
        <a:lnSpc>
          <a:spcPct val="100000"/>
        </a:lnSpc>
        <a:spcBef>
          <a:spcPts val="0"/>
        </a:spcBef>
        <a:spcAft>
          <a:spcPts val="0"/>
        </a:spcAft>
        <a:buClr>
          <a:srgbClr val="DE8660"/>
        </a:buClr>
        <a:buFont typeface="Arial" panose="020B0604020202020204" pitchFamily="34" charset="0"/>
        <a:buChar char="•"/>
        <a:defRPr sz="1400" b="0" i="1" u="none" strike="noStrike" cap="none">
          <a:solidFill>
            <a:srgbClr val="000000"/>
          </a:solidFill>
          <a:latin typeface="Arial" panose="020B0004040202060203" pitchFamily="34" charset="77"/>
          <a:ea typeface="Arial" panose="020B0004040202060203" pitchFamily="34"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760">
          <p15:clr>
            <a:srgbClr val="F26B43"/>
          </p15:clr>
        </p15:guide>
        <p15:guide id="2" orient="horz" pos="5940">
          <p15:clr>
            <a:srgbClr val="F26B43"/>
          </p15:clr>
        </p15:guide>
        <p15:guide id="3" pos="510">
          <p15:clr>
            <a:srgbClr val="F26B43"/>
          </p15:clr>
        </p15:guide>
        <p15:guide id="4" pos="11010">
          <p15:clr>
            <a:srgbClr val="F26B43"/>
          </p15:clr>
        </p15:guide>
        <p15:guide id="5" pos="888">
          <p15:clr>
            <a:srgbClr val="F26B43"/>
          </p15:clr>
        </p15:guide>
        <p15:guide id="6" pos="5544">
          <p15:clr>
            <a:srgbClr val="F26B43"/>
          </p15:clr>
        </p15:guide>
        <p15:guide id="7" orient="horz" pos="318">
          <p15:clr>
            <a:srgbClr val="F26B43"/>
          </p15:clr>
        </p15:guide>
        <p15:guide id="8" orient="horz" pos="900">
          <p15:clr>
            <a:srgbClr val="F26B43"/>
          </p15:clr>
        </p15:guide>
        <p15:guide id="9" orient="horz" pos="1008">
          <p15:clr>
            <a:srgbClr val="F26B43"/>
          </p15:clr>
        </p15:guide>
        <p15:guide id="10" pos="5976">
          <p15:clr>
            <a:srgbClr val="F26B43"/>
          </p15:clr>
        </p15:guide>
        <p15:guide id="11" orient="horz" pos="5088" userDrawn="1">
          <p15:clr>
            <a:srgbClr val="F26B43"/>
          </p15:clr>
        </p15:guide>
        <p15:guide id="12" orient="horz" pos="5592" userDrawn="1">
          <p15:clr>
            <a:srgbClr val="F26B43"/>
          </p15:clr>
        </p15:guide>
        <p15:guide id="13" orient="horz" pos="621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1.xml"/><Relationship Id="rId7" Type="http://schemas.openxmlformats.org/officeDocument/2006/relationships/image" Target="../media/image17.pn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14.png"/><Relationship Id="rId5" Type="http://schemas.openxmlformats.org/officeDocument/2006/relationships/image" Target="../media/image23.png"/><Relationship Id="rId4" Type="http://schemas.openxmlformats.org/officeDocument/2006/relationships/image" Target="../media/image2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6.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7.xml"/><Relationship Id="rId5" Type="http://schemas.openxmlformats.org/officeDocument/2006/relationships/hyperlink" Target="https://www.sec.gov/" TargetMode="External"/><Relationship Id="rId4" Type="http://schemas.openxmlformats.org/officeDocument/2006/relationships/hyperlink" Target="http://investors.sentinelone.com/"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8.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tags" Target="../tags/tag9.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9.xml"/><Relationship Id="rId1" Type="http://schemas.openxmlformats.org/officeDocument/2006/relationships/tags" Target="../tags/tag10.xml"/><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11.xml"/><Relationship Id="rId6" Type="http://schemas.openxmlformats.org/officeDocument/2006/relationships/image" Target="../media/image23.png"/><Relationship Id="rId5" Type="http://schemas.openxmlformats.org/officeDocument/2006/relationships/image" Target="../media/image14.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12.xml"/><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33.png"/><Relationship Id="rId2" Type="http://schemas.openxmlformats.org/officeDocument/2006/relationships/slideLayout" Target="../slideLayouts/slideLayout5.xml"/><Relationship Id="rId1" Type="http://schemas.openxmlformats.org/officeDocument/2006/relationships/tags" Target="../tags/tag1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4.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3" Type="http://schemas.openxmlformats.org/officeDocument/2006/relationships/notesSlide" Target="../notesSlides/notesSlide11.xml"/><Relationship Id="rId7" Type="http://schemas.openxmlformats.org/officeDocument/2006/relationships/image" Target="../media/image38.svg"/><Relationship Id="rId12" Type="http://schemas.openxmlformats.org/officeDocument/2006/relationships/image" Target="../media/image43.png"/><Relationship Id="rId2" Type="http://schemas.openxmlformats.org/officeDocument/2006/relationships/slideLayout" Target="../slideLayouts/slideLayout5.xml"/><Relationship Id="rId1" Type="http://schemas.openxmlformats.org/officeDocument/2006/relationships/tags" Target="../tags/tag15.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svg"/></Relationships>
</file>

<file path=ppt/slides/_rels/slide13.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svg"/><Relationship Id="rId3" Type="http://schemas.openxmlformats.org/officeDocument/2006/relationships/notesSlide" Target="../notesSlides/notesSlide12.xml"/><Relationship Id="rId7" Type="http://schemas.openxmlformats.org/officeDocument/2006/relationships/image" Target="../media/image46.svg"/><Relationship Id="rId12" Type="http://schemas.openxmlformats.org/officeDocument/2006/relationships/image" Target="../media/image51.png"/><Relationship Id="rId2" Type="http://schemas.openxmlformats.org/officeDocument/2006/relationships/slideLayout" Target="../slideLayouts/slideLayout5.xml"/><Relationship Id="rId1" Type="http://schemas.openxmlformats.org/officeDocument/2006/relationships/tags" Target="../tags/tag16.xml"/><Relationship Id="rId6" Type="http://schemas.openxmlformats.org/officeDocument/2006/relationships/image" Target="../media/image45.png"/><Relationship Id="rId11" Type="http://schemas.openxmlformats.org/officeDocument/2006/relationships/image" Target="../media/image50.svg"/><Relationship Id="rId5" Type="http://schemas.openxmlformats.org/officeDocument/2006/relationships/image" Target="../media/image36.png"/><Relationship Id="rId10" Type="http://schemas.openxmlformats.org/officeDocument/2006/relationships/image" Target="../media/image49.png"/><Relationship Id="rId4" Type="http://schemas.openxmlformats.org/officeDocument/2006/relationships/image" Target="../media/image35.png"/><Relationship Id="rId9" Type="http://schemas.openxmlformats.org/officeDocument/2006/relationships/image" Target="../media/image48.sv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xml"/><Relationship Id="rId1" Type="http://schemas.openxmlformats.org/officeDocument/2006/relationships/tags" Target="../tags/tag17.xml"/><Relationship Id="rId6" Type="http://schemas.openxmlformats.org/officeDocument/2006/relationships/image" Target="../media/image23.png"/><Relationship Id="rId5" Type="http://schemas.openxmlformats.org/officeDocument/2006/relationships/image" Target="../media/image14.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56.png"/><Relationship Id="rId2" Type="http://schemas.openxmlformats.org/officeDocument/2006/relationships/slideLayout" Target="../slideLayouts/slideLayout5.xml"/><Relationship Id="rId1" Type="http://schemas.openxmlformats.org/officeDocument/2006/relationships/tags" Target="../tags/tag1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5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image" Target="../media/image1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22.xml"/><Relationship Id="rId4" Type="http://schemas.openxmlformats.org/officeDocument/2006/relationships/image" Target="../media/image5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3.xml"/><Relationship Id="rId4"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24.xml"/><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25.xml"/><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6.xml"/><Relationship Id="rId6" Type="http://schemas.openxmlformats.org/officeDocument/2006/relationships/image" Target="../media/image14.png"/><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27.xml"/><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28.xml"/><Relationship Id="rId4" Type="http://schemas.openxmlformats.org/officeDocument/2006/relationships/image" Target="../media/image6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29.xml"/><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30.xml"/><Relationship Id="rId6" Type="http://schemas.openxmlformats.org/officeDocument/2006/relationships/image" Target="../media/image14.png"/><Relationship Id="rId5" Type="http://schemas.openxmlformats.org/officeDocument/2006/relationships/image" Target="../media/image23.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31.xml"/><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32.xml"/><Relationship Id="rId5" Type="http://schemas.openxmlformats.org/officeDocument/2006/relationships/image" Target="../media/image67.png"/><Relationship Id="rId4" Type="http://schemas.openxmlformats.org/officeDocument/2006/relationships/image" Target="../media/image6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14.png"/><Relationship Id="rId5" Type="http://schemas.openxmlformats.org/officeDocument/2006/relationships/image" Target="../media/image23.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34.xml"/><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35.xml"/><Relationship Id="rId4" Type="http://schemas.openxmlformats.org/officeDocument/2006/relationships/image" Target="../media/image6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36.xml"/><Relationship Id="rId5" Type="http://schemas.openxmlformats.org/officeDocument/2006/relationships/image" Target="../media/image70.png"/><Relationship Id="rId4" Type="http://schemas.openxmlformats.org/officeDocument/2006/relationships/hyperlink" Target="https://github.com/simplescripter/OneCon25" TargetMode="Externa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37.xml"/><Relationship Id="rId4" Type="http://schemas.openxmlformats.org/officeDocument/2006/relationships/image" Target="../media/image7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38.xml"/><Relationship Id="rId4" Type="http://schemas.openxmlformats.org/officeDocument/2006/relationships/image" Target="../media/image7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9.xml"/><Relationship Id="rId6" Type="http://schemas.openxmlformats.org/officeDocument/2006/relationships/image" Target="../media/image14.png"/><Relationship Id="rId5" Type="http://schemas.openxmlformats.org/officeDocument/2006/relationships/image" Target="../media/image23.png"/><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40.xml"/><Relationship Id="rId5" Type="http://schemas.openxmlformats.org/officeDocument/2006/relationships/image" Target="../media/image74.png"/><Relationship Id="rId4" Type="http://schemas.openxmlformats.org/officeDocument/2006/relationships/image" Target="../media/image7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41.xml"/><Relationship Id="rId4" Type="http://schemas.openxmlformats.org/officeDocument/2006/relationships/image" Target="../media/image75.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4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hyperlink" Target="https://community.sentinelone.com/s/article/000010854" TargetMode="Externa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8.xml"/><Relationship Id="rId1" Type="http://schemas.openxmlformats.org/officeDocument/2006/relationships/tags" Target="../tags/tag43.xml"/><Relationship Id="rId6" Type="http://schemas.openxmlformats.org/officeDocument/2006/relationships/image" Target="../media/image23.png"/><Relationship Id="rId5" Type="http://schemas.openxmlformats.org/officeDocument/2006/relationships/image" Target="../media/image14.pn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6.xml"/><Relationship Id="rId1" Type="http://schemas.openxmlformats.org/officeDocument/2006/relationships/tags" Target="../tags/tag44.xml"/><Relationship Id="rId4" Type="http://schemas.openxmlformats.org/officeDocument/2006/relationships/image" Target="../media/image78.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tags" Target="../tags/tag45.xml"/><Relationship Id="rId4" Type="http://schemas.openxmlformats.org/officeDocument/2006/relationships/image" Target="../media/image79.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6.xml"/><Relationship Id="rId1" Type="http://schemas.openxmlformats.org/officeDocument/2006/relationships/tags" Target="../tags/tag46.xml"/><Relationship Id="rId4" Type="http://schemas.openxmlformats.org/officeDocument/2006/relationships/image" Target="../media/image80.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ags" Target="../tags/tag47.xml"/><Relationship Id="rId4" Type="http://schemas.openxmlformats.org/officeDocument/2006/relationships/image" Target="../media/image8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ags" Target="../tags/tag48.xml"/><Relationship Id="rId5" Type="http://schemas.openxmlformats.org/officeDocument/2006/relationships/image" Target="../media/image83.png"/><Relationship Id="rId4" Type="http://schemas.openxmlformats.org/officeDocument/2006/relationships/image" Target="../media/image8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6.xml"/><Relationship Id="rId1" Type="http://schemas.openxmlformats.org/officeDocument/2006/relationships/tags" Target="../tags/tag49.xml"/><Relationship Id="rId4" Type="http://schemas.openxmlformats.org/officeDocument/2006/relationships/image" Target="../media/image84.png"/></Relationships>
</file>

<file path=ppt/slides/_rels/slide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slideLayout" Target="../slideLayouts/slideLayout12.xml"/><Relationship Id="rId1" Type="http://schemas.openxmlformats.org/officeDocument/2006/relationships/tags" Target="../tags/tag50.xml"/><Relationship Id="rId6" Type="http://schemas.openxmlformats.org/officeDocument/2006/relationships/image" Target="../media/image88.svg"/><Relationship Id="rId5" Type="http://schemas.openxmlformats.org/officeDocument/2006/relationships/image" Target="../media/image87.png"/><Relationship Id="rId4" Type="http://schemas.openxmlformats.org/officeDocument/2006/relationships/image" Target="../media/image8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8" name="Bitmap" descr="A blue and black rectangle with a white center&#10;&#10;AI-generated content may be incorrect.">
            <a:extLst>
              <a:ext uri="{FF2B5EF4-FFF2-40B4-BE49-F238E27FC236}">
                <a16:creationId xmlns:a16="http://schemas.microsoft.com/office/drawing/2014/main" id="{1466C568-F1C2-95DD-9207-C58797851803}"/>
              </a:ext>
            </a:extLst>
          </p:cNvPr>
          <p:cNvPicPr>
            <a:picLocks noChangeAspect="1"/>
          </p:cNvPicPr>
          <p:nvPr/>
        </p:nvPicPr>
        <p:blipFill>
          <a:blip r:embed="rId4"/>
          <a:stretch>
            <a:fillRect/>
          </a:stretch>
        </p:blipFill>
        <p:spPr>
          <a:xfrm>
            <a:off x="-1261034" y="8343991"/>
            <a:ext cx="20501134" cy="5595886"/>
          </a:xfrm>
          <a:prstGeom prst="rect">
            <a:avLst/>
          </a:prstGeom>
        </p:spPr>
      </p:pic>
      <p:pic>
        <p:nvPicPr>
          <p:cNvPr id="15" name="Stars">
            <a:extLst>
              <a:ext uri="{FF2B5EF4-FFF2-40B4-BE49-F238E27FC236}">
                <a16:creationId xmlns:a16="http://schemas.microsoft.com/office/drawing/2014/main" id="{7F5C47E2-14D7-B586-F5B5-90108CDB5E9A}"/>
              </a:ext>
            </a:extLst>
          </p:cNvPr>
          <p:cNvPicPr>
            <a:picLocks noChangeAspect="1"/>
          </p:cNvPicPr>
          <p:nvPr/>
        </p:nvPicPr>
        <p:blipFill>
          <a:blip r:embed="rId5"/>
          <a:stretch>
            <a:fillRect/>
          </a:stretch>
        </p:blipFill>
        <p:spPr>
          <a:xfrm>
            <a:off x="1300480" y="741679"/>
            <a:ext cx="13970000" cy="8833691"/>
          </a:xfrm>
          <a:prstGeom prst="rect">
            <a:avLst/>
          </a:prstGeom>
        </p:spPr>
      </p:pic>
      <p:pic>
        <p:nvPicPr>
          <p:cNvPr id="11" name="OneCon">
            <a:extLst>
              <a:ext uri="{FF2B5EF4-FFF2-40B4-BE49-F238E27FC236}">
                <a16:creationId xmlns:a16="http://schemas.microsoft.com/office/drawing/2014/main" id="{6C375817-A887-769B-E98B-38271E86B895}"/>
              </a:ext>
            </a:extLst>
          </p:cNvPr>
          <p:cNvPicPr>
            <a:picLocks noChangeAspect="1"/>
          </p:cNvPicPr>
          <p:nvPr/>
        </p:nvPicPr>
        <p:blipFill>
          <a:blip r:embed="rId6"/>
          <a:stretch>
            <a:fillRect/>
          </a:stretch>
        </p:blipFill>
        <p:spPr>
          <a:xfrm>
            <a:off x="1315279" y="4591391"/>
            <a:ext cx="15551356" cy="3159760"/>
          </a:xfrm>
          <a:prstGeom prst="rect">
            <a:avLst/>
          </a:prstGeom>
        </p:spPr>
      </p:pic>
      <p:pic>
        <p:nvPicPr>
          <p:cNvPr id="13" name="SentinelOne">
            <a:extLst>
              <a:ext uri="{FF2B5EF4-FFF2-40B4-BE49-F238E27FC236}">
                <a16:creationId xmlns:a16="http://schemas.microsoft.com/office/drawing/2014/main" id="{F2724AD7-E6FE-799B-EEF8-9DD74BD3B3D4}"/>
              </a:ext>
            </a:extLst>
          </p:cNvPr>
          <p:cNvPicPr>
            <a:picLocks noChangeAspect="1"/>
          </p:cNvPicPr>
          <p:nvPr/>
        </p:nvPicPr>
        <p:blipFill>
          <a:blip r:embed="rId7"/>
          <a:stretch>
            <a:fillRect/>
          </a:stretch>
        </p:blipFill>
        <p:spPr>
          <a:xfrm>
            <a:off x="1442720" y="3035310"/>
            <a:ext cx="6197600" cy="1174583"/>
          </a:xfrm>
          <a:prstGeom prst="rect">
            <a:avLst/>
          </a:prstGeom>
        </p:spPr>
      </p:pic>
      <p:pic>
        <p:nvPicPr>
          <p:cNvPr id="17" name="04">
            <a:extLst>
              <a:ext uri="{FF2B5EF4-FFF2-40B4-BE49-F238E27FC236}">
                <a16:creationId xmlns:a16="http://schemas.microsoft.com/office/drawing/2014/main" id="{BB236A1C-7891-CD68-6E4D-C24FD3EBBFCB}"/>
              </a:ext>
            </a:extLst>
          </p:cNvPr>
          <p:cNvPicPr>
            <a:picLocks noChangeAspect="1"/>
          </p:cNvPicPr>
          <p:nvPr/>
        </p:nvPicPr>
        <p:blipFill>
          <a:blip r:embed="rId8"/>
          <a:stretch>
            <a:fillRect/>
          </a:stretch>
        </p:blipFill>
        <p:spPr>
          <a:xfrm>
            <a:off x="15077440" y="8412480"/>
            <a:ext cx="2397743" cy="512421"/>
          </a:xfrm>
          <a:prstGeom prst="rect">
            <a:avLst/>
          </a:prstGeom>
        </p:spPr>
      </p:pic>
      <p:pic>
        <p:nvPicPr>
          <p:cNvPr id="7" name="03">
            <a:extLst>
              <a:ext uri="{FF2B5EF4-FFF2-40B4-BE49-F238E27FC236}">
                <a16:creationId xmlns:a16="http://schemas.microsoft.com/office/drawing/2014/main" id="{460C3B5E-BDD7-6610-53F6-1A285E27C312}"/>
              </a:ext>
            </a:extLst>
          </p:cNvPr>
          <p:cNvPicPr>
            <a:picLocks noChangeAspect="1"/>
          </p:cNvPicPr>
          <p:nvPr/>
        </p:nvPicPr>
        <p:blipFill>
          <a:blip r:embed="rId9"/>
          <a:stretch>
            <a:fillRect/>
          </a:stretch>
        </p:blipFill>
        <p:spPr>
          <a:xfrm>
            <a:off x="10525760" y="8388822"/>
            <a:ext cx="2397741" cy="560762"/>
          </a:xfrm>
          <a:prstGeom prst="rect">
            <a:avLst/>
          </a:prstGeom>
        </p:spPr>
      </p:pic>
      <p:pic>
        <p:nvPicPr>
          <p:cNvPr id="5" name="02">
            <a:extLst>
              <a:ext uri="{FF2B5EF4-FFF2-40B4-BE49-F238E27FC236}">
                <a16:creationId xmlns:a16="http://schemas.microsoft.com/office/drawing/2014/main" id="{74763FA3-EF21-1392-036E-8D2E87C786D7}"/>
              </a:ext>
            </a:extLst>
          </p:cNvPr>
          <p:cNvPicPr>
            <a:picLocks noChangeAspect="1"/>
          </p:cNvPicPr>
          <p:nvPr/>
        </p:nvPicPr>
        <p:blipFill>
          <a:blip r:embed="rId10"/>
          <a:stretch>
            <a:fillRect/>
          </a:stretch>
        </p:blipFill>
        <p:spPr>
          <a:xfrm>
            <a:off x="5963920" y="8417210"/>
            <a:ext cx="2397744" cy="502753"/>
          </a:xfrm>
          <a:prstGeom prst="rect">
            <a:avLst/>
          </a:prstGeom>
        </p:spPr>
      </p:pic>
      <p:pic>
        <p:nvPicPr>
          <p:cNvPr id="9" name="01">
            <a:extLst>
              <a:ext uri="{FF2B5EF4-FFF2-40B4-BE49-F238E27FC236}">
                <a16:creationId xmlns:a16="http://schemas.microsoft.com/office/drawing/2014/main" id="{0F549EEC-FB29-A922-D3A8-674B5B5AF422}"/>
              </a:ext>
            </a:extLst>
          </p:cNvPr>
          <p:cNvPicPr>
            <a:picLocks noChangeAspect="1"/>
          </p:cNvPicPr>
          <p:nvPr/>
        </p:nvPicPr>
        <p:blipFill>
          <a:blip r:embed="rId11"/>
          <a:stretch>
            <a:fillRect/>
          </a:stretch>
        </p:blipFill>
        <p:spPr>
          <a:xfrm>
            <a:off x="1402080" y="8426675"/>
            <a:ext cx="2397745" cy="483416"/>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42" presetClass="entr" presetSubtype="0" fill="hold" nodeType="withEffect">
                                  <p:stCondLst>
                                    <p:cond delay="50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000"/>
                                        <p:tgtEl>
                                          <p:spTgt spid="11"/>
                                        </p:tgtEl>
                                      </p:cBhvr>
                                    </p:animEffect>
                                    <p:anim calcmode="lin" valueType="num">
                                      <p:cBhvr>
                                        <p:cTn id="11" dur="1000" fill="hold"/>
                                        <p:tgtEl>
                                          <p:spTgt spid="11"/>
                                        </p:tgtEl>
                                        <p:attrNameLst>
                                          <p:attrName>ppt_x</p:attrName>
                                        </p:attrNameLst>
                                      </p:cBhvr>
                                      <p:tavLst>
                                        <p:tav tm="0">
                                          <p:val>
                                            <p:strVal val="#ppt_x"/>
                                          </p:val>
                                        </p:tav>
                                        <p:tav tm="100000">
                                          <p:val>
                                            <p:strVal val="#ppt_x"/>
                                          </p:val>
                                        </p:tav>
                                      </p:tavLst>
                                    </p:anim>
                                    <p:anim calcmode="lin" valueType="num">
                                      <p:cBhvr>
                                        <p:cTn id="12" dur="1000" fill="hold"/>
                                        <p:tgtEl>
                                          <p:spTgt spid="11"/>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5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50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1000"/>
                                        <p:tgtEl>
                                          <p:spTgt spid="18"/>
                                        </p:tgtEl>
                                      </p:cBhvr>
                                    </p:animEffect>
                                    <p:anim calcmode="lin" valueType="num">
                                      <p:cBhvr>
                                        <p:cTn id="21" dur="1000" fill="hold"/>
                                        <p:tgtEl>
                                          <p:spTgt spid="18"/>
                                        </p:tgtEl>
                                        <p:attrNameLst>
                                          <p:attrName>ppt_x</p:attrName>
                                        </p:attrNameLst>
                                      </p:cBhvr>
                                      <p:tavLst>
                                        <p:tav tm="0">
                                          <p:val>
                                            <p:strVal val="#ppt_x"/>
                                          </p:val>
                                        </p:tav>
                                        <p:tav tm="100000">
                                          <p:val>
                                            <p:strVal val="#ppt_x"/>
                                          </p:val>
                                        </p:tav>
                                      </p:tavLst>
                                    </p:anim>
                                    <p:anim calcmode="lin" valueType="num">
                                      <p:cBhvr>
                                        <p:cTn id="22" dur="1000" fill="hold"/>
                                        <p:tgtEl>
                                          <p:spTgt spid="18"/>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10" presetClass="entr" presetSubtype="0"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50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par>
                                <p:cTn id="30" presetID="10" presetClass="entr" presetSubtype="0" fill="hold" nodeType="withEffect">
                                  <p:stCondLst>
                                    <p:cond delay="10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par>
                                <p:cTn id="33" presetID="10" presetClass="entr" presetSubtype="0" fill="hold" nodeType="withEffect">
                                  <p:stCondLst>
                                    <p:cond delay="150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F77355C7-823E-679B-0F1D-9DAE80CD1B0C}"/>
            </a:ext>
          </a:extLst>
        </p:cNvPr>
        <p:cNvGrpSpPr/>
        <p:nvPr/>
      </p:nvGrpSpPr>
      <p:grpSpPr>
        <a:xfrm>
          <a:off x="0" y="0"/>
          <a:ext cx="0" cy="0"/>
          <a:chOff x="0" y="0"/>
          <a:chExt cx="0" cy="0"/>
        </a:xfrm>
      </p:grpSpPr>
      <p:sp>
        <p:nvSpPr>
          <p:cNvPr id="183" name="Header">
            <a:extLst>
              <a:ext uri="{FF2B5EF4-FFF2-40B4-BE49-F238E27FC236}">
                <a16:creationId xmlns:a16="http://schemas.microsoft.com/office/drawing/2014/main" id="{51DCC5E4-3522-BC55-EC5E-9DD41CF69196}"/>
              </a:ext>
            </a:extLst>
          </p:cNvPr>
          <p:cNvSpPr txBox="1">
            <a:spLocks noGrp="1"/>
          </p:cNvSpPr>
          <p:nvPr>
            <p:ph type="title"/>
          </p:nvPr>
        </p:nvSpPr>
        <p:spPr>
          <a:noFill/>
          <a:ln>
            <a:noFill/>
          </a:ln>
        </p:spPr>
        <p:txBody>
          <a:bodyPr spcFirstLastPara="1" wrap="square" lIns="0" tIns="0" rIns="0" bIns="0" anchor="b" anchorCtr="0">
            <a:spAutoFit/>
          </a:bodyPr>
          <a:lstStyle/>
          <a:p>
            <a:pPr lvl="0"/>
            <a:r>
              <a:rPr lang="en-US" dirty="0"/>
              <a:t>Welcome to </a:t>
            </a:r>
            <a:br>
              <a:rPr lang="en-US" dirty="0"/>
            </a:br>
            <a:r>
              <a:rPr lang="en-US" dirty="0"/>
              <a:t>OneCon25</a:t>
            </a:r>
          </a:p>
        </p:txBody>
      </p:sp>
      <p:sp>
        <p:nvSpPr>
          <p:cNvPr id="184" name="Subhead">
            <a:extLst>
              <a:ext uri="{FF2B5EF4-FFF2-40B4-BE49-F238E27FC236}">
                <a16:creationId xmlns:a16="http://schemas.microsoft.com/office/drawing/2014/main" id="{4C44AB49-2D2B-F75E-0F1D-F56E027324DB}"/>
              </a:ext>
            </a:extLst>
          </p:cNvPr>
          <p:cNvSpPr txBox="1">
            <a:spLocks noGrp="1"/>
          </p:cNvSpPr>
          <p:nvPr>
            <p:ph type="body" idx="1"/>
          </p:nvPr>
        </p:nvSpPr>
        <p:spPr>
          <a:noFill/>
          <a:ln>
            <a:noFill/>
          </a:ln>
        </p:spPr>
        <p:txBody>
          <a:bodyPr spcFirstLastPara="1" wrap="square" lIns="0" tIns="0" rIns="0" bIns="0" anchor="t" anchorCtr="0">
            <a:spAutoFit/>
          </a:bodyPr>
          <a:lstStyle/>
          <a:p>
            <a:pPr lvl="0"/>
            <a:r>
              <a:rPr lang="en-US" dirty="0"/>
              <a:t>Singularity™ Hyperautomation</a:t>
            </a:r>
          </a:p>
        </p:txBody>
      </p:sp>
      <p:pic>
        <p:nvPicPr>
          <p:cNvPr id="2" name="Orbit" descr="A blue and purple logo&#10;&#10;AI-generated content may be incorrect.">
            <a:extLst>
              <a:ext uri="{FF2B5EF4-FFF2-40B4-BE49-F238E27FC236}">
                <a16:creationId xmlns:a16="http://schemas.microsoft.com/office/drawing/2014/main" id="{3FE9DBA8-06AC-032F-6864-FF3656623D6C}"/>
              </a:ext>
            </a:extLst>
          </p:cNvPr>
          <p:cNvPicPr>
            <a:picLocks noChangeAspect="1"/>
          </p:cNvPicPr>
          <p:nvPr/>
        </p:nvPicPr>
        <p:blipFill>
          <a:blip r:embed="rId4"/>
          <a:stretch>
            <a:fillRect/>
          </a:stretch>
        </p:blipFill>
        <p:spPr>
          <a:xfrm>
            <a:off x="8752840" y="-844062"/>
            <a:ext cx="16449151" cy="11381240"/>
          </a:xfrm>
          <a:prstGeom prst="rect">
            <a:avLst/>
          </a:prstGeom>
        </p:spPr>
      </p:pic>
      <p:pic>
        <p:nvPicPr>
          <p:cNvPr id="3" name="Star 2" descr="A blue light on a black background&#10;&#10;AI-generated content may be incorrect.">
            <a:extLst>
              <a:ext uri="{FF2B5EF4-FFF2-40B4-BE49-F238E27FC236}">
                <a16:creationId xmlns:a16="http://schemas.microsoft.com/office/drawing/2014/main" id="{1B75B2AE-13AB-AD6D-F2BC-1F9DAC8CCB3D}"/>
              </a:ext>
            </a:extLst>
          </p:cNvPr>
          <p:cNvPicPr>
            <a:picLocks noChangeAspect="1"/>
          </p:cNvPicPr>
          <p:nvPr/>
        </p:nvPicPr>
        <p:blipFill>
          <a:blip r:embed="rId5"/>
          <a:stretch>
            <a:fillRect/>
          </a:stretch>
        </p:blipFill>
        <p:spPr>
          <a:xfrm>
            <a:off x="18683866" y="2075314"/>
            <a:ext cx="669840" cy="647297"/>
          </a:xfrm>
          <a:prstGeom prst="rect">
            <a:avLst/>
          </a:prstGeom>
        </p:spPr>
      </p:pic>
      <p:pic>
        <p:nvPicPr>
          <p:cNvPr id="4" name="Star 3" descr="A blue light on a black background&#10;&#10;AI-generated content may be incorrect.">
            <a:extLst>
              <a:ext uri="{FF2B5EF4-FFF2-40B4-BE49-F238E27FC236}">
                <a16:creationId xmlns:a16="http://schemas.microsoft.com/office/drawing/2014/main" id="{82C65330-EE72-0A3C-C92C-6C9BB1CC1C9A}"/>
              </a:ext>
            </a:extLst>
          </p:cNvPr>
          <p:cNvPicPr>
            <a:picLocks noChangeAspect="1"/>
          </p:cNvPicPr>
          <p:nvPr/>
        </p:nvPicPr>
        <p:blipFill>
          <a:blip r:embed="rId5"/>
          <a:stretch>
            <a:fillRect/>
          </a:stretch>
        </p:blipFill>
        <p:spPr>
          <a:xfrm>
            <a:off x="19130281" y="3102247"/>
            <a:ext cx="446850" cy="431812"/>
          </a:xfrm>
          <a:prstGeom prst="rect">
            <a:avLst/>
          </a:prstGeom>
        </p:spPr>
      </p:pic>
      <p:pic>
        <p:nvPicPr>
          <p:cNvPr id="5" name="Star 1" descr="A blue light on a black background&#10;&#10;AI-generated content may be incorrect.">
            <a:extLst>
              <a:ext uri="{FF2B5EF4-FFF2-40B4-BE49-F238E27FC236}">
                <a16:creationId xmlns:a16="http://schemas.microsoft.com/office/drawing/2014/main" id="{4C543043-19B5-87A7-BC4A-E1D4EE830A36}"/>
              </a:ext>
            </a:extLst>
          </p:cNvPr>
          <p:cNvPicPr>
            <a:picLocks noChangeAspect="1"/>
          </p:cNvPicPr>
          <p:nvPr/>
        </p:nvPicPr>
        <p:blipFill>
          <a:blip r:embed="rId5"/>
          <a:stretch>
            <a:fillRect/>
          </a:stretch>
        </p:blipFill>
        <p:spPr>
          <a:xfrm>
            <a:off x="18683866" y="589450"/>
            <a:ext cx="446850" cy="431812"/>
          </a:xfrm>
          <a:prstGeom prst="rect">
            <a:avLst/>
          </a:prstGeom>
        </p:spPr>
      </p:pic>
      <p:pic>
        <p:nvPicPr>
          <p:cNvPr id="8" name="Bitmap" descr="A blue and black rectangle with a white center&#10;&#10;AI-generated content may be incorrect.">
            <a:extLst>
              <a:ext uri="{FF2B5EF4-FFF2-40B4-BE49-F238E27FC236}">
                <a16:creationId xmlns:a16="http://schemas.microsoft.com/office/drawing/2014/main" id="{D5AFA8DD-89CF-DA6A-D813-3102AC49F4EF}"/>
              </a:ext>
            </a:extLst>
          </p:cNvPr>
          <p:cNvPicPr>
            <a:picLocks noChangeAspect="1"/>
          </p:cNvPicPr>
          <p:nvPr/>
        </p:nvPicPr>
        <p:blipFill>
          <a:blip r:embed="rId6"/>
          <a:stretch>
            <a:fillRect/>
          </a:stretch>
        </p:blipFill>
        <p:spPr>
          <a:xfrm>
            <a:off x="-1261034" y="8343991"/>
            <a:ext cx="20501134" cy="5595886"/>
          </a:xfrm>
          <a:prstGeom prst="rect">
            <a:avLst/>
          </a:prstGeom>
        </p:spPr>
      </p:pic>
    </p:spTree>
    <p:custDataLst>
      <p:tags r:id="rId1"/>
    </p:custDataLst>
    <p:extLst>
      <p:ext uri="{BB962C8B-B14F-4D97-AF65-F5344CB8AC3E}">
        <p14:creationId xmlns:p14="http://schemas.microsoft.com/office/powerpoint/2010/main" val="1759989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decel="50000" fill="hold" nodeType="withEffect">
                                  <p:stCondLst>
                                    <p:cond delay="0"/>
                                  </p:stCondLst>
                                  <p:childTnLst>
                                    <p:animMotion origin="layout" path="M 0.03767 -0.01667 L -0.07587 0.03796 L -0.15148 0.08133 L -0.24444 0.13935 L -0.32326 0.20092 L -0.39384 0.26358 L -0.45859 0.33318 L -0.50668 0.39691 L -0.54384 0.45849 L -0.57075 0.50864 L -0.57969 0.53148 " pathEditMode="relative" ptsTypes="AAAAAAAAAAA">
                                      <p:cBhvr>
                                        <p:cTn id="6" dur="2000" fill="hold"/>
                                        <p:tgtEl>
                                          <p:spTgt spid="3"/>
                                        </p:tgtEl>
                                        <p:attrNameLst>
                                          <p:attrName>ppt_x</p:attrName>
                                          <p:attrName>ppt_y</p:attrName>
                                        </p:attrNameLst>
                                      </p:cBhvr>
                                    </p:animMotion>
                                  </p:childTnLst>
                                </p:cTn>
                              </p:par>
                              <p:par>
                                <p:cTn id="7" presetID="0" presetClass="path" presetSubtype="0" decel="50000" fill="hold" nodeType="withEffect">
                                  <p:stCondLst>
                                    <p:cond delay="0"/>
                                  </p:stCondLst>
                                  <p:childTnLst>
                                    <p:animMotion origin="layout" path="M 0.0415 -0.01126 L 0.0375 -0.00941 L -0.13203 0.02685 L -0.24774 0.05803 L -0.36597 0.0983 L -0.54939 0.17624 " pathEditMode="relative" rAng="0" ptsTypes="AAAAAA">
                                      <p:cBhvr>
                                        <p:cTn id="8" dur="2000" fill="hold"/>
                                        <p:tgtEl>
                                          <p:spTgt spid="5"/>
                                        </p:tgtEl>
                                        <p:attrNameLst>
                                          <p:attrName>ppt_x</p:attrName>
                                          <p:attrName>ppt_y</p:attrName>
                                        </p:attrNameLst>
                                      </p:cBhvr>
                                      <p:rCtr x="-29549" y="9367"/>
                                    </p:animMotion>
                                  </p:childTnLst>
                                </p:cTn>
                              </p:par>
                              <p:par>
                                <p:cTn id="9" presetID="0" presetClass="path" presetSubtype="0" decel="50000" fill="hold" nodeType="withEffect">
                                  <p:stCondLst>
                                    <p:cond delay="0"/>
                                  </p:stCondLst>
                                  <p:childTnLst>
                                    <p:animMotion origin="layout" path="M 0.02387 -0.01775 L -0.05886 0.0287 L -0.11068 0.06574 L -0.17136 0.10911 L -0.21424 0.14938 L -0.26962 0.20448 L -0.32075 0.26266 L -0.35469 0.31019 L -0.3678 0.32932 L -0.37726 0.34738 " pathEditMode="relative" ptsTypes="AAAAAAAAAA">
                                      <p:cBhvr>
                                        <p:cTn id="10" dur="2000" fill="hold"/>
                                        <p:tgtEl>
                                          <p:spTgt spid="4"/>
                                        </p:tgtEl>
                                        <p:attrNameLst>
                                          <p:attrName>ppt_x</p:attrName>
                                          <p:attrName>ppt_y</p:attrName>
                                        </p:attrNameLst>
                                      </p:cBhvr>
                                    </p:animMotion>
                                  </p:childTnLst>
                                </p:cTn>
                              </p:par>
                              <p:par>
                                <p:cTn id="11" presetID="42" presetClass="entr" presetSubtype="0" fill="hold" nodeType="withEffect">
                                  <p:stCondLst>
                                    <p:cond delay="15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100"/>
                                        <p:tgtEl>
                                          <p:spTgt spid="8"/>
                                        </p:tgtEl>
                                      </p:cBhvr>
                                    </p:animEffect>
                                    <p:anim calcmode="lin" valueType="num">
                                      <p:cBhvr>
                                        <p:cTn id="14" dur="1100" fill="hold"/>
                                        <p:tgtEl>
                                          <p:spTgt spid="8"/>
                                        </p:tgtEl>
                                        <p:attrNameLst>
                                          <p:attrName>ppt_x</p:attrName>
                                        </p:attrNameLst>
                                      </p:cBhvr>
                                      <p:tavLst>
                                        <p:tav tm="0">
                                          <p:val>
                                            <p:strVal val="#ppt_x"/>
                                          </p:val>
                                        </p:tav>
                                        <p:tav tm="100000">
                                          <p:val>
                                            <p:strVal val="#ppt_x"/>
                                          </p:val>
                                        </p:tav>
                                      </p:tavLst>
                                    </p:anim>
                                    <p:anim calcmode="lin" valueType="num">
                                      <p:cBhvr>
                                        <p:cTn id="15" dur="1100" fill="hold"/>
                                        <p:tgtEl>
                                          <p:spTgt spid="8"/>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100"/>
                                        <p:tgtEl>
                                          <p:spTgt spid="2"/>
                                        </p:tgtEl>
                                      </p:cBhvr>
                                    </p:animEffect>
                                    <p:anim calcmode="lin" valueType="num">
                                      <p:cBhvr>
                                        <p:cTn id="19" dur="1100" fill="hold"/>
                                        <p:tgtEl>
                                          <p:spTgt spid="2"/>
                                        </p:tgtEl>
                                        <p:attrNameLst>
                                          <p:attrName>ppt_x</p:attrName>
                                        </p:attrNameLst>
                                      </p:cBhvr>
                                      <p:tavLst>
                                        <p:tav tm="0">
                                          <p:val>
                                            <p:strVal val="#ppt_x"/>
                                          </p:val>
                                        </p:tav>
                                        <p:tav tm="100000">
                                          <p:val>
                                            <p:strVal val="#ppt_x"/>
                                          </p:val>
                                        </p:tav>
                                      </p:tavLst>
                                    </p:anim>
                                    <p:anim calcmode="lin" valueType="num">
                                      <p:cBhvr>
                                        <p:cTn id="20" dur="11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0" name="Google Shape;190;p3"/>
          <p:cNvSpPr txBox="1">
            <a:spLocks noGrp="1"/>
          </p:cNvSpPr>
          <p:nvPr>
            <p:ph type="body" idx="1"/>
          </p:nvPr>
        </p:nvSpPr>
        <p:spPr>
          <a:xfrm>
            <a:off x="10270122" y="866773"/>
            <a:ext cx="7255878" cy="7650210"/>
          </a:xfrm>
          <a:noFill/>
          <a:ln>
            <a:noFill/>
          </a:ln>
        </p:spPr>
        <p:txBody>
          <a:bodyPr spcFirstLastPara="1" wrap="square" lIns="0" tIns="45700" rIns="0" bIns="45700" anchor="ctr" anchorCtr="0">
            <a:normAutofit/>
          </a:bodyPr>
          <a:lstStyle/>
          <a:p>
            <a:pPr lvl="0"/>
            <a:r>
              <a:rPr lang="en-US" dirty="0"/>
              <a:t>Hyperautomation Overview</a:t>
            </a:r>
          </a:p>
          <a:p>
            <a:pPr lvl="0"/>
            <a:r>
              <a:rPr lang="en-US" dirty="0"/>
              <a:t>Fundamentals of Hyperautomation</a:t>
            </a:r>
          </a:p>
          <a:p>
            <a:pPr lvl="0"/>
            <a:r>
              <a:rPr lang="en-US" dirty="0"/>
              <a:t>Workflow Use Cases</a:t>
            </a:r>
          </a:p>
        </p:txBody>
      </p:sp>
      <p:sp>
        <p:nvSpPr>
          <p:cNvPr id="189" name="Google Shape;189;p3"/>
          <p:cNvSpPr txBox="1">
            <a:spLocks noGrp="1"/>
          </p:cNvSpPr>
          <p:nvPr>
            <p:ph type="title"/>
          </p:nvPr>
        </p:nvSpPr>
        <p:spPr>
          <a:xfrm flipH="1">
            <a:off x="762000" y="5371423"/>
            <a:ext cx="8159931" cy="1661993"/>
          </a:xfrm>
          <a:noFill/>
          <a:ln>
            <a:noFill/>
          </a:ln>
        </p:spPr>
        <p:txBody>
          <a:bodyPr spcFirstLastPara="1" wrap="square" lIns="0" tIns="0" rIns="0" bIns="0" anchor="t" anchorCtr="0">
            <a:spAutoFit/>
          </a:bodyPr>
          <a:lstStyle/>
          <a:p>
            <a:pPr lvl="0"/>
            <a:r>
              <a:rPr lang="en-US" dirty="0"/>
              <a:t>Session</a:t>
            </a:r>
            <a:br>
              <a:rPr lang="en-US" dirty="0"/>
            </a:br>
            <a:r>
              <a:rPr lang="en-US" dirty="0"/>
              <a:t>Agenda</a:t>
            </a:r>
          </a:p>
        </p:txBody>
      </p:sp>
      <p:pic>
        <p:nvPicPr>
          <p:cNvPr id="22" name="Bitmap" descr="A blue and black rectangle with a white center&#10;&#10;AI-generated content may be incorrect.">
            <a:extLst>
              <a:ext uri="{FF2B5EF4-FFF2-40B4-BE49-F238E27FC236}">
                <a16:creationId xmlns:a16="http://schemas.microsoft.com/office/drawing/2014/main" id="{48D499A9-39F3-7C29-48DC-56265A4FE027}"/>
              </a:ext>
            </a:extLst>
          </p:cNvPr>
          <p:cNvPicPr>
            <a:picLocks noChangeAspect="1"/>
          </p:cNvPicPr>
          <p:nvPr/>
        </p:nvPicPr>
        <p:blipFill>
          <a:blip r:embed="rId4"/>
          <a:stretch>
            <a:fillRect/>
          </a:stretch>
        </p:blipFill>
        <p:spPr>
          <a:xfrm>
            <a:off x="-1261034" y="8343991"/>
            <a:ext cx="20501134" cy="5595886"/>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4"/>
          <p:cNvSpPr txBox="1"/>
          <p:nvPr/>
        </p:nvSpPr>
        <p:spPr>
          <a:xfrm>
            <a:off x="819152" y="1422691"/>
            <a:ext cx="16659223" cy="782955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1500"/>
              </a:spcBef>
              <a:spcAft>
                <a:spcPts val="0"/>
              </a:spcAft>
              <a:buClr>
                <a:schemeClr val="accent1"/>
              </a:buClr>
              <a:buSzPts val="2200"/>
              <a:buFont typeface="Arial"/>
              <a:buNone/>
            </a:pPr>
            <a:r>
              <a:rPr lang="en-US" sz="2200" u="none" strike="noStrike" cap="none" dirty="0">
                <a:solidFill>
                  <a:srgbClr val="23273C"/>
                </a:solidFill>
                <a:latin typeface="Arial" panose="020B0604020202020204" pitchFamily="34" charset="0"/>
                <a:sym typeface="Arial"/>
              </a:rPr>
              <a:t>This presentation contains forward-looking statements of </a:t>
            </a:r>
            <a:r>
              <a:rPr lang="en-US" sz="2200" u="none" strike="noStrike" cap="none" dirty="0" err="1">
                <a:solidFill>
                  <a:srgbClr val="23273C"/>
                </a:solidFill>
                <a:latin typeface="Arial" panose="020B0604020202020204" pitchFamily="34" charset="0"/>
                <a:sym typeface="Arial"/>
              </a:rPr>
              <a:t>SentinelOne</a:t>
            </a:r>
            <a:r>
              <a:rPr lang="en-US" sz="2200" u="none" strike="noStrike" cap="none" dirty="0">
                <a:solidFill>
                  <a:srgbClr val="23273C"/>
                </a:solidFill>
                <a:latin typeface="Arial" panose="020B0604020202020204" pitchFamily="34" charset="0"/>
                <a:sym typeface="Arial"/>
              </a:rPr>
              <a:t>, Inc. (“</a:t>
            </a:r>
            <a:r>
              <a:rPr lang="en-US" sz="2200" u="none" strike="noStrike" cap="none" dirty="0" err="1">
                <a:solidFill>
                  <a:srgbClr val="23273C"/>
                </a:solidFill>
                <a:latin typeface="Arial" panose="020B0604020202020204" pitchFamily="34" charset="0"/>
                <a:sym typeface="Arial"/>
              </a:rPr>
              <a:t>SentinelOne</a:t>
            </a:r>
            <a:r>
              <a:rPr lang="en-US" sz="2200" u="none" strike="noStrike" cap="none" dirty="0">
                <a:solidFill>
                  <a:srgbClr val="23273C"/>
                </a:solidFill>
                <a:latin typeface="Arial" panose="020B0604020202020204" pitchFamily="34" charset="0"/>
                <a:sym typeface="Arial"/>
              </a:rPr>
              <a:t>” or the “Company”), within the meaning of Section 27A of the Securities Act of 1933, as amended, and Section 21E of the Securities Exchange Act of 1934, as amended, which statements involve risks and uncertainties, including statements regarding our future growth, and future financial and operating performance, competition and our competitive position, technological capabilities and strategic relationships, future product releases or capabilities, business strategy and our ability to execute our business plans, the COVID-19 pandemic, our reputation and performance in the market, general market trends, outstanding shares, market growth, and our objectives are forward-looking statements. The words “believe,” “may,” “will,” “potentially,” “estimate,” “continue,” “anticipate,” “intend,” “could,” “would,” “project,” “target,” “plan,” “expect,” or the negative of these terms and similar expressions are intended to identify forward-looking statements. However, not all forward-looking statements contain these identifying words. Forward-looking statements should not be read as a guarantee of future performance or results and will not necessarily be accurate indications of the times at, or by, which such performance or results will be achieved, if at all. </a:t>
            </a:r>
            <a:endParaRPr sz="1400" u="none" strike="noStrike" cap="none" dirty="0">
              <a:solidFill>
                <a:srgbClr val="000000"/>
              </a:solidFill>
              <a:latin typeface="Arial" panose="020B0604020202020204" pitchFamily="34" charset="0"/>
              <a:sym typeface="Arial"/>
            </a:endParaRPr>
          </a:p>
          <a:p>
            <a:pPr marL="0" marR="0" lvl="0" indent="0" algn="l" rtl="0">
              <a:lnSpc>
                <a:spcPct val="110000"/>
              </a:lnSpc>
              <a:spcBef>
                <a:spcPts val="1500"/>
              </a:spcBef>
              <a:spcAft>
                <a:spcPts val="0"/>
              </a:spcAft>
              <a:buClr>
                <a:schemeClr val="accent1"/>
              </a:buClr>
              <a:buSzPts val="2200"/>
              <a:buFont typeface="Arial"/>
              <a:buNone/>
            </a:pPr>
            <a:r>
              <a:rPr lang="en-US" sz="2200" u="none" strike="noStrike" cap="none" dirty="0">
                <a:solidFill>
                  <a:srgbClr val="23273C"/>
                </a:solidFill>
                <a:latin typeface="Arial" panose="020B0604020202020204" pitchFamily="34" charset="0"/>
                <a:sym typeface="Arial"/>
              </a:rPr>
              <a:t>Forward-looking statements are based on information available at the time those statements are made and/or management’s good faith beliefs and assumptions as of that time with respect to future events, and are subject to risks and uncertainties that could cause actual performance or results to differ materially from those expressed in or suggested by the forward looking statements. In light of these risks and uncertainties, the forward-looking events and circumstances discussed in this presentation may not occur and actual results could differ materially from those anticipated or implied in the forward-looking statements. These risks and uncertainties are described in greater detail under the headings “Risk Factors” and “Management’s Discussion and Analysis of Financial Condition and Results of Operations” in the filings we make with the Securities and Exchange Commission (“SEC”) from time to time, which are available on our website at </a:t>
            </a:r>
            <a:r>
              <a:rPr lang="en-US" sz="2200" u="sng" strike="noStrike" cap="none" dirty="0">
                <a:solidFill>
                  <a:schemeClr val="accent1"/>
                </a:solidFill>
                <a:latin typeface="Arial" panose="020B0604020202020204" pitchFamily="34" charset="0"/>
                <a:sym typeface="Arial"/>
                <a:hlinkClick r:id="rId4">
                  <a:extLst>
                    <a:ext uri="{A12FA001-AC4F-418D-AE19-62706E023703}">
                      <ahyp:hlinkClr xmlns:ahyp="http://schemas.microsoft.com/office/drawing/2018/hyperlinkcolor" val="tx"/>
                    </a:ext>
                  </a:extLst>
                </a:hlinkClick>
              </a:rPr>
              <a:t>http://investors.SentinelOne.com</a:t>
            </a:r>
            <a:r>
              <a:rPr lang="en-US" sz="2200" u="none" strike="noStrike" cap="none" dirty="0">
                <a:solidFill>
                  <a:schemeClr val="accent1"/>
                </a:solidFill>
                <a:latin typeface="Arial" panose="020B0604020202020204" pitchFamily="34" charset="0"/>
                <a:sym typeface="Arial"/>
              </a:rPr>
              <a:t> </a:t>
            </a:r>
            <a:r>
              <a:rPr lang="en-US" sz="2200" u="none" strike="noStrike" cap="none" dirty="0">
                <a:solidFill>
                  <a:srgbClr val="23273C"/>
                </a:solidFill>
                <a:latin typeface="Arial" panose="020B0604020202020204" pitchFamily="34" charset="0"/>
                <a:sym typeface="Arial"/>
              </a:rPr>
              <a:t>and on the SEC’s website at </a:t>
            </a:r>
            <a:r>
              <a:rPr lang="en-US" sz="2200" u="sng" strike="noStrike" cap="none" dirty="0">
                <a:solidFill>
                  <a:schemeClr val="accent1"/>
                </a:solidFill>
                <a:latin typeface="Arial" panose="020B0604020202020204" pitchFamily="34" charset="0"/>
                <a:sym typeface="Arial"/>
                <a:hlinkClick r:id="rId5">
                  <a:extLst>
                    <a:ext uri="{A12FA001-AC4F-418D-AE19-62706E023703}">
                      <ahyp:hlinkClr xmlns:ahyp="http://schemas.microsoft.com/office/drawing/2018/hyperlinkcolor" val="tx"/>
                    </a:ext>
                  </a:extLst>
                </a:hlinkClick>
              </a:rPr>
              <a:t>www.sec.gov</a:t>
            </a:r>
            <a:r>
              <a:rPr lang="en-US" sz="2200" u="none" strike="noStrike" cap="none" dirty="0">
                <a:solidFill>
                  <a:srgbClr val="23273C"/>
                </a:solidFill>
                <a:latin typeface="Arial" panose="020B0604020202020204" pitchFamily="34" charset="0"/>
                <a:sym typeface="Arial"/>
              </a:rPr>
              <a:t>.</a:t>
            </a:r>
            <a:endParaRPr sz="1400" u="none" strike="noStrike" cap="none" dirty="0">
              <a:solidFill>
                <a:srgbClr val="000000"/>
              </a:solidFill>
              <a:latin typeface="Arial" panose="020B0604020202020204" pitchFamily="34" charset="0"/>
              <a:sym typeface="Arial"/>
            </a:endParaRPr>
          </a:p>
        </p:txBody>
      </p:sp>
      <p:sp>
        <p:nvSpPr>
          <p:cNvPr id="196" name="Google Shape;196;p4"/>
          <p:cNvSpPr txBox="1">
            <a:spLocks noGrp="1"/>
          </p:cNvSpPr>
          <p:nvPr>
            <p:ph type="title"/>
          </p:nvPr>
        </p:nvSpPr>
        <p:spPr>
          <a:xfrm>
            <a:off x="819152" y="504825"/>
            <a:ext cx="16659223" cy="923925"/>
          </a:xfrm>
          <a:prstGeom prst="rect">
            <a:avLst/>
          </a:prstGeom>
          <a:noFill/>
          <a:ln>
            <a:noFill/>
          </a:ln>
        </p:spPr>
        <p:txBody>
          <a:bodyPr spcFirstLastPara="1" wrap="square" lIns="0" tIns="45700" rIns="0" bIns="45700" anchor="t" anchorCtr="0">
            <a:normAutofit/>
          </a:bodyPr>
          <a:lstStyle/>
          <a:p>
            <a:pPr marL="0" lvl="0" indent="0" algn="l" rtl="0">
              <a:lnSpc>
                <a:spcPct val="90000"/>
              </a:lnSpc>
              <a:spcBef>
                <a:spcPts val="0"/>
              </a:spcBef>
              <a:spcAft>
                <a:spcPts val="0"/>
              </a:spcAft>
              <a:buClr>
                <a:schemeClr val="dk1"/>
              </a:buClr>
              <a:buSzPts val="5800"/>
              <a:buFont typeface="Arial"/>
              <a:buNone/>
            </a:pPr>
            <a:r>
              <a:rPr lang="en-US"/>
              <a:t>Safe Harbor</a:t>
            </a:r>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pic>
        <p:nvPicPr>
          <p:cNvPr id="5" name="Picture Placeholder 4" descr="A person with a beard and mustache&#10;&#10;AI-generated content may be incorrect.">
            <a:extLst>
              <a:ext uri="{FF2B5EF4-FFF2-40B4-BE49-F238E27FC236}">
                <a16:creationId xmlns:a16="http://schemas.microsoft.com/office/drawing/2014/main" id="{FA46B102-B914-21E5-8924-CAE23FB7161C}"/>
              </a:ext>
            </a:extLst>
          </p:cNvPr>
          <p:cNvPicPr>
            <a:picLocks noGrp="1" noChangeAspect="1"/>
          </p:cNvPicPr>
          <p:nvPr>
            <p:ph type="pic" idx="2"/>
          </p:nvPr>
        </p:nvPicPr>
        <p:blipFill>
          <a:blip r:embed="rId4"/>
          <a:srcRect l="7498" r="7498"/>
          <a:stretch>
            <a:fillRect/>
          </a:stretch>
        </p:blipFill>
        <p:spPr>
          <a:xfrm>
            <a:off x="3878263" y="3063875"/>
            <a:ext cx="4159250" cy="4159250"/>
          </a:xfrm>
          <a:prstGeom prst="ellipse">
            <a:avLst/>
          </a:prstGeom>
          <a:solidFill>
            <a:srgbClr val="B8BACC"/>
          </a:solidFill>
          <a:ln>
            <a:noFill/>
          </a:ln>
          <a:effectLst/>
        </p:spPr>
      </p:pic>
      <p:sp>
        <p:nvSpPr>
          <p:cNvPr id="392" name="Google Shape;392;p19"/>
          <p:cNvSpPr txBox="1">
            <a:spLocks noGrp="1"/>
          </p:cNvSpPr>
          <p:nvPr>
            <p:ph type="body" idx="1"/>
          </p:nvPr>
        </p:nvSpPr>
        <p:spPr>
          <a:xfrm>
            <a:off x="9486901" y="4033710"/>
            <a:ext cx="7831097" cy="89127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SzPts val="4800"/>
              <a:buNone/>
            </a:pPr>
            <a:r>
              <a:rPr lang="en-US" dirty="0">
                <a:solidFill>
                  <a:schemeClr val="dk1"/>
                </a:solidFill>
              </a:rPr>
              <a:t>Shawn Stugart</a:t>
            </a:r>
            <a:endParaRPr dirty="0">
              <a:solidFill>
                <a:schemeClr val="dk1"/>
              </a:solidFill>
            </a:endParaRPr>
          </a:p>
        </p:txBody>
      </p:sp>
      <p:sp>
        <p:nvSpPr>
          <p:cNvPr id="393" name="Google Shape;393;p19"/>
          <p:cNvSpPr txBox="1">
            <a:spLocks noGrp="1"/>
          </p:cNvSpPr>
          <p:nvPr>
            <p:ph type="body" idx="3"/>
          </p:nvPr>
        </p:nvSpPr>
        <p:spPr>
          <a:xfrm>
            <a:off x="9486900" y="5338368"/>
            <a:ext cx="6218538" cy="532862"/>
          </a:xfrm>
          <a:prstGeom prst="rect">
            <a:avLst/>
          </a:prstGeom>
          <a:noFill/>
          <a:ln>
            <a:noFill/>
          </a:ln>
        </p:spPr>
        <p:txBody>
          <a:bodyPr spcFirstLastPara="1" wrap="square" lIns="0" tIns="45700" rIns="0" bIns="45700" anchor="t" anchorCtr="0">
            <a:noAutofit/>
          </a:bodyPr>
          <a:lstStyle/>
          <a:p>
            <a:pPr marL="0" lvl="0" indent="0" algn="l" rtl="0">
              <a:lnSpc>
                <a:spcPct val="75000"/>
              </a:lnSpc>
              <a:spcBef>
                <a:spcPts val="150"/>
              </a:spcBef>
              <a:spcAft>
                <a:spcPts val="0"/>
              </a:spcAft>
              <a:buSzPts val="3000"/>
              <a:buNone/>
            </a:pPr>
            <a:r>
              <a:rPr lang="en-US" dirty="0">
                <a:solidFill>
                  <a:schemeClr val="dk1"/>
                </a:solidFill>
              </a:rPr>
              <a:t>Staff Technical Content Developer</a:t>
            </a:r>
            <a:endParaRPr dirty="0">
              <a:solidFill>
                <a:schemeClr val="dk1"/>
              </a:solidFill>
            </a:endParaRPr>
          </a:p>
        </p:txBody>
      </p:sp>
      <p:sp>
        <p:nvSpPr>
          <p:cNvPr id="394" name="Google Shape;394;p19"/>
          <p:cNvSpPr txBox="1">
            <a:spLocks noGrp="1"/>
          </p:cNvSpPr>
          <p:nvPr>
            <p:ph type="body" idx="4"/>
          </p:nvPr>
        </p:nvSpPr>
        <p:spPr>
          <a:xfrm>
            <a:off x="9486900" y="5871230"/>
            <a:ext cx="5154023" cy="447835"/>
          </a:xfrm>
          <a:prstGeom prst="rect">
            <a:avLst/>
          </a:prstGeom>
          <a:noFill/>
          <a:ln>
            <a:noFill/>
          </a:ln>
        </p:spPr>
        <p:txBody>
          <a:bodyPr spcFirstLastPara="1" wrap="square" lIns="0" tIns="45700" rIns="0" bIns="45700" anchor="t" anchorCtr="0">
            <a:noAutofit/>
          </a:bodyPr>
          <a:lstStyle/>
          <a:p>
            <a:pPr marL="0" lvl="0" indent="0" algn="l" rtl="0">
              <a:lnSpc>
                <a:spcPct val="75000"/>
              </a:lnSpc>
              <a:spcBef>
                <a:spcPts val="150"/>
              </a:spcBef>
              <a:spcAft>
                <a:spcPts val="0"/>
              </a:spcAft>
              <a:buSzPts val="3000"/>
              <a:buNone/>
            </a:pPr>
            <a:r>
              <a:rPr lang="en-US" dirty="0" err="1">
                <a:solidFill>
                  <a:schemeClr val="dk1"/>
                </a:solidFill>
              </a:rPr>
              <a:t>SentinelOne</a:t>
            </a:r>
            <a:endParaRPr dirty="0">
              <a:solidFill>
                <a:schemeClr val="dk1"/>
              </a:solidFill>
            </a:endParaRPr>
          </a:p>
        </p:txBody>
      </p:sp>
      <p:sp>
        <p:nvSpPr>
          <p:cNvPr id="2" name="Google Shape;394;p19">
            <a:extLst>
              <a:ext uri="{FF2B5EF4-FFF2-40B4-BE49-F238E27FC236}">
                <a16:creationId xmlns:a16="http://schemas.microsoft.com/office/drawing/2014/main" id="{FA224EF8-1FB7-28FF-18A6-123564D55C6A}"/>
              </a:ext>
            </a:extLst>
          </p:cNvPr>
          <p:cNvSpPr txBox="1">
            <a:spLocks/>
          </p:cNvSpPr>
          <p:nvPr/>
        </p:nvSpPr>
        <p:spPr>
          <a:xfrm>
            <a:off x="9483660" y="6412737"/>
            <a:ext cx="5691489" cy="447835"/>
          </a:xfrm>
          <a:prstGeom prst="rect">
            <a:avLst/>
          </a:prstGeom>
          <a:noFill/>
          <a:ln>
            <a:noFill/>
          </a:ln>
        </p:spPr>
        <p:txBody>
          <a:bodyPr spcFirstLastPara="1" wrap="square" lIns="0" tIns="45700" rIns="0" bIns="45700" anchor="t" anchorCtr="0">
            <a:noAutofit/>
          </a:bodyPr>
          <a:lstStyle>
            <a:defPPr marR="0" lvl="0" algn="l" rtl="0">
              <a:lnSpc>
                <a:spcPct val="100000"/>
              </a:lnSpc>
              <a:spcBef>
                <a:spcPts val="0"/>
              </a:spcBef>
              <a:spcAft>
                <a:spcPts val="0"/>
              </a:spcAft>
            </a:defPPr>
            <a:lvl1pPr marL="457200" marR="0" lvl="0" indent="-228600" algn="l" rtl="0">
              <a:lnSpc>
                <a:spcPct val="75000"/>
              </a:lnSpc>
              <a:spcBef>
                <a:spcPts val="150"/>
              </a:spcBef>
              <a:spcAft>
                <a:spcPts val="0"/>
              </a:spcAft>
              <a:buClr>
                <a:schemeClr val="accent1"/>
              </a:buClr>
              <a:buSzPts val="3000"/>
              <a:buFont typeface="Arial"/>
              <a:buNone/>
              <a:defRPr sz="3000" b="0" i="0" u="none" strike="noStrike" cap="none">
                <a:solidFill>
                  <a:srgbClr val="010A27"/>
                </a:solidFill>
                <a:latin typeface="Arial" panose="020B0604020202020204" pitchFamily="34" charset="0"/>
                <a:ea typeface="Arial" panose="020B0604020202020204" pitchFamily="34" charset="0"/>
                <a:cs typeface="Arial"/>
                <a:sym typeface="Arial"/>
              </a:defRPr>
            </a:lvl1pPr>
            <a:lvl2pPr marL="914400" marR="0" lvl="1" indent="-228600" algn="l" rtl="0">
              <a:lnSpc>
                <a:spcPct val="100000"/>
              </a:lnSpc>
              <a:spcBef>
                <a:spcPts val="900"/>
              </a:spcBef>
              <a:spcAft>
                <a:spcPts val="0"/>
              </a:spcAft>
              <a:buClr>
                <a:schemeClr val="accent1"/>
              </a:buClr>
              <a:buSzPts val="2000"/>
              <a:buFont typeface="Arial"/>
              <a:buNone/>
              <a:defRPr sz="20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8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6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2700" b="0" i="0" u="none" strike="noStrike" cap="none">
                <a:solidFill>
                  <a:schemeClr val="dk1"/>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2700" b="0" i="0" u="none" strike="noStrike" cap="none">
                <a:solidFill>
                  <a:schemeClr val="dk1"/>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2700" b="0" i="0" u="none" strike="noStrike" cap="none">
                <a:solidFill>
                  <a:schemeClr val="dk1"/>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2700" b="0" i="0" u="none" strike="noStrike" cap="none">
                <a:solidFill>
                  <a:schemeClr val="dk1"/>
                </a:solidFill>
                <a:latin typeface="Arial"/>
                <a:ea typeface="Arial"/>
                <a:cs typeface="Arial"/>
                <a:sym typeface="Arial"/>
              </a:defRPr>
            </a:lvl9pPr>
          </a:lstStyle>
          <a:p>
            <a:pPr marL="0" indent="0"/>
            <a:r>
              <a:rPr lang="en-US" dirty="0">
                <a:solidFill>
                  <a:schemeClr val="dk1"/>
                </a:solidFill>
              </a:rPr>
              <a:t>shawn.stugart@sentinelone.com</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B4CB8B2-ECC8-1B74-EAE7-78D119EFBD88}"/>
              </a:ext>
            </a:extLst>
          </p:cNvPr>
          <p:cNvPicPr>
            <a:picLocks noChangeAspect="1"/>
          </p:cNvPicPr>
          <p:nvPr/>
        </p:nvPicPr>
        <p:blipFill>
          <a:blip r:embed="rId4"/>
          <a:stretch>
            <a:fillRect/>
          </a:stretch>
        </p:blipFill>
        <p:spPr>
          <a:xfrm>
            <a:off x="1149382" y="87682"/>
            <a:ext cx="16036327" cy="9767731"/>
          </a:xfrm>
          <a:prstGeom prst="rect">
            <a:avLst/>
          </a:prstGeom>
        </p:spPr>
      </p:pic>
    </p:spTree>
    <p:custDataLst>
      <p:tags r:id="rId1"/>
    </p:custDataLst>
    <p:extLst>
      <p:ext uri="{BB962C8B-B14F-4D97-AF65-F5344CB8AC3E}">
        <p14:creationId xmlns:p14="http://schemas.microsoft.com/office/powerpoint/2010/main" val="2692445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8D5064C-ED62-761B-595A-947C6D0ADFE7}"/>
              </a:ext>
            </a:extLst>
          </p:cNvPr>
          <p:cNvPicPr>
            <a:picLocks noChangeAspect="1"/>
          </p:cNvPicPr>
          <p:nvPr/>
        </p:nvPicPr>
        <p:blipFill>
          <a:blip r:embed="rId3"/>
          <a:stretch>
            <a:fillRect/>
          </a:stretch>
        </p:blipFill>
        <p:spPr>
          <a:xfrm>
            <a:off x="550305" y="386596"/>
            <a:ext cx="7040468" cy="9208613"/>
          </a:xfrm>
          <a:prstGeom prst="rect">
            <a:avLst/>
          </a:prstGeom>
        </p:spPr>
      </p:pic>
      <p:pic>
        <p:nvPicPr>
          <p:cNvPr id="10" name="Picture 9">
            <a:extLst>
              <a:ext uri="{FF2B5EF4-FFF2-40B4-BE49-F238E27FC236}">
                <a16:creationId xmlns:a16="http://schemas.microsoft.com/office/drawing/2014/main" id="{310165EF-20B9-89E6-14F0-84766C2B5B0D}"/>
              </a:ext>
            </a:extLst>
          </p:cNvPr>
          <p:cNvPicPr>
            <a:picLocks noChangeAspect="1"/>
          </p:cNvPicPr>
          <p:nvPr/>
        </p:nvPicPr>
        <p:blipFill>
          <a:blip r:embed="rId4"/>
          <a:stretch>
            <a:fillRect/>
          </a:stretch>
        </p:blipFill>
        <p:spPr>
          <a:xfrm>
            <a:off x="7964078" y="499821"/>
            <a:ext cx="6065073" cy="2186247"/>
          </a:xfrm>
          <a:prstGeom prst="rect">
            <a:avLst/>
          </a:prstGeom>
        </p:spPr>
      </p:pic>
      <p:pic>
        <p:nvPicPr>
          <p:cNvPr id="12" name="Picture 11">
            <a:extLst>
              <a:ext uri="{FF2B5EF4-FFF2-40B4-BE49-F238E27FC236}">
                <a16:creationId xmlns:a16="http://schemas.microsoft.com/office/drawing/2014/main" id="{6E9F08EC-D729-F090-C526-54B5C7F5553D}"/>
              </a:ext>
            </a:extLst>
          </p:cNvPr>
          <p:cNvPicPr>
            <a:picLocks noChangeAspect="1"/>
          </p:cNvPicPr>
          <p:nvPr/>
        </p:nvPicPr>
        <p:blipFill>
          <a:blip r:embed="rId5"/>
          <a:stretch>
            <a:fillRect/>
          </a:stretch>
        </p:blipFill>
        <p:spPr>
          <a:xfrm>
            <a:off x="9003738" y="2686068"/>
            <a:ext cx="4318955" cy="6909141"/>
          </a:xfrm>
          <a:prstGeom prst="rect">
            <a:avLst/>
          </a:prstGeom>
        </p:spPr>
      </p:pic>
      <p:sp>
        <p:nvSpPr>
          <p:cNvPr id="13" name="Arrow: Left 12">
            <a:extLst>
              <a:ext uri="{FF2B5EF4-FFF2-40B4-BE49-F238E27FC236}">
                <a16:creationId xmlns:a16="http://schemas.microsoft.com/office/drawing/2014/main" id="{8D1FDAE3-953F-9A3B-3B0A-286CCC1EE69D}"/>
              </a:ext>
            </a:extLst>
          </p:cNvPr>
          <p:cNvSpPr/>
          <p:nvPr/>
        </p:nvSpPr>
        <p:spPr>
          <a:xfrm>
            <a:off x="13077173" y="8116866"/>
            <a:ext cx="2267211" cy="52609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Left 13">
            <a:extLst>
              <a:ext uri="{FF2B5EF4-FFF2-40B4-BE49-F238E27FC236}">
                <a16:creationId xmlns:a16="http://schemas.microsoft.com/office/drawing/2014/main" id="{958BADB9-246A-CE52-FA0E-597FA8D81739}"/>
              </a:ext>
            </a:extLst>
          </p:cNvPr>
          <p:cNvSpPr/>
          <p:nvPr/>
        </p:nvSpPr>
        <p:spPr>
          <a:xfrm>
            <a:off x="13567775" y="1117948"/>
            <a:ext cx="2267211" cy="52609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756002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4">
          <a:extLst>
            <a:ext uri="{FF2B5EF4-FFF2-40B4-BE49-F238E27FC236}">
              <a16:creationId xmlns:a16="http://schemas.microsoft.com/office/drawing/2014/main" id="{181D2628-0F14-D3A6-7D6E-A9D7DCE4174C}"/>
            </a:ext>
          </a:extLst>
        </p:cNvPr>
        <p:cNvGrpSpPr/>
        <p:nvPr/>
      </p:nvGrpSpPr>
      <p:grpSpPr>
        <a:xfrm>
          <a:off x="0" y="0"/>
          <a:ext cx="0" cy="0"/>
          <a:chOff x="0" y="0"/>
          <a:chExt cx="0" cy="0"/>
        </a:xfrm>
      </p:grpSpPr>
      <p:sp>
        <p:nvSpPr>
          <p:cNvPr id="385" name="Google Shape;385;p18">
            <a:extLst>
              <a:ext uri="{FF2B5EF4-FFF2-40B4-BE49-F238E27FC236}">
                <a16:creationId xmlns:a16="http://schemas.microsoft.com/office/drawing/2014/main" id="{345790BD-2178-B153-50EF-8912031BED29}"/>
              </a:ext>
            </a:extLst>
          </p:cNvPr>
          <p:cNvSpPr txBox="1">
            <a:spLocks noGrp="1"/>
          </p:cNvSpPr>
          <p:nvPr>
            <p:ph type="title"/>
          </p:nvPr>
        </p:nvSpPr>
        <p:spPr>
          <a:xfrm>
            <a:off x="761935" y="5177499"/>
            <a:ext cx="8134930" cy="1846659"/>
          </a:xfrm>
          <a:noFill/>
          <a:ln>
            <a:noFill/>
          </a:ln>
        </p:spPr>
        <p:txBody>
          <a:bodyPr spcFirstLastPara="1" wrap="square" lIns="0" tIns="0" rIns="0" bIns="0" anchor="b" anchorCtr="0">
            <a:spAutoFit/>
          </a:bodyPr>
          <a:lstStyle/>
          <a:p>
            <a:pPr lvl="0"/>
            <a:r>
              <a:rPr lang="en-US" dirty="0"/>
              <a:t>Hyperautomation Overview</a:t>
            </a:r>
          </a:p>
        </p:txBody>
      </p:sp>
      <p:pic>
        <p:nvPicPr>
          <p:cNvPr id="15" name="Pixelhead" descr="A blue and purple pixelated arrow&#10;&#10;AI-generated content may be incorrect.">
            <a:extLst>
              <a:ext uri="{FF2B5EF4-FFF2-40B4-BE49-F238E27FC236}">
                <a16:creationId xmlns:a16="http://schemas.microsoft.com/office/drawing/2014/main" id="{D80BF392-5C26-1159-6FAC-3070CA4D60B0}"/>
              </a:ext>
            </a:extLst>
          </p:cNvPr>
          <p:cNvPicPr>
            <a:picLocks noChangeAspect="1"/>
          </p:cNvPicPr>
          <p:nvPr/>
        </p:nvPicPr>
        <p:blipFill>
          <a:blip r:embed="rId4"/>
          <a:stretch>
            <a:fillRect/>
          </a:stretch>
        </p:blipFill>
        <p:spPr>
          <a:xfrm>
            <a:off x="8676640" y="1719175"/>
            <a:ext cx="8966200" cy="6848650"/>
          </a:xfrm>
          <a:prstGeom prst="rect">
            <a:avLst/>
          </a:prstGeom>
        </p:spPr>
      </p:pic>
      <p:pic>
        <p:nvPicPr>
          <p:cNvPr id="21" name="Bitmap" descr="A blue and black rectangle with a white center&#10;&#10;AI-generated content may be incorrect.">
            <a:extLst>
              <a:ext uri="{FF2B5EF4-FFF2-40B4-BE49-F238E27FC236}">
                <a16:creationId xmlns:a16="http://schemas.microsoft.com/office/drawing/2014/main" id="{2DD3A2E7-6142-D542-70E7-3AC5DE1034FE}"/>
              </a:ext>
            </a:extLst>
          </p:cNvPr>
          <p:cNvPicPr>
            <a:picLocks noChangeAspect="1"/>
          </p:cNvPicPr>
          <p:nvPr/>
        </p:nvPicPr>
        <p:blipFill>
          <a:blip r:embed="rId5"/>
          <a:stretch>
            <a:fillRect/>
          </a:stretch>
        </p:blipFill>
        <p:spPr>
          <a:xfrm>
            <a:off x="-1261034" y="8343991"/>
            <a:ext cx="20501134" cy="5595886"/>
          </a:xfrm>
          <a:prstGeom prst="rect">
            <a:avLst/>
          </a:prstGeom>
        </p:spPr>
      </p:pic>
      <p:pic>
        <p:nvPicPr>
          <p:cNvPr id="16" name="Star 2" descr="A blue light on a black background&#10;&#10;AI-generated content may be incorrect.">
            <a:extLst>
              <a:ext uri="{FF2B5EF4-FFF2-40B4-BE49-F238E27FC236}">
                <a16:creationId xmlns:a16="http://schemas.microsoft.com/office/drawing/2014/main" id="{02CF968B-4178-826B-824A-183DC68ECADC}"/>
              </a:ext>
            </a:extLst>
          </p:cNvPr>
          <p:cNvPicPr>
            <a:picLocks noChangeAspect="1"/>
          </p:cNvPicPr>
          <p:nvPr/>
        </p:nvPicPr>
        <p:blipFill>
          <a:blip r:embed="rId6"/>
          <a:stretch>
            <a:fillRect/>
          </a:stretch>
        </p:blipFill>
        <p:spPr>
          <a:xfrm>
            <a:off x="18678218" y="157700"/>
            <a:ext cx="561882" cy="542972"/>
          </a:xfrm>
          <a:prstGeom prst="rect">
            <a:avLst/>
          </a:prstGeom>
        </p:spPr>
      </p:pic>
      <p:pic>
        <p:nvPicPr>
          <p:cNvPr id="17" name="Star 3" descr="A blue light on a black background&#10;&#10;AI-generated content may be incorrect.">
            <a:extLst>
              <a:ext uri="{FF2B5EF4-FFF2-40B4-BE49-F238E27FC236}">
                <a16:creationId xmlns:a16="http://schemas.microsoft.com/office/drawing/2014/main" id="{EFB05871-0924-ABB0-3601-F4523D5C53FA}"/>
              </a:ext>
            </a:extLst>
          </p:cNvPr>
          <p:cNvPicPr>
            <a:picLocks noChangeAspect="1"/>
          </p:cNvPicPr>
          <p:nvPr/>
        </p:nvPicPr>
        <p:blipFill>
          <a:blip r:embed="rId6"/>
          <a:stretch>
            <a:fillRect/>
          </a:stretch>
        </p:blipFill>
        <p:spPr>
          <a:xfrm>
            <a:off x="18959159" y="9723820"/>
            <a:ext cx="623863" cy="602868"/>
          </a:xfrm>
          <a:prstGeom prst="rect">
            <a:avLst/>
          </a:prstGeom>
        </p:spPr>
      </p:pic>
      <p:pic>
        <p:nvPicPr>
          <p:cNvPr id="18" name="Star 1" descr="A blue light on a black background&#10;&#10;AI-generated content may be incorrect.">
            <a:extLst>
              <a:ext uri="{FF2B5EF4-FFF2-40B4-BE49-F238E27FC236}">
                <a16:creationId xmlns:a16="http://schemas.microsoft.com/office/drawing/2014/main" id="{AA231571-7835-4066-6AE2-E76D00B5C894}"/>
              </a:ext>
            </a:extLst>
          </p:cNvPr>
          <p:cNvPicPr>
            <a:picLocks noChangeAspect="1"/>
          </p:cNvPicPr>
          <p:nvPr/>
        </p:nvPicPr>
        <p:blipFill>
          <a:blip r:embed="rId6"/>
          <a:stretch>
            <a:fillRect/>
          </a:stretch>
        </p:blipFill>
        <p:spPr>
          <a:xfrm>
            <a:off x="18100924" y="-750015"/>
            <a:ext cx="669840" cy="647298"/>
          </a:xfrm>
          <a:prstGeom prst="rect">
            <a:avLst/>
          </a:prstGeom>
        </p:spPr>
      </p:pic>
    </p:spTree>
    <p:custDataLst>
      <p:tags r:id="rId1"/>
    </p:custDataLst>
    <p:extLst>
      <p:ext uri="{BB962C8B-B14F-4D97-AF65-F5344CB8AC3E}">
        <p14:creationId xmlns:p14="http://schemas.microsoft.com/office/powerpoint/2010/main" val="1955682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decel="50000" fill="hold" nodeType="withEffect">
                                  <p:stCondLst>
                                    <p:cond delay="0"/>
                                  </p:stCondLst>
                                  <p:childTnLst>
                                    <p:animMotion origin="layout" path="M 0.01285 0.01142 L -0.175 0.06204 L -0.30929 0.1054 L -0.40694 0.14877 L -0.45929 0.1767 L -0.48889 0.1963 " pathEditMode="relative" ptsTypes="AAAAAA">
                                      <p:cBhvr>
                                        <p:cTn id="6" dur="2000" fill="hold"/>
                                        <p:tgtEl>
                                          <p:spTgt spid="18"/>
                                        </p:tgtEl>
                                        <p:attrNameLst>
                                          <p:attrName>ppt_x</p:attrName>
                                          <p:attrName>ppt_y</p:attrName>
                                        </p:attrNameLst>
                                      </p:cBhvr>
                                    </p:animMotion>
                                  </p:childTnLst>
                                </p:cTn>
                              </p:par>
                              <p:par>
                                <p:cTn id="7" presetID="0" presetClass="path" presetSubtype="0" decel="50000" fill="hold" nodeType="withEffect">
                                  <p:stCondLst>
                                    <p:cond delay="0"/>
                                  </p:stCondLst>
                                  <p:childTnLst>
                                    <p:animMotion origin="layout" path="M 0.02665 -0.02207 L -0.05425 0.02947 L -0.1257 0.08225 L -0.18212 0.13811 L -0.20651 0.16898 " pathEditMode="relative" ptsTypes="AAAAA">
                                      <p:cBhvr>
                                        <p:cTn id="8" dur="2000" fill="hold"/>
                                        <p:tgtEl>
                                          <p:spTgt spid="16"/>
                                        </p:tgtEl>
                                        <p:attrNameLst>
                                          <p:attrName>ppt_x</p:attrName>
                                          <p:attrName>ppt_y</p:attrName>
                                        </p:attrNameLst>
                                      </p:cBhvr>
                                    </p:animMotion>
                                  </p:childTnLst>
                                </p:cTn>
                              </p:par>
                              <p:par>
                                <p:cTn id="9" presetID="0" presetClass="path" presetSubtype="0" decel="50000" fill="hold" nodeType="withEffect">
                                  <p:stCondLst>
                                    <p:cond delay="0"/>
                                  </p:stCondLst>
                                  <p:childTnLst>
                                    <p:animMotion origin="layout" path="M 0.04566 0.01157 L -0.04974 -0.00201 L -0.10607 -0.01744 L -0.22699 -0.05679 L -0.36015 -0.11574 L -0.45495 -0.17361 L -0.51883 -0.22315 " pathEditMode="relative" ptsTypes="AAAAAAA">
                                      <p:cBhvr>
                                        <p:cTn id="10" dur="2000" fill="hold"/>
                                        <p:tgtEl>
                                          <p:spTgt spid="17"/>
                                        </p:tgtEl>
                                        <p:attrNameLst>
                                          <p:attrName>ppt_x</p:attrName>
                                          <p:attrName>ppt_y</p:attrName>
                                        </p:attrNameLst>
                                      </p:cBhvr>
                                    </p:animMotion>
                                  </p:childTnLst>
                                </p:cTn>
                              </p:par>
                              <p:par>
                                <p:cTn id="11" presetID="42" presetClass="entr" presetSubtype="0" fill="hold" nodeType="withEffect">
                                  <p:stCondLst>
                                    <p:cond delay="10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750"/>
                                        <p:tgtEl>
                                          <p:spTgt spid="21"/>
                                        </p:tgtEl>
                                      </p:cBhvr>
                                    </p:animEffect>
                                    <p:anim calcmode="lin" valueType="num">
                                      <p:cBhvr>
                                        <p:cTn id="14" dur="750" fill="hold"/>
                                        <p:tgtEl>
                                          <p:spTgt spid="21"/>
                                        </p:tgtEl>
                                        <p:attrNameLst>
                                          <p:attrName>ppt_x</p:attrName>
                                        </p:attrNameLst>
                                      </p:cBhvr>
                                      <p:tavLst>
                                        <p:tav tm="0">
                                          <p:val>
                                            <p:strVal val="#ppt_x"/>
                                          </p:val>
                                        </p:tav>
                                        <p:tav tm="100000">
                                          <p:val>
                                            <p:strVal val="#ppt_x"/>
                                          </p:val>
                                        </p:tav>
                                      </p:tavLst>
                                    </p:anim>
                                    <p:anim calcmode="lin" valueType="num">
                                      <p:cBhvr>
                                        <p:cTn id="15" dur="750" fill="hold"/>
                                        <p:tgtEl>
                                          <p:spTgt spid="21"/>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100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750"/>
                                        <p:tgtEl>
                                          <p:spTgt spid="15"/>
                                        </p:tgtEl>
                                      </p:cBhvr>
                                    </p:animEffect>
                                    <p:anim calcmode="lin" valueType="num">
                                      <p:cBhvr>
                                        <p:cTn id="19" dur="750" fill="hold"/>
                                        <p:tgtEl>
                                          <p:spTgt spid="15"/>
                                        </p:tgtEl>
                                        <p:attrNameLst>
                                          <p:attrName>ppt_x</p:attrName>
                                        </p:attrNameLst>
                                      </p:cBhvr>
                                      <p:tavLst>
                                        <p:tav tm="0">
                                          <p:val>
                                            <p:strVal val="#ppt_x"/>
                                          </p:val>
                                        </p:tav>
                                        <p:tav tm="100000">
                                          <p:val>
                                            <p:strVal val="#ppt_x"/>
                                          </p:val>
                                        </p:tav>
                                      </p:tavLst>
                                    </p:anim>
                                    <p:anim calcmode="lin" valueType="num">
                                      <p:cBhvr>
                                        <p:cTn id="20" dur="75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F7091EE5-A85B-8088-8C86-7DCC8687FF21}"/>
            </a:ext>
          </a:extLst>
        </p:cNvPr>
        <p:cNvGrpSpPr/>
        <p:nvPr/>
      </p:nvGrpSpPr>
      <p:grpSpPr>
        <a:xfrm>
          <a:off x="0" y="0"/>
          <a:ext cx="0" cy="0"/>
          <a:chOff x="0" y="0"/>
          <a:chExt cx="0" cy="0"/>
        </a:xfrm>
      </p:grpSpPr>
      <p:graphicFrame>
        <p:nvGraphicFramePr>
          <p:cNvPr id="464" name="Google Shape;464;p25">
            <a:extLst>
              <a:ext uri="{FF2B5EF4-FFF2-40B4-BE49-F238E27FC236}">
                <a16:creationId xmlns:a16="http://schemas.microsoft.com/office/drawing/2014/main" id="{5905628C-BF2C-24B8-9966-A8088113CC5F}"/>
              </a:ext>
            </a:extLst>
          </p:cNvPr>
          <p:cNvGraphicFramePr/>
          <p:nvPr>
            <p:extLst>
              <p:ext uri="{D42A27DB-BD31-4B8C-83A1-F6EECF244321}">
                <p14:modId xmlns:p14="http://schemas.microsoft.com/office/powerpoint/2010/main" val="449763284"/>
              </p:ext>
            </p:extLst>
          </p:nvPr>
        </p:nvGraphicFramePr>
        <p:xfrm>
          <a:off x="809625" y="2008972"/>
          <a:ext cx="7276125" cy="6611679"/>
        </p:xfrm>
        <a:graphic>
          <a:graphicData uri="http://schemas.openxmlformats.org/drawingml/2006/chart">
            <c:chart xmlns:c="http://schemas.openxmlformats.org/drawingml/2006/chart" xmlns:r="http://schemas.openxmlformats.org/officeDocument/2006/relationships" r:id="rId4"/>
          </a:graphicData>
        </a:graphic>
      </p:graphicFrame>
      <p:sp>
        <p:nvSpPr>
          <p:cNvPr id="7" name="Google Shape;462;p25">
            <a:extLst>
              <a:ext uri="{FF2B5EF4-FFF2-40B4-BE49-F238E27FC236}">
                <a16:creationId xmlns:a16="http://schemas.microsoft.com/office/drawing/2014/main" id="{AA6CC48C-C21B-DAB3-1968-DA05BC97678F}"/>
              </a:ext>
            </a:extLst>
          </p:cNvPr>
          <p:cNvSpPr txBox="1"/>
          <p:nvPr/>
        </p:nvSpPr>
        <p:spPr>
          <a:xfrm>
            <a:off x="9515474" y="4621107"/>
            <a:ext cx="7985125" cy="1581931"/>
          </a:xfrm>
          <a:prstGeom prst="rect">
            <a:avLst/>
          </a:prstGeom>
          <a:noFill/>
          <a:ln>
            <a:noFill/>
          </a:ln>
        </p:spPr>
        <p:txBody>
          <a:bodyPr spcFirstLastPara="1" wrap="square" lIns="0" tIns="45700" rIns="0" bIns="45700" anchor="t" anchorCtr="0">
            <a:spAutoFit/>
          </a:bodyPr>
          <a:lstStyle/>
          <a:p>
            <a:pPr lvl="0">
              <a:lnSpc>
                <a:spcPct val="110000"/>
              </a:lnSpc>
              <a:buClr>
                <a:srgbClr val="6B0AEA"/>
              </a:buClr>
              <a:buSzPts val="2200"/>
            </a:pPr>
            <a:r>
              <a:rPr lang="en-US" sz="2200" dirty="0">
                <a:solidFill>
                  <a:schemeClr val="dk1"/>
                </a:solidFill>
                <a:latin typeface="Arial" panose="020B0604020202020204" pitchFamily="34" charset="0"/>
              </a:rPr>
              <a:t>Respondents to a recent 451 Research study indicated on average they are </a:t>
            </a:r>
            <a:r>
              <a:rPr lang="en-US" sz="2200" b="1" dirty="0">
                <a:solidFill>
                  <a:schemeClr val="dk1"/>
                </a:solidFill>
                <a:latin typeface="Arial" panose="020B0604020202020204" pitchFamily="34" charset="0"/>
              </a:rPr>
              <a:t>unable to investigate 43% of alerts </a:t>
            </a:r>
            <a:r>
              <a:rPr lang="en-US" sz="2200" dirty="0">
                <a:solidFill>
                  <a:schemeClr val="dk1"/>
                </a:solidFill>
                <a:latin typeface="Arial" panose="020B0604020202020204" pitchFamily="34" charset="0"/>
              </a:rPr>
              <a:t>in a typical day, and about one in five (19%) are unable to investigate more than 75% of alerts.</a:t>
            </a:r>
            <a:endParaRPr sz="1400" u="none" strike="noStrike" cap="none" dirty="0">
              <a:solidFill>
                <a:srgbClr val="000000"/>
              </a:solidFill>
              <a:latin typeface="Arial" panose="020B0604020202020204" pitchFamily="34" charset="0"/>
              <a:sym typeface="Arial"/>
            </a:endParaRPr>
          </a:p>
        </p:txBody>
      </p:sp>
      <p:sp>
        <p:nvSpPr>
          <p:cNvPr id="8" name="Google Shape;463;p25">
            <a:extLst>
              <a:ext uri="{FF2B5EF4-FFF2-40B4-BE49-F238E27FC236}">
                <a16:creationId xmlns:a16="http://schemas.microsoft.com/office/drawing/2014/main" id="{C4CEC293-D74C-5964-A1C3-F9922010629C}"/>
              </a:ext>
            </a:extLst>
          </p:cNvPr>
          <p:cNvSpPr txBox="1">
            <a:spLocks/>
          </p:cNvSpPr>
          <p:nvPr/>
        </p:nvSpPr>
        <p:spPr>
          <a:xfrm>
            <a:off x="9482138" y="2771987"/>
            <a:ext cx="4674129" cy="1520376"/>
          </a:xfrm>
          <a:prstGeom prst="rect">
            <a:avLst/>
          </a:prstGeom>
          <a:noFill/>
          <a:ln>
            <a:noFill/>
          </a:ln>
        </p:spPr>
        <p:txBody>
          <a:bodyPr spcFirstLastPara="1" wrap="square" lIns="0" tIns="45700" rIns="0" bIns="45700" anchor="b"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800"/>
              <a:buFont typeface="Arial"/>
              <a:buNone/>
              <a:defRPr sz="5800" b="1" i="0" u="none" strike="noStrike" cap="none">
                <a:solidFill>
                  <a:schemeClr val="dk1"/>
                </a:solidFill>
                <a:latin typeface="Arial" panose="020B0503030300000000" pitchFamily="34"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80000"/>
              </a:lnSpc>
              <a:buClr>
                <a:schemeClr val="lt1"/>
              </a:buClr>
            </a:pPr>
            <a:r>
              <a:rPr lang="en-US" b="0" dirty="0">
                <a:latin typeface="Arial" panose="020B0604020202020204" pitchFamily="34" charset="0"/>
              </a:rPr>
              <a:t>Analyst Overload</a:t>
            </a:r>
          </a:p>
        </p:txBody>
      </p:sp>
    </p:spTree>
    <p:custDataLst>
      <p:tags r:id="rId1"/>
    </p:custDataLst>
    <p:extLst>
      <p:ext uri="{BB962C8B-B14F-4D97-AF65-F5344CB8AC3E}">
        <p14:creationId xmlns:p14="http://schemas.microsoft.com/office/powerpoint/2010/main" val="2228821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pic>
        <p:nvPicPr>
          <p:cNvPr id="18" name="Picture 17">
            <a:extLst>
              <a:ext uri="{FF2B5EF4-FFF2-40B4-BE49-F238E27FC236}">
                <a16:creationId xmlns:a16="http://schemas.microsoft.com/office/drawing/2014/main" id="{346929E9-B719-418D-F19F-A6A20E7C69EE}"/>
              </a:ext>
            </a:extLst>
          </p:cNvPr>
          <p:cNvPicPr>
            <a:picLocks noChangeAspect="1"/>
          </p:cNvPicPr>
          <p:nvPr/>
        </p:nvPicPr>
        <p:blipFill>
          <a:blip r:embed="rId4"/>
          <a:srcRect/>
          <a:stretch/>
        </p:blipFill>
        <p:spPr>
          <a:xfrm>
            <a:off x="6629348" y="2338885"/>
            <a:ext cx="5153025" cy="5918201"/>
          </a:xfrm>
          <a:prstGeom prst="rect">
            <a:avLst/>
          </a:prstGeom>
        </p:spPr>
      </p:pic>
      <p:sp>
        <p:nvSpPr>
          <p:cNvPr id="8" name="Google Shape;645;p39" descr="e7d195523061f1c0cef09ac28eaae964ec9988a5cce77c8b8C1E4685C6E6B40CD7615480512384A61EE159C6FE0045D14B61E85D0A95589D558B81FFC809322ACC20DC2254D928200A3EA0841B8B181476B5AB143564A995C9D8EA64CE6B525743728CA1DA7A059A2240EA49FE04D1BD8EB77D75C7E946AB1396CB15E5D428F3770D25CE22AB4C48">
            <a:extLst>
              <a:ext uri="{FF2B5EF4-FFF2-40B4-BE49-F238E27FC236}">
                <a16:creationId xmlns:a16="http://schemas.microsoft.com/office/drawing/2014/main" id="{7978838F-A56F-4944-D593-8D137881BECF}"/>
              </a:ext>
            </a:extLst>
          </p:cNvPr>
          <p:cNvSpPr/>
          <p:nvPr/>
        </p:nvSpPr>
        <p:spPr>
          <a:xfrm>
            <a:off x="2279737" y="3880570"/>
            <a:ext cx="3755926" cy="1372643"/>
          </a:xfrm>
          <a:prstGeom prst="rect">
            <a:avLst/>
          </a:prstGeom>
          <a:noFill/>
          <a:ln>
            <a:noFill/>
          </a:ln>
        </p:spPr>
        <p:txBody>
          <a:bodyPr spcFirstLastPara="1" wrap="square" lIns="91425" tIns="45700" rIns="91425" bIns="45700" anchor="t" anchorCtr="0">
            <a:spAutoFit/>
          </a:bodyPr>
          <a:lstStyle/>
          <a:p>
            <a:pPr marL="0" marR="0" lvl="0" indent="0" algn="ctr" rtl="0">
              <a:lnSpc>
                <a:spcPct val="130000"/>
              </a:lnSpc>
              <a:spcBef>
                <a:spcPts val="0"/>
              </a:spcBef>
              <a:spcAft>
                <a:spcPts val="0"/>
              </a:spcAft>
              <a:buClr>
                <a:schemeClr val="accent4"/>
              </a:buClr>
              <a:buSzPts val="2400"/>
              <a:buFont typeface="Arial"/>
              <a:buNone/>
            </a:pPr>
            <a:r>
              <a:rPr lang="en-US" sz="3200" u="none" strike="noStrike" cap="none" dirty="0">
                <a:solidFill>
                  <a:schemeClr val="dk1"/>
                </a:solidFill>
                <a:latin typeface="Arial" panose="020B0604020202020204" pitchFamily="34" charset="0"/>
                <a:sym typeface="Arial"/>
              </a:rPr>
              <a:t>Low-Fidelity Security Signals</a:t>
            </a:r>
            <a:endParaRPr sz="1800" u="none" strike="noStrike" cap="none" dirty="0">
              <a:solidFill>
                <a:schemeClr val="accent4"/>
              </a:solidFill>
              <a:latin typeface="Arial" panose="020B0604020202020204" pitchFamily="34" charset="0"/>
              <a:sym typeface="Arial"/>
            </a:endParaRPr>
          </a:p>
        </p:txBody>
      </p:sp>
      <p:sp>
        <p:nvSpPr>
          <p:cNvPr id="9" name="Google Shape;646;p39" descr="e7d195523061f1c0cef09ac28eaae964ec9988a5cce77c8b8C1E4685C6E6B40CD7615480512384A61EE159C6FE0045D14B61E85D0A95589D558B81FFC809322ACC20DC2254D928200A3EA0841B8B181476B5AB143564A995C9D8EA64CE6B525743728CA1DA7A059A2240EA49FE04D1BD8EB77D75C7E946AB1396CB15E5D428F3770D25CE22AB4C48">
            <a:extLst>
              <a:ext uri="{FF2B5EF4-FFF2-40B4-BE49-F238E27FC236}">
                <a16:creationId xmlns:a16="http://schemas.microsoft.com/office/drawing/2014/main" id="{64BCA5F2-8943-9866-1BCB-594026720C71}"/>
              </a:ext>
            </a:extLst>
          </p:cNvPr>
          <p:cNvSpPr/>
          <p:nvPr/>
        </p:nvSpPr>
        <p:spPr>
          <a:xfrm>
            <a:off x="12353463" y="6815514"/>
            <a:ext cx="4767946" cy="732468"/>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Clr>
                <a:schemeClr val="accent3"/>
              </a:buClr>
              <a:buSzPts val="2400"/>
              <a:buFont typeface="Arial"/>
              <a:buNone/>
            </a:pPr>
            <a:r>
              <a:rPr lang="en-US" sz="3200" u="none" strike="noStrike" cap="none" dirty="0">
                <a:solidFill>
                  <a:schemeClr val="dk1"/>
                </a:solidFill>
                <a:latin typeface="Arial" panose="020B0604020202020204" pitchFamily="34" charset="0"/>
                <a:sym typeface="Arial"/>
              </a:rPr>
              <a:t>Siloed Tools</a:t>
            </a:r>
            <a:endParaRPr sz="1800" u="none" strike="noStrike" cap="none" dirty="0">
              <a:solidFill>
                <a:schemeClr val="accent3"/>
              </a:solidFill>
              <a:latin typeface="Arial" panose="020B0604020202020204" pitchFamily="34" charset="0"/>
              <a:sym typeface="Arial"/>
            </a:endParaRPr>
          </a:p>
        </p:txBody>
      </p:sp>
      <p:sp>
        <p:nvSpPr>
          <p:cNvPr id="10" name="Google Shape;647;p39" descr="e7d195523061f1c0cef09ac28eaae964ec9988a5cce77c8b8C1E4685C6E6B40CD7615480512384A61EE159C6FE0045D14B61E85D0A95589D558B81FFC809322ACC20DC2254D928200A3EA0841B8B181476B5AB143564A995C9D8EA64CE6B525743728CA1DA7A059A2240EA49FE04D1BD8EB77D75C7E946AB1396CB15E5D428F3770D25CE22AB4C48">
            <a:extLst>
              <a:ext uri="{FF2B5EF4-FFF2-40B4-BE49-F238E27FC236}">
                <a16:creationId xmlns:a16="http://schemas.microsoft.com/office/drawing/2014/main" id="{C1CF3CEF-59C6-2E25-1253-0A983F44A027}"/>
              </a:ext>
            </a:extLst>
          </p:cNvPr>
          <p:cNvSpPr/>
          <p:nvPr/>
        </p:nvSpPr>
        <p:spPr>
          <a:xfrm>
            <a:off x="12326140" y="3880571"/>
            <a:ext cx="4767946" cy="732468"/>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Clr>
                <a:schemeClr val="accent1"/>
              </a:buClr>
              <a:buSzPts val="2400"/>
              <a:buFont typeface="Arial"/>
              <a:buNone/>
            </a:pPr>
            <a:r>
              <a:rPr lang="en-US" sz="3200" u="none" strike="noStrike" cap="none" dirty="0">
                <a:solidFill>
                  <a:schemeClr val="dk1"/>
                </a:solidFill>
                <a:latin typeface="Arial" panose="020B0604020202020204" pitchFamily="34" charset="0"/>
                <a:sym typeface="Arial"/>
              </a:rPr>
              <a:t>Inefficient Processes</a:t>
            </a:r>
            <a:r>
              <a:rPr lang="en-US" sz="2400" u="none" strike="noStrike" cap="none" dirty="0">
                <a:solidFill>
                  <a:schemeClr val="accent2"/>
                </a:solidFill>
                <a:latin typeface="Arial" panose="020B0604020202020204" pitchFamily="34" charset="0"/>
                <a:sym typeface="Arial"/>
              </a:rPr>
              <a:t> </a:t>
            </a:r>
            <a:endParaRPr sz="1800" u="none" strike="noStrike" cap="none" dirty="0">
              <a:solidFill>
                <a:schemeClr val="dk1"/>
              </a:solidFill>
              <a:latin typeface="Arial" panose="020B0604020202020204" pitchFamily="34" charset="0"/>
              <a:sym typeface="Arial"/>
            </a:endParaRPr>
          </a:p>
        </p:txBody>
      </p:sp>
      <p:pic>
        <p:nvPicPr>
          <p:cNvPr id="11" name="Google Shape;648;p39">
            <a:extLst>
              <a:ext uri="{FF2B5EF4-FFF2-40B4-BE49-F238E27FC236}">
                <a16:creationId xmlns:a16="http://schemas.microsoft.com/office/drawing/2014/main" id="{1C6188F1-706B-B843-9245-E6DB87196BD0}"/>
              </a:ext>
            </a:extLst>
          </p:cNvPr>
          <p:cNvPicPr preferRelativeResize="0"/>
          <p:nvPr/>
        </p:nvPicPr>
        <p:blipFill rotWithShape="1">
          <a:blip r:embed="rId5">
            <a:alphaModFix/>
          </a:blip>
          <a:srcRect/>
          <a:stretch/>
        </p:blipFill>
        <p:spPr>
          <a:xfrm>
            <a:off x="10535743" y="3984230"/>
            <a:ext cx="992642" cy="992642"/>
          </a:xfrm>
          <a:prstGeom prst="rect">
            <a:avLst/>
          </a:prstGeom>
          <a:noFill/>
          <a:ln>
            <a:noFill/>
          </a:ln>
          <a:effectLst>
            <a:outerShdw blurRad="50800" dist="50800" dir="5400000" sx="98946" sy="98946" algn="ctr" rotWithShape="0">
              <a:srgbClr val="673DF9">
                <a:alpha val="64304"/>
              </a:srgbClr>
            </a:outerShdw>
          </a:effectLst>
        </p:spPr>
      </p:pic>
      <p:pic>
        <p:nvPicPr>
          <p:cNvPr id="12" name="Google Shape;649;p39">
            <a:extLst>
              <a:ext uri="{FF2B5EF4-FFF2-40B4-BE49-F238E27FC236}">
                <a16:creationId xmlns:a16="http://schemas.microsoft.com/office/drawing/2014/main" id="{0E3496D3-56CC-2D36-A2C1-72E81FC7487E}"/>
              </a:ext>
            </a:extLst>
          </p:cNvPr>
          <p:cNvPicPr preferRelativeResize="0"/>
          <p:nvPr/>
        </p:nvPicPr>
        <p:blipFill rotWithShape="1">
          <a:blip r:embed="rId6">
            <a:alphaModFix/>
          </a:blip>
          <a:srcRect/>
          <a:stretch/>
        </p:blipFill>
        <p:spPr>
          <a:xfrm>
            <a:off x="6971767" y="3880571"/>
            <a:ext cx="1096301" cy="1096301"/>
          </a:xfrm>
          <a:prstGeom prst="rect">
            <a:avLst/>
          </a:prstGeom>
          <a:noFill/>
          <a:ln>
            <a:noFill/>
          </a:ln>
          <a:effectLst>
            <a:outerShdw blurRad="50800" dist="50800" dir="5400000" sx="98946" sy="98946" algn="ctr" rotWithShape="0">
              <a:srgbClr val="673DF9">
                <a:alpha val="64304"/>
              </a:srgbClr>
            </a:outerShdw>
          </a:effectLst>
        </p:spPr>
      </p:pic>
      <p:pic>
        <p:nvPicPr>
          <p:cNvPr id="13" name="Google Shape;650;p39">
            <a:extLst>
              <a:ext uri="{FF2B5EF4-FFF2-40B4-BE49-F238E27FC236}">
                <a16:creationId xmlns:a16="http://schemas.microsoft.com/office/drawing/2014/main" id="{368A4C0F-DB17-BD27-696A-49C2A59B4DCC}"/>
              </a:ext>
            </a:extLst>
          </p:cNvPr>
          <p:cNvPicPr preferRelativeResize="0"/>
          <p:nvPr/>
        </p:nvPicPr>
        <p:blipFill rotWithShape="1">
          <a:blip r:embed="rId7">
            <a:alphaModFix/>
          </a:blip>
          <a:srcRect/>
          <a:stretch/>
        </p:blipFill>
        <p:spPr>
          <a:xfrm>
            <a:off x="8617065" y="6699767"/>
            <a:ext cx="1053870" cy="1053870"/>
          </a:xfrm>
          <a:prstGeom prst="rect">
            <a:avLst/>
          </a:prstGeom>
          <a:noFill/>
          <a:ln>
            <a:noFill/>
          </a:ln>
          <a:effectLst>
            <a:outerShdw blurRad="50800" dist="50800" dir="5400000" sx="98946" sy="98946" algn="ctr" rotWithShape="0">
              <a:srgbClr val="673DF9">
                <a:alpha val="64304"/>
              </a:srgbClr>
            </a:outerShdw>
          </a:effectLst>
        </p:spPr>
      </p:pic>
      <p:cxnSp>
        <p:nvCxnSpPr>
          <p:cNvPr id="14" name="Google Shape;651;p39">
            <a:extLst>
              <a:ext uri="{FF2B5EF4-FFF2-40B4-BE49-F238E27FC236}">
                <a16:creationId xmlns:a16="http://schemas.microsoft.com/office/drawing/2014/main" id="{8F86E496-DDB6-41DA-47CB-D35244E70BBC}"/>
              </a:ext>
            </a:extLst>
          </p:cNvPr>
          <p:cNvCxnSpPr/>
          <p:nvPr/>
        </p:nvCxnSpPr>
        <p:spPr>
          <a:xfrm>
            <a:off x="1608881" y="3667317"/>
            <a:ext cx="4426782" cy="0"/>
          </a:xfrm>
          <a:prstGeom prst="straightConnector1">
            <a:avLst/>
          </a:prstGeom>
          <a:solidFill>
            <a:schemeClr val="accent2"/>
          </a:solidFill>
          <a:ln w="28575" cap="flat" cmpd="sng">
            <a:solidFill>
              <a:srgbClr val="A1ABE5"/>
            </a:solidFill>
            <a:prstDash val="solid"/>
            <a:round/>
            <a:headEnd type="none" w="sm" len="sm"/>
            <a:tailEnd type="none" w="sm" len="sm"/>
          </a:ln>
        </p:spPr>
      </p:cxnSp>
      <p:cxnSp>
        <p:nvCxnSpPr>
          <p:cNvPr id="15" name="Google Shape;652;p39">
            <a:extLst>
              <a:ext uri="{FF2B5EF4-FFF2-40B4-BE49-F238E27FC236}">
                <a16:creationId xmlns:a16="http://schemas.microsoft.com/office/drawing/2014/main" id="{84BC77F9-1468-79C6-97E3-97FFBC4616ED}"/>
              </a:ext>
            </a:extLst>
          </p:cNvPr>
          <p:cNvCxnSpPr/>
          <p:nvPr/>
        </p:nvCxnSpPr>
        <p:spPr>
          <a:xfrm>
            <a:off x="12326140" y="3667317"/>
            <a:ext cx="4584473" cy="0"/>
          </a:xfrm>
          <a:prstGeom prst="straightConnector1">
            <a:avLst/>
          </a:prstGeom>
          <a:solidFill>
            <a:schemeClr val="accent2"/>
          </a:solidFill>
          <a:ln w="28575" cap="flat" cmpd="sng">
            <a:solidFill>
              <a:srgbClr val="A1ABE5"/>
            </a:solidFill>
            <a:prstDash val="solid"/>
            <a:round/>
            <a:headEnd type="none" w="sm" len="sm"/>
            <a:tailEnd type="none" w="sm" len="sm"/>
          </a:ln>
        </p:spPr>
      </p:cxnSp>
      <p:cxnSp>
        <p:nvCxnSpPr>
          <p:cNvPr id="16" name="Google Shape;653;p39">
            <a:extLst>
              <a:ext uri="{FF2B5EF4-FFF2-40B4-BE49-F238E27FC236}">
                <a16:creationId xmlns:a16="http://schemas.microsoft.com/office/drawing/2014/main" id="{EA233E02-0997-A3B1-C48A-907EB71EEEF2}"/>
              </a:ext>
            </a:extLst>
          </p:cNvPr>
          <p:cNvCxnSpPr/>
          <p:nvPr/>
        </p:nvCxnSpPr>
        <p:spPr>
          <a:xfrm>
            <a:off x="12326140" y="6699767"/>
            <a:ext cx="4584473" cy="0"/>
          </a:xfrm>
          <a:prstGeom prst="straightConnector1">
            <a:avLst/>
          </a:prstGeom>
          <a:solidFill>
            <a:schemeClr val="accent2"/>
          </a:solidFill>
          <a:ln w="28575" cap="flat" cmpd="sng">
            <a:solidFill>
              <a:srgbClr val="A1ABE5"/>
            </a:solidFill>
            <a:prstDash val="solid"/>
            <a:round/>
            <a:headEnd type="none" w="sm" len="sm"/>
            <a:tailEnd type="none" w="sm" len="sm"/>
          </a:ln>
        </p:spPr>
      </p:cxnSp>
      <p:sp>
        <p:nvSpPr>
          <p:cNvPr id="17" name="Google Shape;658;p40">
            <a:extLst>
              <a:ext uri="{FF2B5EF4-FFF2-40B4-BE49-F238E27FC236}">
                <a16:creationId xmlns:a16="http://schemas.microsoft.com/office/drawing/2014/main" id="{1F3AF25C-31D6-2DF0-8834-7F49099538E0}"/>
              </a:ext>
            </a:extLst>
          </p:cNvPr>
          <p:cNvSpPr txBox="1">
            <a:spLocks noGrp="1"/>
          </p:cNvSpPr>
          <p:nvPr>
            <p:ph type="title"/>
          </p:nvPr>
        </p:nvSpPr>
        <p:spPr>
          <a:xfrm>
            <a:off x="819152" y="504825"/>
            <a:ext cx="16659223" cy="923925"/>
          </a:xfrm>
          <a:prstGeom prst="rect">
            <a:avLst/>
          </a:prstGeom>
          <a:noFill/>
          <a:ln>
            <a:noFill/>
          </a:ln>
        </p:spPr>
        <p:txBody>
          <a:bodyPr spcFirstLastPara="1" wrap="square" lIns="0" tIns="45700" rIns="0" bIns="45700" anchor="t" anchorCtr="0">
            <a:normAutofit/>
          </a:bodyPr>
          <a:lstStyle/>
          <a:p>
            <a:pPr marL="0" lvl="0" indent="0" algn="ctr" rtl="0">
              <a:lnSpc>
                <a:spcPct val="90000"/>
              </a:lnSpc>
              <a:spcBef>
                <a:spcPts val="0"/>
              </a:spcBef>
              <a:spcAft>
                <a:spcPts val="0"/>
              </a:spcAft>
              <a:buClr>
                <a:schemeClr val="dk1"/>
              </a:buClr>
              <a:buSzPts val="5800"/>
              <a:buFont typeface="Arial"/>
              <a:buNone/>
            </a:pPr>
            <a:r>
              <a:rPr lang="en-US" b="0" noProof="0" dirty="0"/>
              <a:t>SOC Challenges</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77"/>
          <p:cNvSpPr txBox="1">
            <a:spLocks noGrp="1"/>
          </p:cNvSpPr>
          <p:nvPr>
            <p:ph type="title"/>
          </p:nvPr>
        </p:nvSpPr>
        <p:spPr>
          <a:xfrm>
            <a:off x="809625" y="2884120"/>
            <a:ext cx="6696075" cy="763671"/>
          </a:xfrm>
          <a:noFill/>
          <a:ln>
            <a:noFill/>
          </a:ln>
        </p:spPr>
        <p:txBody>
          <a:bodyPr spcFirstLastPara="1" wrap="square" lIns="0" tIns="45700" rIns="0" bIns="45700" anchor="b" anchorCtr="0">
            <a:spAutoFit/>
          </a:bodyPr>
          <a:lstStyle/>
          <a:p>
            <a:pPr lvl="0"/>
            <a:r>
              <a:rPr lang="en-US" dirty="0"/>
              <a:t>Hyperautomation</a:t>
            </a:r>
          </a:p>
        </p:txBody>
      </p:sp>
      <p:sp>
        <p:nvSpPr>
          <p:cNvPr id="243" name="Google Shape;243;p77"/>
          <p:cNvSpPr txBox="1">
            <a:spLocks noGrp="1"/>
          </p:cNvSpPr>
          <p:nvPr>
            <p:ph type="body" idx="1"/>
          </p:nvPr>
        </p:nvSpPr>
        <p:spPr>
          <a:xfrm>
            <a:off x="809625" y="3969920"/>
            <a:ext cx="6696075" cy="2529883"/>
          </a:xfrm>
          <a:noFill/>
          <a:ln>
            <a:noFill/>
          </a:ln>
        </p:spPr>
        <p:txBody>
          <a:bodyPr spcFirstLastPara="1" wrap="square" lIns="0" tIns="45700" rIns="0" bIns="45700" anchor="t" anchorCtr="0">
            <a:spAutoFit/>
          </a:bodyPr>
          <a:lstStyle/>
          <a:p>
            <a:pPr lvl="0"/>
            <a:r>
              <a:rPr lang="en-US" sz="2400" i="1" dirty="0">
                <a:latin typeface="Lato"/>
                <a:ea typeface="Lato"/>
                <a:cs typeface="Lato"/>
                <a:sym typeface="Lato"/>
              </a:rPr>
              <a:t>“Hyperautomation is a business-driven, disciplined approach that organizations use to rapidly identify, vet and automate as many business and IT processes as possible״.</a:t>
            </a:r>
          </a:p>
          <a:p>
            <a:pPr lvl="0"/>
            <a:endParaRPr lang="en-US" sz="2400" i="1" dirty="0">
              <a:latin typeface="Lato"/>
              <a:ea typeface="Lato"/>
              <a:cs typeface="Lato"/>
              <a:sym typeface="Lato"/>
            </a:endParaRPr>
          </a:p>
          <a:p>
            <a:pPr lvl="0"/>
            <a:r>
              <a:rPr lang="en-US" sz="2400" i="1" dirty="0">
                <a:latin typeface="Lato"/>
                <a:ea typeface="Lato"/>
                <a:cs typeface="Lato"/>
                <a:sym typeface="Lato"/>
              </a:rPr>
              <a:t>- </a:t>
            </a:r>
            <a:r>
              <a:rPr lang="en-US" sz="2400" dirty="0">
                <a:latin typeface="Lato"/>
                <a:ea typeface="Lato"/>
                <a:cs typeface="Lato"/>
                <a:sym typeface="Lato"/>
              </a:rPr>
              <a:t>Gartner</a:t>
            </a:r>
          </a:p>
        </p:txBody>
      </p:sp>
      <p:pic>
        <p:nvPicPr>
          <p:cNvPr id="2" name="Google Shape;489;p67">
            <a:extLst>
              <a:ext uri="{FF2B5EF4-FFF2-40B4-BE49-F238E27FC236}">
                <a16:creationId xmlns:a16="http://schemas.microsoft.com/office/drawing/2014/main" id="{5F72FF31-1446-0A45-AEAB-3A65AAE4EC97}"/>
              </a:ext>
            </a:extLst>
          </p:cNvPr>
          <p:cNvPicPr preferRelativeResize="0">
            <a:picLocks noGrp="1"/>
          </p:cNvPicPr>
          <p:nvPr>
            <p:ph type="pic" idx="2"/>
          </p:nvPr>
        </p:nvPicPr>
        <p:blipFill rotWithShape="1">
          <a:blip r:embed="rId4">
            <a:alphaModFix/>
          </a:blip>
          <a:srcRect l="413" r="413"/>
          <a:stretch/>
        </p:blipFill>
        <p:spPr>
          <a:xfrm>
            <a:off x="9001125" y="-42863"/>
            <a:ext cx="9286875" cy="10329863"/>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4D7A6ED6-A033-1DA2-24C3-5374FFD3C7FD}"/>
            </a:ext>
          </a:extLst>
        </p:cNvPr>
        <p:cNvGrpSpPr/>
        <p:nvPr/>
      </p:nvGrpSpPr>
      <p:grpSpPr>
        <a:xfrm>
          <a:off x="0" y="0"/>
          <a:ext cx="0" cy="0"/>
          <a:chOff x="0" y="0"/>
          <a:chExt cx="0" cy="0"/>
        </a:xfrm>
      </p:grpSpPr>
      <p:sp>
        <p:nvSpPr>
          <p:cNvPr id="2" name="Google Shape;219;p11">
            <a:extLst>
              <a:ext uri="{FF2B5EF4-FFF2-40B4-BE49-F238E27FC236}">
                <a16:creationId xmlns:a16="http://schemas.microsoft.com/office/drawing/2014/main" id="{142DE553-F269-B100-C522-3E4026DF00AE}"/>
              </a:ext>
            </a:extLst>
          </p:cNvPr>
          <p:cNvSpPr/>
          <p:nvPr/>
        </p:nvSpPr>
        <p:spPr>
          <a:xfrm>
            <a:off x="9210553" y="2364143"/>
            <a:ext cx="4069080" cy="6235842"/>
          </a:xfrm>
          <a:prstGeom prst="roundRect">
            <a:avLst>
              <a:gd name="adj" fmla="val 0"/>
            </a:avLst>
          </a:prstGeom>
          <a:solidFill>
            <a:schemeClr val="lt1"/>
          </a:solidFill>
          <a:ln w="12700" cap="flat" cmpd="sng">
            <a:noFill/>
            <a:prstDash val="solid"/>
            <a:round/>
            <a:headEnd type="none" w="sm" len="sm"/>
            <a:tailEnd type="none" w="sm" len="sm"/>
          </a:ln>
        </p:spPr>
        <p:txBody>
          <a:bodyPr spcFirstLastPara="1" wrap="square" lIns="548625" tIns="2560300" rIns="411475" bIns="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 name="Google Shape;223;p11">
            <a:extLst>
              <a:ext uri="{FF2B5EF4-FFF2-40B4-BE49-F238E27FC236}">
                <a16:creationId xmlns:a16="http://schemas.microsoft.com/office/drawing/2014/main" id="{4B1DB3F8-8363-2D27-172A-B604DE6EF1ED}"/>
              </a:ext>
            </a:extLst>
          </p:cNvPr>
          <p:cNvSpPr/>
          <p:nvPr/>
        </p:nvSpPr>
        <p:spPr>
          <a:xfrm>
            <a:off x="811526" y="2364144"/>
            <a:ext cx="4070625" cy="6235842"/>
          </a:xfrm>
          <a:prstGeom prst="roundRect">
            <a:avLst>
              <a:gd name="adj" fmla="val 0"/>
            </a:avLst>
          </a:prstGeom>
          <a:solidFill>
            <a:schemeClr val="lt1"/>
          </a:solidFill>
          <a:ln w="12700" cap="flat" cmpd="sng">
            <a:noFill/>
            <a:prstDash val="solid"/>
            <a:round/>
            <a:headEnd type="none" w="sm" len="sm"/>
            <a:tailEnd type="none" w="sm" len="sm"/>
          </a:ln>
        </p:spPr>
        <p:txBody>
          <a:bodyPr spcFirstLastPara="1" wrap="square" lIns="548625" tIns="2560300" rIns="411475" bIns="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1" name="Google Shape;228;p11">
            <a:extLst>
              <a:ext uri="{FF2B5EF4-FFF2-40B4-BE49-F238E27FC236}">
                <a16:creationId xmlns:a16="http://schemas.microsoft.com/office/drawing/2014/main" id="{1966E016-AFD2-2367-B1B3-3BF55E7B9BE3}"/>
              </a:ext>
            </a:extLst>
          </p:cNvPr>
          <p:cNvSpPr/>
          <p:nvPr/>
        </p:nvSpPr>
        <p:spPr>
          <a:xfrm>
            <a:off x="5011812" y="2364144"/>
            <a:ext cx="4069080" cy="6235842"/>
          </a:xfrm>
          <a:prstGeom prst="roundRect">
            <a:avLst>
              <a:gd name="adj" fmla="val 0"/>
            </a:avLst>
          </a:prstGeom>
          <a:solidFill>
            <a:schemeClr val="lt1"/>
          </a:solidFill>
          <a:ln w="12700" cap="flat" cmpd="sng">
            <a:noFill/>
            <a:prstDash val="solid"/>
            <a:round/>
            <a:headEnd type="none" w="sm" len="sm"/>
            <a:tailEnd type="none" w="sm" len="sm"/>
          </a:ln>
        </p:spPr>
        <p:txBody>
          <a:bodyPr spcFirstLastPara="1" wrap="square" lIns="548625" tIns="2560300" rIns="411475" bIns="0" anchor="t" anchorCtr="0">
            <a:noAutofit/>
          </a:bodyPr>
          <a:lstStyle/>
          <a:p>
            <a:pPr>
              <a:buSzPts val="2400"/>
            </a:pPr>
            <a:endParaRPr sz="2400">
              <a:latin typeface="Arial"/>
              <a:cs typeface="Arial"/>
            </a:endParaRPr>
          </a:p>
        </p:txBody>
      </p:sp>
      <p:sp>
        <p:nvSpPr>
          <p:cNvPr id="15" name="Google Shape;232;p11">
            <a:extLst>
              <a:ext uri="{FF2B5EF4-FFF2-40B4-BE49-F238E27FC236}">
                <a16:creationId xmlns:a16="http://schemas.microsoft.com/office/drawing/2014/main" id="{A0C31DE9-1B97-0DE6-A373-AA327571BE13}"/>
              </a:ext>
            </a:extLst>
          </p:cNvPr>
          <p:cNvSpPr/>
          <p:nvPr/>
        </p:nvSpPr>
        <p:spPr>
          <a:xfrm>
            <a:off x="13409295" y="2364144"/>
            <a:ext cx="4069080" cy="6235842"/>
          </a:xfrm>
          <a:prstGeom prst="roundRect">
            <a:avLst>
              <a:gd name="adj" fmla="val 0"/>
            </a:avLst>
          </a:prstGeom>
          <a:solidFill>
            <a:schemeClr val="lt1"/>
          </a:solidFill>
          <a:ln w="12700" cap="flat" cmpd="sng">
            <a:noFill/>
            <a:prstDash val="solid"/>
            <a:round/>
            <a:headEnd type="none" w="sm" len="sm"/>
            <a:tailEnd type="none" w="sm" len="sm"/>
          </a:ln>
        </p:spPr>
        <p:txBody>
          <a:bodyPr spcFirstLastPara="1" wrap="square" lIns="548625" tIns="2560300" rIns="411475" bIns="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pic>
        <p:nvPicPr>
          <p:cNvPr id="19" name="Picture 18">
            <a:extLst>
              <a:ext uri="{FF2B5EF4-FFF2-40B4-BE49-F238E27FC236}">
                <a16:creationId xmlns:a16="http://schemas.microsoft.com/office/drawing/2014/main" id="{AE87E4A3-94D1-CC1E-CC9B-FD5FDF867B27}"/>
              </a:ext>
            </a:extLst>
          </p:cNvPr>
          <p:cNvPicPr>
            <a:picLocks noChangeAspect="1"/>
          </p:cNvPicPr>
          <p:nvPr/>
        </p:nvPicPr>
        <p:blipFill>
          <a:blip r:embed="rId4"/>
          <a:srcRect/>
          <a:stretch/>
        </p:blipFill>
        <p:spPr>
          <a:xfrm>
            <a:off x="803859" y="2364143"/>
            <a:ext cx="4078290" cy="2022293"/>
          </a:xfrm>
          <a:prstGeom prst="rect">
            <a:avLst/>
          </a:prstGeom>
          <a:blipFill>
            <a:blip r:embed="rId5"/>
            <a:stretch>
              <a:fillRect/>
            </a:stretch>
          </a:blipFill>
        </p:spPr>
      </p:pic>
      <p:pic>
        <p:nvPicPr>
          <p:cNvPr id="20" name="Picture 19">
            <a:extLst>
              <a:ext uri="{FF2B5EF4-FFF2-40B4-BE49-F238E27FC236}">
                <a16:creationId xmlns:a16="http://schemas.microsoft.com/office/drawing/2014/main" id="{70C7C6C2-89E7-DDDD-AABA-9074109F6843}"/>
              </a:ext>
            </a:extLst>
          </p:cNvPr>
          <p:cNvPicPr>
            <a:picLocks noChangeAspect="1"/>
          </p:cNvPicPr>
          <p:nvPr/>
        </p:nvPicPr>
        <p:blipFill>
          <a:blip r:embed="rId4"/>
          <a:srcRect/>
          <a:stretch/>
        </p:blipFill>
        <p:spPr>
          <a:xfrm>
            <a:off x="5007724" y="2364143"/>
            <a:ext cx="4078290" cy="2022293"/>
          </a:xfrm>
          <a:prstGeom prst="rect">
            <a:avLst/>
          </a:prstGeom>
          <a:blipFill>
            <a:blip r:embed="rId5"/>
            <a:stretch>
              <a:fillRect/>
            </a:stretch>
          </a:blipFill>
        </p:spPr>
      </p:pic>
      <p:pic>
        <p:nvPicPr>
          <p:cNvPr id="21" name="Picture 20">
            <a:extLst>
              <a:ext uri="{FF2B5EF4-FFF2-40B4-BE49-F238E27FC236}">
                <a16:creationId xmlns:a16="http://schemas.microsoft.com/office/drawing/2014/main" id="{D9465A59-9B59-2140-6878-C4DFE3C624A5}"/>
              </a:ext>
            </a:extLst>
          </p:cNvPr>
          <p:cNvPicPr>
            <a:picLocks noChangeAspect="1"/>
          </p:cNvPicPr>
          <p:nvPr/>
        </p:nvPicPr>
        <p:blipFill>
          <a:blip r:embed="rId4"/>
          <a:srcRect/>
          <a:stretch/>
        </p:blipFill>
        <p:spPr>
          <a:xfrm>
            <a:off x="9205430" y="2364143"/>
            <a:ext cx="4078290" cy="2022293"/>
          </a:xfrm>
          <a:prstGeom prst="rect">
            <a:avLst/>
          </a:prstGeom>
          <a:blipFill>
            <a:blip r:embed="rId5"/>
            <a:stretch>
              <a:fillRect/>
            </a:stretch>
          </a:blipFill>
        </p:spPr>
      </p:pic>
      <p:pic>
        <p:nvPicPr>
          <p:cNvPr id="22" name="Picture 21">
            <a:extLst>
              <a:ext uri="{FF2B5EF4-FFF2-40B4-BE49-F238E27FC236}">
                <a16:creationId xmlns:a16="http://schemas.microsoft.com/office/drawing/2014/main" id="{4D966817-E8D2-37DE-ED71-55BD53283CD7}"/>
              </a:ext>
            </a:extLst>
          </p:cNvPr>
          <p:cNvPicPr>
            <a:picLocks noChangeAspect="1"/>
          </p:cNvPicPr>
          <p:nvPr/>
        </p:nvPicPr>
        <p:blipFill>
          <a:blip r:embed="rId4"/>
          <a:srcRect/>
          <a:stretch/>
        </p:blipFill>
        <p:spPr>
          <a:xfrm>
            <a:off x="13406369" y="2364143"/>
            <a:ext cx="4078290" cy="2022293"/>
          </a:xfrm>
          <a:prstGeom prst="rect">
            <a:avLst/>
          </a:prstGeom>
          <a:blipFill>
            <a:blip r:embed="rId5"/>
            <a:stretch>
              <a:fillRect/>
            </a:stretch>
          </a:blipFill>
        </p:spPr>
      </p:pic>
      <p:sp>
        <p:nvSpPr>
          <p:cNvPr id="272" name="Google Shape;272;p13">
            <a:extLst>
              <a:ext uri="{FF2B5EF4-FFF2-40B4-BE49-F238E27FC236}">
                <a16:creationId xmlns:a16="http://schemas.microsoft.com/office/drawing/2014/main" id="{01B39C61-1825-5A07-BFD8-115DBE7F0DC9}"/>
              </a:ext>
            </a:extLst>
          </p:cNvPr>
          <p:cNvSpPr txBox="1">
            <a:spLocks noGrp="1"/>
          </p:cNvSpPr>
          <p:nvPr>
            <p:ph type="title"/>
          </p:nvPr>
        </p:nvSpPr>
        <p:spPr>
          <a:prstGeom prst="rect">
            <a:avLst/>
          </a:prstGeom>
          <a:noFill/>
          <a:ln>
            <a:noFill/>
          </a:ln>
        </p:spPr>
        <p:txBody>
          <a:bodyPr spcFirstLastPara="1" wrap="square" lIns="0" tIns="45700" rIns="0" bIns="45700" anchor="t" anchorCtr="0">
            <a:normAutofit/>
          </a:bodyPr>
          <a:lstStyle/>
          <a:p>
            <a:pPr marL="0" lvl="0" indent="0" algn="l" rtl="0">
              <a:lnSpc>
                <a:spcPct val="90000"/>
              </a:lnSpc>
              <a:spcBef>
                <a:spcPts val="0"/>
              </a:spcBef>
              <a:spcAft>
                <a:spcPts val="0"/>
              </a:spcAft>
              <a:buClr>
                <a:schemeClr val="dk1"/>
              </a:buClr>
              <a:buSzPts val="5800"/>
              <a:buFont typeface="Arial"/>
              <a:buNone/>
            </a:pPr>
            <a:r>
              <a:rPr lang="en-US" dirty="0"/>
              <a:t>Example Hyperautomation Use Cases</a:t>
            </a:r>
            <a:endParaRPr dirty="0"/>
          </a:p>
        </p:txBody>
      </p:sp>
      <p:sp>
        <p:nvSpPr>
          <p:cNvPr id="3" name="Google Shape;220;p11">
            <a:extLst>
              <a:ext uri="{FF2B5EF4-FFF2-40B4-BE49-F238E27FC236}">
                <a16:creationId xmlns:a16="http://schemas.microsoft.com/office/drawing/2014/main" id="{939513E0-F8C0-2788-641D-28FA1E301C1D}"/>
              </a:ext>
            </a:extLst>
          </p:cNvPr>
          <p:cNvSpPr txBox="1"/>
          <p:nvPr/>
        </p:nvSpPr>
        <p:spPr>
          <a:xfrm>
            <a:off x="9710956" y="5379796"/>
            <a:ext cx="3088891" cy="430887"/>
          </a:xfrm>
          <a:prstGeom prst="rect">
            <a:avLst/>
          </a:prstGeom>
          <a:noFill/>
          <a:ln>
            <a:noFill/>
          </a:ln>
        </p:spPr>
        <p:txBody>
          <a:bodyPr spcFirstLastPara="1" wrap="square" lIns="0" tIns="0" rIns="0" bIns="0" anchor="t" anchorCtr="0">
            <a:spAutoFit/>
          </a:bodyPr>
          <a:lstStyle/>
          <a:p>
            <a:pPr lvl="0">
              <a:buClr>
                <a:schemeClr val="dk1"/>
              </a:buClr>
              <a:buSzPts val="1100"/>
            </a:pPr>
            <a:r>
              <a:rPr lang="en-US" sz="2800" dirty="0"/>
              <a:t>Email Security</a:t>
            </a:r>
          </a:p>
        </p:txBody>
      </p:sp>
      <p:sp>
        <p:nvSpPr>
          <p:cNvPr id="4" name="Google Shape;221;p11">
            <a:extLst>
              <a:ext uri="{FF2B5EF4-FFF2-40B4-BE49-F238E27FC236}">
                <a16:creationId xmlns:a16="http://schemas.microsoft.com/office/drawing/2014/main" id="{A5F1032C-CD23-DCE6-0901-D572A551F234}"/>
              </a:ext>
            </a:extLst>
          </p:cNvPr>
          <p:cNvSpPr txBox="1"/>
          <p:nvPr/>
        </p:nvSpPr>
        <p:spPr>
          <a:xfrm>
            <a:off x="9706888" y="7709578"/>
            <a:ext cx="2574653" cy="548700"/>
          </a:xfrm>
          <a:prstGeom prst="rect">
            <a:avLst/>
          </a:prstGeom>
          <a:noFill/>
          <a:ln>
            <a:noFill/>
          </a:ln>
        </p:spPr>
        <p:txBody>
          <a:bodyPr spcFirstLastPara="1" wrap="square" lIns="0" tIns="45700" rIns="0" bIns="45700" anchor="ctr" anchorCtr="0">
            <a:noAutofit/>
          </a:bodyPr>
          <a:lstStyle/>
          <a:p>
            <a:pPr lvl="0">
              <a:spcBef>
                <a:spcPts val="600"/>
              </a:spcBef>
              <a:buSzPts val="1100"/>
            </a:pPr>
            <a:r>
              <a:rPr lang="en-US" sz="1800" dirty="0">
                <a:solidFill>
                  <a:srgbClr val="9193A8"/>
                </a:solidFill>
              </a:rPr>
              <a:t>Extract and enrich observables, analyze content.</a:t>
            </a:r>
            <a:endParaRPr lang="en-US" sz="2400" dirty="0"/>
          </a:p>
        </p:txBody>
      </p:sp>
      <p:sp>
        <p:nvSpPr>
          <p:cNvPr id="7" name="Google Shape;224;p11">
            <a:extLst>
              <a:ext uri="{FF2B5EF4-FFF2-40B4-BE49-F238E27FC236}">
                <a16:creationId xmlns:a16="http://schemas.microsoft.com/office/drawing/2014/main" id="{0F2AD98D-10E5-6180-BD86-2CA72CCEC053}"/>
              </a:ext>
            </a:extLst>
          </p:cNvPr>
          <p:cNvSpPr txBox="1"/>
          <p:nvPr/>
        </p:nvSpPr>
        <p:spPr>
          <a:xfrm>
            <a:off x="1308845" y="5378589"/>
            <a:ext cx="2983702" cy="861774"/>
          </a:xfrm>
          <a:prstGeom prst="rect">
            <a:avLst/>
          </a:prstGeom>
          <a:noFill/>
          <a:ln>
            <a:noFill/>
          </a:ln>
        </p:spPr>
        <p:txBody>
          <a:bodyPr spcFirstLastPara="1" wrap="square" lIns="0" tIns="0" rIns="0" bIns="0" anchor="t" anchorCtr="0">
            <a:spAutoFit/>
          </a:bodyPr>
          <a:lstStyle/>
          <a:p>
            <a:pPr lvl="0">
              <a:buSzPts val="2400"/>
            </a:pPr>
            <a:r>
              <a:rPr lang="en-US" sz="2800" dirty="0"/>
              <a:t>Endpoint Threat Mitigation</a:t>
            </a:r>
          </a:p>
        </p:txBody>
      </p:sp>
      <p:sp>
        <p:nvSpPr>
          <p:cNvPr id="8" name="Google Shape;225;p11">
            <a:extLst>
              <a:ext uri="{FF2B5EF4-FFF2-40B4-BE49-F238E27FC236}">
                <a16:creationId xmlns:a16="http://schemas.microsoft.com/office/drawing/2014/main" id="{FE896E99-7985-6E4B-514F-6EA085A8F841}"/>
              </a:ext>
            </a:extLst>
          </p:cNvPr>
          <p:cNvSpPr txBox="1"/>
          <p:nvPr/>
        </p:nvSpPr>
        <p:spPr>
          <a:xfrm>
            <a:off x="1308845" y="7580778"/>
            <a:ext cx="2626981" cy="548700"/>
          </a:xfrm>
          <a:prstGeom prst="rect">
            <a:avLst/>
          </a:prstGeom>
          <a:noFill/>
          <a:ln>
            <a:noFill/>
          </a:ln>
        </p:spPr>
        <p:txBody>
          <a:bodyPr spcFirstLastPara="1" wrap="square" lIns="0" tIns="45700" rIns="0" bIns="45700" anchor="ctr" anchorCtr="0">
            <a:noAutofit/>
          </a:bodyPr>
          <a:lstStyle/>
          <a:p>
            <a:pPr lvl="0">
              <a:spcBef>
                <a:spcPts val="600"/>
              </a:spcBef>
            </a:pPr>
            <a:r>
              <a:rPr lang="en-US" sz="1800" dirty="0">
                <a:solidFill>
                  <a:srgbClr val="9193A8"/>
                </a:solidFill>
              </a:rPr>
              <a:t>Automate quarantine, kill, and rollback actions.</a:t>
            </a:r>
            <a:endParaRPr lang="en-US" sz="1800" dirty="0"/>
          </a:p>
        </p:txBody>
      </p:sp>
      <p:sp>
        <p:nvSpPr>
          <p:cNvPr id="12" name="Google Shape;229;p11">
            <a:extLst>
              <a:ext uri="{FF2B5EF4-FFF2-40B4-BE49-F238E27FC236}">
                <a16:creationId xmlns:a16="http://schemas.microsoft.com/office/drawing/2014/main" id="{F6D1C982-AD35-6D5E-8A43-01D7A7744723}"/>
              </a:ext>
            </a:extLst>
          </p:cNvPr>
          <p:cNvSpPr txBox="1"/>
          <p:nvPr/>
        </p:nvSpPr>
        <p:spPr>
          <a:xfrm>
            <a:off x="5512215" y="7868876"/>
            <a:ext cx="3095951" cy="548700"/>
          </a:xfrm>
          <a:prstGeom prst="rect">
            <a:avLst/>
          </a:prstGeom>
          <a:noFill/>
          <a:ln>
            <a:noFill/>
          </a:ln>
        </p:spPr>
        <p:txBody>
          <a:bodyPr spcFirstLastPara="1" wrap="square" lIns="0" tIns="45700" rIns="640075" bIns="45700" anchor="ctr" anchorCtr="0">
            <a:noAutofit/>
          </a:bodyPr>
          <a:lstStyle/>
          <a:p>
            <a:pPr>
              <a:buSzPts val="1800"/>
            </a:pPr>
            <a:r>
              <a:rPr lang="en-US" sz="1800" dirty="0">
                <a:solidFill>
                  <a:srgbClr val="9193A8"/>
                </a:solidFill>
              </a:rPr>
              <a:t>Handle access blocks, 2FA, and JIT provisioning.</a:t>
            </a:r>
            <a:endParaRPr lang="en-US" sz="1800" dirty="0"/>
          </a:p>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rgbClr val="757AAD"/>
              </a:solidFill>
              <a:latin typeface="Arial" panose="020B0604020202020204" pitchFamily="34" charset="0"/>
              <a:sym typeface="Arial"/>
            </a:endParaRPr>
          </a:p>
        </p:txBody>
      </p:sp>
      <p:sp>
        <p:nvSpPr>
          <p:cNvPr id="13" name="Google Shape;230;p11">
            <a:extLst>
              <a:ext uri="{FF2B5EF4-FFF2-40B4-BE49-F238E27FC236}">
                <a16:creationId xmlns:a16="http://schemas.microsoft.com/office/drawing/2014/main" id="{F6C7920D-A956-F560-38AC-2C0E7FFF72E2}"/>
              </a:ext>
            </a:extLst>
          </p:cNvPr>
          <p:cNvSpPr txBox="1"/>
          <p:nvPr/>
        </p:nvSpPr>
        <p:spPr>
          <a:xfrm>
            <a:off x="5512215" y="5377405"/>
            <a:ext cx="3371799" cy="954092"/>
          </a:xfrm>
          <a:prstGeom prst="rect">
            <a:avLst/>
          </a:prstGeom>
          <a:noFill/>
          <a:ln>
            <a:noFill/>
          </a:ln>
        </p:spPr>
        <p:txBody>
          <a:bodyPr spcFirstLastPara="1" wrap="square" lIns="0" tIns="0" rIns="0" bIns="91425" anchor="t" anchorCtr="0">
            <a:spAutoFit/>
          </a:bodyPr>
          <a:lstStyle/>
          <a:p>
            <a:pPr lvl="0">
              <a:buSzPts val="2400"/>
            </a:pPr>
            <a:r>
              <a:rPr lang="en-US" sz="2800" dirty="0"/>
              <a:t>Identity and Access</a:t>
            </a:r>
          </a:p>
          <a:p>
            <a:pPr marL="0" marR="0" lvl="0" indent="0" algn="l" rtl="0">
              <a:lnSpc>
                <a:spcPct val="100000"/>
              </a:lnSpc>
              <a:spcBef>
                <a:spcPts val="0"/>
              </a:spcBef>
              <a:spcAft>
                <a:spcPts val="0"/>
              </a:spcAft>
              <a:buClr>
                <a:srgbClr val="000000"/>
              </a:buClr>
              <a:buSzPts val="2800"/>
              <a:buFont typeface="Arial"/>
              <a:buNone/>
            </a:pPr>
            <a:endParaRPr sz="2800" u="none" strike="noStrike" cap="none" dirty="0">
              <a:solidFill>
                <a:schemeClr val="dk1"/>
              </a:solidFill>
              <a:latin typeface="Arial" panose="020B0604020202020204" pitchFamily="34" charset="0"/>
              <a:sym typeface="Arial"/>
            </a:endParaRPr>
          </a:p>
        </p:txBody>
      </p:sp>
      <p:sp>
        <p:nvSpPr>
          <p:cNvPr id="16" name="Google Shape;233;p11">
            <a:extLst>
              <a:ext uri="{FF2B5EF4-FFF2-40B4-BE49-F238E27FC236}">
                <a16:creationId xmlns:a16="http://schemas.microsoft.com/office/drawing/2014/main" id="{2BF58C37-FD4E-4BE8-EF38-FF1FF7EB112C}"/>
              </a:ext>
            </a:extLst>
          </p:cNvPr>
          <p:cNvSpPr txBox="1"/>
          <p:nvPr/>
        </p:nvSpPr>
        <p:spPr>
          <a:xfrm>
            <a:off x="13909698" y="5379796"/>
            <a:ext cx="3124559" cy="430887"/>
          </a:xfrm>
          <a:prstGeom prst="rect">
            <a:avLst/>
          </a:prstGeom>
          <a:noFill/>
          <a:ln>
            <a:noFill/>
          </a:ln>
        </p:spPr>
        <p:txBody>
          <a:bodyPr spcFirstLastPara="1" wrap="square" lIns="0" tIns="0" rIns="0" bIns="0" anchor="t" anchorCtr="0">
            <a:spAutoFit/>
          </a:bodyPr>
          <a:lstStyle/>
          <a:p>
            <a:pPr lvl="0">
              <a:buClr>
                <a:schemeClr val="dk1"/>
              </a:buClr>
              <a:buSzPts val="1100"/>
            </a:pPr>
            <a:r>
              <a:rPr lang="en-US" sz="2800" dirty="0"/>
              <a:t>Network Response</a:t>
            </a:r>
          </a:p>
        </p:txBody>
      </p:sp>
      <p:sp>
        <p:nvSpPr>
          <p:cNvPr id="17" name="Google Shape;234;p11">
            <a:extLst>
              <a:ext uri="{FF2B5EF4-FFF2-40B4-BE49-F238E27FC236}">
                <a16:creationId xmlns:a16="http://schemas.microsoft.com/office/drawing/2014/main" id="{07480495-811F-5F55-3EF8-B6820DDABE08}"/>
              </a:ext>
            </a:extLst>
          </p:cNvPr>
          <p:cNvSpPr txBox="1"/>
          <p:nvPr/>
        </p:nvSpPr>
        <p:spPr>
          <a:xfrm>
            <a:off x="13909698" y="7580774"/>
            <a:ext cx="2191225" cy="548700"/>
          </a:xfrm>
          <a:prstGeom prst="rect">
            <a:avLst/>
          </a:prstGeom>
          <a:noFill/>
          <a:ln>
            <a:noFill/>
          </a:ln>
        </p:spPr>
        <p:txBody>
          <a:bodyPr spcFirstLastPara="1" wrap="square" lIns="0" tIns="45700" rIns="0" bIns="45700" anchor="ctr" anchorCtr="0">
            <a:noAutofit/>
          </a:bodyPr>
          <a:lstStyle/>
          <a:p>
            <a:pPr lvl="0">
              <a:spcBef>
                <a:spcPts val="600"/>
              </a:spcBef>
            </a:pPr>
            <a:r>
              <a:rPr lang="en-US" sz="1800" dirty="0">
                <a:solidFill>
                  <a:srgbClr val="9193A8"/>
                </a:solidFill>
              </a:rPr>
              <a:t>Block malicious domains, URLs, and IPs.</a:t>
            </a:r>
            <a:endParaRPr lang="en-US" sz="1800" dirty="0"/>
          </a:p>
        </p:txBody>
      </p:sp>
      <p:sp>
        <p:nvSpPr>
          <p:cNvPr id="5" name="Rectangle 4">
            <a:extLst>
              <a:ext uri="{FF2B5EF4-FFF2-40B4-BE49-F238E27FC236}">
                <a16:creationId xmlns:a16="http://schemas.microsoft.com/office/drawing/2014/main" id="{8D8A7FE3-9C0C-08A8-C047-ACCB2C07EC5C}"/>
              </a:ext>
            </a:extLst>
          </p:cNvPr>
          <p:cNvSpPr/>
          <p:nvPr/>
        </p:nvSpPr>
        <p:spPr>
          <a:xfrm>
            <a:off x="1308845" y="7374471"/>
            <a:ext cx="3068274" cy="18288"/>
          </a:xfrm>
          <a:prstGeom prst="rect">
            <a:avLst/>
          </a:prstGeom>
          <a:gradFill flip="none" rotWithShape="1">
            <a:gsLst>
              <a:gs pos="99000">
                <a:srgbClr val="7165FF"/>
              </a:gs>
              <a:gs pos="0">
                <a:srgbClr val="6FB5F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2B2EA7E-334A-1E71-21A4-6A8F930EA6A1}"/>
              </a:ext>
            </a:extLst>
          </p:cNvPr>
          <p:cNvSpPr/>
          <p:nvPr/>
        </p:nvSpPr>
        <p:spPr>
          <a:xfrm>
            <a:off x="5510273" y="7374471"/>
            <a:ext cx="3068274" cy="18288"/>
          </a:xfrm>
          <a:prstGeom prst="rect">
            <a:avLst/>
          </a:prstGeom>
          <a:gradFill flip="none" rotWithShape="1">
            <a:gsLst>
              <a:gs pos="99000">
                <a:srgbClr val="7165FF"/>
              </a:gs>
              <a:gs pos="0">
                <a:srgbClr val="6FB5F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1E96254-377E-1965-3B89-C145695D9C92}"/>
              </a:ext>
            </a:extLst>
          </p:cNvPr>
          <p:cNvSpPr/>
          <p:nvPr/>
        </p:nvSpPr>
        <p:spPr>
          <a:xfrm>
            <a:off x="9706888" y="7374471"/>
            <a:ext cx="3068274" cy="18288"/>
          </a:xfrm>
          <a:prstGeom prst="rect">
            <a:avLst/>
          </a:prstGeom>
          <a:gradFill flip="none" rotWithShape="1">
            <a:gsLst>
              <a:gs pos="99000">
                <a:srgbClr val="7165FF"/>
              </a:gs>
              <a:gs pos="0">
                <a:srgbClr val="6FB5F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BEF1BBE-F410-C2B6-3316-667BA49D4BD6}"/>
              </a:ext>
            </a:extLst>
          </p:cNvPr>
          <p:cNvSpPr/>
          <p:nvPr/>
        </p:nvSpPr>
        <p:spPr>
          <a:xfrm>
            <a:off x="13913128" y="7374471"/>
            <a:ext cx="3068274" cy="18288"/>
          </a:xfrm>
          <a:prstGeom prst="rect">
            <a:avLst/>
          </a:prstGeom>
          <a:gradFill flip="none" rotWithShape="1">
            <a:gsLst>
              <a:gs pos="99000">
                <a:srgbClr val="7165FF"/>
              </a:gs>
              <a:gs pos="0">
                <a:srgbClr val="6FB5F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F8646D59-F6A4-8E3A-EC57-CA85E2B1920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34785" y="2915617"/>
            <a:ext cx="862031" cy="862031"/>
          </a:xfrm>
          <a:prstGeom prst="rect">
            <a:avLst/>
          </a:prstGeom>
        </p:spPr>
      </p:pic>
      <p:pic>
        <p:nvPicPr>
          <p:cNvPr id="23" name="Graphic 22">
            <a:extLst>
              <a:ext uri="{FF2B5EF4-FFF2-40B4-BE49-F238E27FC236}">
                <a16:creationId xmlns:a16="http://schemas.microsoft.com/office/drawing/2014/main" id="{8AE78435-A169-57FC-8B8C-E6478EB7760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20478" y="2854538"/>
            <a:ext cx="1041502" cy="1041502"/>
          </a:xfrm>
          <a:prstGeom prst="rect">
            <a:avLst/>
          </a:prstGeom>
        </p:spPr>
      </p:pic>
      <p:pic>
        <p:nvPicPr>
          <p:cNvPr id="24" name="Graphic 23">
            <a:extLst>
              <a:ext uri="{FF2B5EF4-FFF2-40B4-BE49-F238E27FC236}">
                <a16:creationId xmlns:a16="http://schemas.microsoft.com/office/drawing/2014/main" id="{D809A1D5-EA26-D945-E93D-F4AB1A62BC4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755287" y="2818699"/>
            <a:ext cx="997309" cy="997309"/>
          </a:xfrm>
          <a:prstGeom prst="rect">
            <a:avLst/>
          </a:prstGeom>
        </p:spPr>
      </p:pic>
      <p:pic>
        <p:nvPicPr>
          <p:cNvPr id="25" name="Graphic 24">
            <a:extLst>
              <a:ext uri="{FF2B5EF4-FFF2-40B4-BE49-F238E27FC236}">
                <a16:creationId xmlns:a16="http://schemas.microsoft.com/office/drawing/2014/main" id="{5049EE87-A03D-C105-6D49-641262E3ADF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110368" y="2818699"/>
            <a:ext cx="920128" cy="920128"/>
          </a:xfrm>
          <a:prstGeom prst="rect">
            <a:avLst/>
          </a:prstGeom>
        </p:spPr>
      </p:pic>
    </p:spTree>
    <p:custDataLst>
      <p:tags r:id="rId1"/>
    </p:custDataLst>
    <p:extLst>
      <p:ext uri="{BB962C8B-B14F-4D97-AF65-F5344CB8AC3E}">
        <p14:creationId xmlns:p14="http://schemas.microsoft.com/office/powerpoint/2010/main" val="3537003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31668FBD-1B57-85C6-59FD-14C94716B505}"/>
            </a:ext>
          </a:extLst>
        </p:cNvPr>
        <p:cNvGrpSpPr/>
        <p:nvPr/>
      </p:nvGrpSpPr>
      <p:grpSpPr>
        <a:xfrm>
          <a:off x="0" y="0"/>
          <a:ext cx="0" cy="0"/>
          <a:chOff x="0" y="0"/>
          <a:chExt cx="0" cy="0"/>
        </a:xfrm>
      </p:grpSpPr>
      <p:sp>
        <p:nvSpPr>
          <p:cNvPr id="2" name="Google Shape;219;p11">
            <a:extLst>
              <a:ext uri="{FF2B5EF4-FFF2-40B4-BE49-F238E27FC236}">
                <a16:creationId xmlns:a16="http://schemas.microsoft.com/office/drawing/2014/main" id="{0BA24AA7-0CC3-39A5-3E41-41F1B89EB4E9}"/>
              </a:ext>
            </a:extLst>
          </p:cNvPr>
          <p:cNvSpPr/>
          <p:nvPr/>
        </p:nvSpPr>
        <p:spPr>
          <a:xfrm>
            <a:off x="9210553" y="2364143"/>
            <a:ext cx="4069080" cy="6235842"/>
          </a:xfrm>
          <a:prstGeom prst="roundRect">
            <a:avLst>
              <a:gd name="adj" fmla="val 0"/>
            </a:avLst>
          </a:prstGeom>
          <a:solidFill>
            <a:schemeClr val="lt1"/>
          </a:solidFill>
          <a:ln w="12700" cap="flat" cmpd="sng">
            <a:noFill/>
            <a:prstDash val="solid"/>
            <a:round/>
            <a:headEnd type="none" w="sm" len="sm"/>
            <a:tailEnd type="none" w="sm" len="sm"/>
          </a:ln>
        </p:spPr>
        <p:txBody>
          <a:bodyPr spcFirstLastPara="1" wrap="square" lIns="548625" tIns="2560300" rIns="411475" bIns="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 name="Google Shape;223;p11">
            <a:extLst>
              <a:ext uri="{FF2B5EF4-FFF2-40B4-BE49-F238E27FC236}">
                <a16:creationId xmlns:a16="http://schemas.microsoft.com/office/drawing/2014/main" id="{907FC80F-A79D-700B-0978-B21102F3CC52}"/>
              </a:ext>
            </a:extLst>
          </p:cNvPr>
          <p:cNvSpPr/>
          <p:nvPr/>
        </p:nvSpPr>
        <p:spPr>
          <a:xfrm>
            <a:off x="811526" y="2364144"/>
            <a:ext cx="4070625" cy="6235842"/>
          </a:xfrm>
          <a:prstGeom prst="roundRect">
            <a:avLst>
              <a:gd name="adj" fmla="val 0"/>
            </a:avLst>
          </a:prstGeom>
          <a:solidFill>
            <a:schemeClr val="lt1"/>
          </a:solidFill>
          <a:ln w="12700" cap="flat" cmpd="sng">
            <a:noFill/>
            <a:prstDash val="solid"/>
            <a:round/>
            <a:headEnd type="none" w="sm" len="sm"/>
            <a:tailEnd type="none" w="sm" len="sm"/>
          </a:ln>
        </p:spPr>
        <p:txBody>
          <a:bodyPr spcFirstLastPara="1" wrap="square" lIns="548625" tIns="2560300" rIns="411475" bIns="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1" name="Google Shape;228;p11">
            <a:extLst>
              <a:ext uri="{FF2B5EF4-FFF2-40B4-BE49-F238E27FC236}">
                <a16:creationId xmlns:a16="http://schemas.microsoft.com/office/drawing/2014/main" id="{3A9F19FE-BB21-FA46-9D9A-5192C81250A0}"/>
              </a:ext>
            </a:extLst>
          </p:cNvPr>
          <p:cNvSpPr/>
          <p:nvPr/>
        </p:nvSpPr>
        <p:spPr>
          <a:xfrm>
            <a:off x="5011812" y="2364144"/>
            <a:ext cx="4069080" cy="6235842"/>
          </a:xfrm>
          <a:prstGeom prst="roundRect">
            <a:avLst>
              <a:gd name="adj" fmla="val 0"/>
            </a:avLst>
          </a:prstGeom>
          <a:solidFill>
            <a:schemeClr val="lt1"/>
          </a:solidFill>
          <a:ln w="12700" cap="flat" cmpd="sng">
            <a:noFill/>
            <a:prstDash val="solid"/>
            <a:round/>
            <a:headEnd type="none" w="sm" len="sm"/>
            <a:tailEnd type="none" w="sm" len="sm"/>
          </a:ln>
        </p:spPr>
        <p:txBody>
          <a:bodyPr spcFirstLastPara="1" wrap="square" lIns="548625" tIns="2560300" rIns="411475" bIns="0" anchor="t" anchorCtr="0">
            <a:noAutofit/>
          </a:bodyPr>
          <a:lstStyle/>
          <a:p>
            <a:pPr>
              <a:buSzPts val="2400"/>
            </a:pPr>
            <a:endParaRPr sz="2400">
              <a:latin typeface="Arial"/>
              <a:cs typeface="Arial"/>
            </a:endParaRPr>
          </a:p>
        </p:txBody>
      </p:sp>
      <p:sp>
        <p:nvSpPr>
          <p:cNvPr id="15" name="Google Shape;232;p11">
            <a:extLst>
              <a:ext uri="{FF2B5EF4-FFF2-40B4-BE49-F238E27FC236}">
                <a16:creationId xmlns:a16="http://schemas.microsoft.com/office/drawing/2014/main" id="{CE2D60DC-02C4-F712-B854-775A6D619471}"/>
              </a:ext>
            </a:extLst>
          </p:cNvPr>
          <p:cNvSpPr/>
          <p:nvPr/>
        </p:nvSpPr>
        <p:spPr>
          <a:xfrm>
            <a:off x="13409295" y="2364144"/>
            <a:ext cx="4069080" cy="6235842"/>
          </a:xfrm>
          <a:prstGeom prst="roundRect">
            <a:avLst>
              <a:gd name="adj" fmla="val 0"/>
            </a:avLst>
          </a:prstGeom>
          <a:solidFill>
            <a:schemeClr val="lt1"/>
          </a:solidFill>
          <a:ln w="12700" cap="flat" cmpd="sng">
            <a:noFill/>
            <a:prstDash val="solid"/>
            <a:round/>
            <a:headEnd type="none" w="sm" len="sm"/>
            <a:tailEnd type="none" w="sm" len="sm"/>
          </a:ln>
        </p:spPr>
        <p:txBody>
          <a:bodyPr spcFirstLastPara="1" wrap="square" lIns="548625" tIns="2560300" rIns="411475" bIns="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pic>
        <p:nvPicPr>
          <p:cNvPr id="19" name="Picture 18">
            <a:extLst>
              <a:ext uri="{FF2B5EF4-FFF2-40B4-BE49-F238E27FC236}">
                <a16:creationId xmlns:a16="http://schemas.microsoft.com/office/drawing/2014/main" id="{9A53AF61-6515-8A3E-11D2-A10D881AEAEF}"/>
              </a:ext>
            </a:extLst>
          </p:cNvPr>
          <p:cNvPicPr>
            <a:picLocks noChangeAspect="1"/>
          </p:cNvPicPr>
          <p:nvPr/>
        </p:nvPicPr>
        <p:blipFill>
          <a:blip r:embed="rId4"/>
          <a:srcRect/>
          <a:stretch/>
        </p:blipFill>
        <p:spPr>
          <a:xfrm>
            <a:off x="803859" y="2364143"/>
            <a:ext cx="4078290" cy="2022293"/>
          </a:xfrm>
          <a:prstGeom prst="rect">
            <a:avLst/>
          </a:prstGeom>
          <a:blipFill>
            <a:blip r:embed="rId5"/>
            <a:stretch>
              <a:fillRect/>
            </a:stretch>
          </a:blipFill>
        </p:spPr>
      </p:pic>
      <p:pic>
        <p:nvPicPr>
          <p:cNvPr id="20" name="Picture 19">
            <a:extLst>
              <a:ext uri="{FF2B5EF4-FFF2-40B4-BE49-F238E27FC236}">
                <a16:creationId xmlns:a16="http://schemas.microsoft.com/office/drawing/2014/main" id="{CD753CCE-A92A-17BA-D0EB-ED79C87E62C4}"/>
              </a:ext>
            </a:extLst>
          </p:cNvPr>
          <p:cNvPicPr>
            <a:picLocks noChangeAspect="1"/>
          </p:cNvPicPr>
          <p:nvPr/>
        </p:nvPicPr>
        <p:blipFill>
          <a:blip r:embed="rId4"/>
          <a:srcRect/>
          <a:stretch/>
        </p:blipFill>
        <p:spPr>
          <a:xfrm>
            <a:off x="5007724" y="2364143"/>
            <a:ext cx="4078290" cy="2022293"/>
          </a:xfrm>
          <a:prstGeom prst="rect">
            <a:avLst/>
          </a:prstGeom>
          <a:blipFill>
            <a:blip r:embed="rId5"/>
            <a:stretch>
              <a:fillRect/>
            </a:stretch>
          </a:blipFill>
        </p:spPr>
      </p:pic>
      <p:pic>
        <p:nvPicPr>
          <p:cNvPr id="21" name="Picture 20">
            <a:extLst>
              <a:ext uri="{FF2B5EF4-FFF2-40B4-BE49-F238E27FC236}">
                <a16:creationId xmlns:a16="http://schemas.microsoft.com/office/drawing/2014/main" id="{FBAAC798-E5B7-2F49-1263-E39061146B6B}"/>
              </a:ext>
            </a:extLst>
          </p:cNvPr>
          <p:cNvPicPr>
            <a:picLocks noChangeAspect="1"/>
          </p:cNvPicPr>
          <p:nvPr/>
        </p:nvPicPr>
        <p:blipFill>
          <a:blip r:embed="rId4"/>
          <a:srcRect/>
          <a:stretch/>
        </p:blipFill>
        <p:spPr>
          <a:xfrm>
            <a:off x="9205430" y="2364143"/>
            <a:ext cx="4078290" cy="2022293"/>
          </a:xfrm>
          <a:prstGeom prst="rect">
            <a:avLst/>
          </a:prstGeom>
          <a:blipFill>
            <a:blip r:embed="rId5"/>
            <a:stretch>
              <a:fillRect/>
            </a:stretch>
          </a:blipFill>
        </p:spPr>
      </p:pic>
      <p:pic>
        <p:nvPicPr>
          <p:cNvPr id="22" name="Picture 21">
            <a:extLst>
              <a:ext uri="{FF2B5EF4-FFF2-40B4-BE49-F238E27FC236}">
                <a16:creationId xmlns:a16="http://schemas.microsoft.com/office/drawing/2014/main" id="{39F10A75-1E6D-12C7-A149-028114CB39A4}"/>
              </a:ext>
            </a:extLst>
          </p:cNvPr>
          <p:cNvPicPr>
            <a:picLocks noChangeAspect="1"/>
          </p:cNvPicPr>
          <p:nvPr/>
        </p:nvPicPr>
        <p:blipFill>
          <a:blip r:embed="rId4"/>
          <a:srcRect/>
          <a:stretch/>
        </p:blipFill>
        <p:spPr>
          <a:xfrm>
            <a:off x="13406369" y="2364143"/>
            <a:ext cx="4078290" cy="2022293"/>
          </a:xfrm>
          <a:prstGeom prst="rect">
            <a:avLst/>
          </a:prstGeom>
          <a:blipFill>
            <a:blip r:embed="rId5"/>
            <a:stretch>
              <a:fillRect/>
            </a:stretch>
          </a:blipFill>
        </p:spPr>
      </p:pic>
      <p:sp>
        <p:nvSpPr>
          <p:cNvPr id="272" name="Google Shape;272;p13">
            <a:extLst>
              <a:ext uri="{FF2B5EF4-FFF2-40B4-BE49-F238E27FC236}">
                <a16:creationId xmlns:a16="http://schemas.microsoft.com/office/drawing/2014/main" id="{76D7F767-BC87-BF02-0A0F-327D4F0D0CCD}"/>
              </a:ext>
            </a:extLst>
          </p:cNvPr>
          <p:cNvSpPr txBox="1">
            <a:spLocks noGrp="1"/>
          </p:cNvSpPr>
          <p:nvPr>
            <p:ph type="title"/>
          </p:nvPr>
        </p:nvSpPr>
        <p:spPr>
          <a:prstGeom prst="rect">
            <a:avLst/>
          </a:prstGeom>
          <a:noFill/>
          <a:ln>
            <a:noFill/>
          </a:ln>
        </p:spPr>
        <p:txBody>
          <a:bodyPr spcFirstLastPara="1" wrap="square" lIns="0" tIns="45700" rIns="0" bIns="45700" anchor="t" anchorCtr="0">
            <a:normAutofit/>
          </a:bodyPr>
          <a:lstStyle/>
          <a:p>
            <a:pPr marL="0" lvl="0" indent="0" algn="l" rtl="0">
              <a:lnSpc>
                <a:spcPct val="90000"/>
              </a:lnSpc>
              <a:spcBef>
                <a:spcPts val="0"/>
              </a:spcBef>
              <a:spcAft>
                <a:spcPts val="0"/>
              </a:spcAft>
              <a:buClr>
                <a:schemeClr val="dk1"/>
              </a:buClr>
              <a:buSzPts val="5800"/>
              <a:buFont typeface="Arial"/>
              <a:buNone/>
            </a:pPr>
            <a:r>
              <a:rPr lang="en-US" dirty="0"/>
              <a:t>Example Hyperautomation Use Cases continued...</a:t>
            </a:r>
            <a:endParaRPr dirty="0"/>
          </a:p>
        </p:txBody>
      </p:sp>
      <p:sp>
        <p:nvSpPr>
          <p:cNvPr id="3" name="Google Shape;220;p11">
            <a:extLst>
              <a:ext uri="{FF2B5EF4-FFF2-40B4-BE49-F238E27FC236}">
                <a16:creationId xmlns:a16="http://schemas.microsoft.com/office/drawing/2014/main" id="{FB3765E7-9BC1-0A9A-0FE8-A722202AC7FD}"/>
              </a:ext>
            </a:extLst>
          </p:cNvPr>
          <p:cNvSpPr txBox="1"/>
          <p:nvPr/>
        </p:nvSpPr>
        <p:spPr>
          <a:xfrm>
            <a:off x="9710956" y="5379796"/>
            <a:ext cx="3088891" cy="861774"/>
          </a:xfrm>
          <a:prstGeom prst="rect">
            <a:avLst/>
          </a:prstGeom>
          <a:noFill/>
          <a:ln>
            <a:noFill/>
          </a:ln>
        </p:spPr>
        <p:txBody>
          <a:bodyPr spcFirstLastPara="1" wrap="square" lIns="0" tIns="0" rIns="0" bIns="0" anchor="t" anchorCtr="0">
            <a:spAutoFit/>
          </a:bodyPr>
          <a:lstStyle/>
          <a:p>
            <a:pPr lvl="0">
              <a:buSzPts val="2400"/>
            </a:pPr>
            <a:r>
              <a:rPr lang="en-US" sz="2800" dirty="0"/>
              <a:t>Threat Hunting and Response</a:t>
            </a:r>
          </a:p>
        </p:txBody>
      </p:sp>
      <p:sp>
        <p:nvSpPr>
          <p:cNvPr id="4" name="Google Shape;221;p11">
            <a:extLst>
              <a:ext uri="{FF2B5EF4-FFF2-40B4-BE49-F238E27FC236}">
                <a16:creationId xmlns:a16="http://schemas.microsoft.com/office/drawing/2014/main" id="{E4BD9CCE-1465-2C3C-9E04-EB9F9C6F87EF}"/>
              </a:ext>
            </a:extLst>
          </p:cNvPr>
          <p:cNvSpPr txBox="1"/>
          <p:nvPr/>
        </p:nvSpPr>
        <p:spPr>
          <a:xfrm>
            <a:off x="9706888" y="7722022"/>
            <a:ext cx="2574653" cy="548700"/>
          </a:xfrm>
          <a:prstGeom prst="rect">
            <a:avLst/>
          </a:prstGeom>
          <a:noFill/>
          <a:ln>
            <a:noFill/>
          </a:ln>
        </p:spPr>
        <p:txBody>
          <a:bodyPr spcFirstLastPara="1" wrap="square" lIns="0" tIns="45700" rIns="0" bIns="45700" anchor="ctr" anchorCtr="0">
            <a:noAutofit/>
          </a:bodyPr>
          <a:lstStyle/>
          <a:p>
            <a:pPr lvl="0">
              <a:spcBef>
                <a:spcPts val="600"/>
              </a:spcBef>
              <a:buSzPts val="1800"/>
            </a:pPr>
            <a:r>
              <a:rPr lang="en-US" sz="1800" dirty="0">
                <a:solidFill>
                  <a:srgbClr val="9193A8"/>
                </a:solidFill>
              </a:rPr>
              <a:t>Enable triage, threat hunting, and posture management.</a:t>
            </a:r>
            <a:endParaRPr lang="en-US" sz="1800" dirty="0"/>
          </a:p>
        </p:txBody>
      </p:sp>
      <p:sp>
        <p:nvSpPr>
          <p:cNvPr id="7" name="Google Shape;224;p11">
            <a:extLst>
              <a:ext uri="{FF2B5EF4-FFF2-40B4-BE49-F238E27FC236}">
                <a16:creationId xmlns:a16="http://schemas.microsoft.com/office/drawing/2014/main" id="{93BFFAC8-02B4-02B3-866E-EC260E69A4B4}"/>
              </a:ext>
            </a:extLst>
          </p:cNvPr>
          <p:cNvSpPr txBox="1"/>
          <p:nvPr/>
        </p:nvSpPr>
        <p:spPr>
          <a:xfrm>
            <a:off x="1308845" y="5378589"/>
            <a:ext cx="2983702" cy="861774"/>
          </a:xfrm>
          <a:prstGeom prst="rect">
            <a:avLst/>
          </a:prstGeom>
          <a:noFill/>
          <a:ln>
            <a:noFill/>
          </a:ln>
        </p:spPr>
        <p:txBody>
          <a:bodyPr spcFirstLastPara="1" wrap="square" lIns="0" tIns="0" rIns="0" bIns="0" anchor="t" anchorCtr="0">
            <a:spAutoFit/>
          </a:bodyPr>
          <a:lstStyle/>
          <a:p>
            <a:pPr lvl="0">
              <a:buSzPts val="2400"/>
            </a:pPr>
            <a:r>
              <a:rPr lang="en-US" sz="2800" dirty="0"/>
              <a:t>Ticketing and Reporting</a:t>
            </a:r>
          </a:p>
        </p:txBody>
      </p:sp>
      <p:sp>
        <p:nvSpPr>
          <p:cNvPr id="8" name="Google Shape;225;p11">
            <a:extLst>
              <a:ext uri="{FF2B5EF4-FFF2-40B4-BE49-F238E27FC236}">
                <a16:creationId xmlns:a16="http://schemas.microsoft.com/office/drawing/2014/main" id="{42C5CCD5-82C2-8B46-C412-D0E7CE0524AD}"/>
              </a:ext>
            </a:extLst>
          </p:cNvPr>
          <p:cNvSpPr txBox="1"/>
          <p:nvPr/>
        </p:nvSpPr>
        <p:spPr>
          <a:xfrm>
            <a:off x="1308845" y="7580778"/>
            <a:ext cx="2626981" cy="548700"/>
          </a:xfrm>
          <a:prstGeom prst="rect">
            <a:avLst/>
          </a:prstGeom>
          <a:noFill/>
          <a:ln>
            <a:noFill/>
          </a:ln>
        </p:spPr>
        <p:txBody>
          <a:bodyPr spcFirstLastPara="1" wrap="square" lIns="0" tIns="45700" rIns="0" bIns="45700" anchor="ctr" anchorCtr="0">
            <a:noAutofit/>
          </a:bodyPr>
          <a:lstStyle/>
          <a:p>
            <a:pPr lvl="0">
              <a:spcBef>
                <a:spcPts val="600"/>
              </a:spcBef>
              <a:buSzPts val="1800"/>
            </a:pPr>
            <a:r>
              <a:rPr lang="en-US" sz="1800" dirty="0">
                <a:solidFill>
                  <a:srgbClr val="9193A8"/>
                </a:solidFill>
              </a:rPr>
              <a:t>Automate ticket creation, escalation, and reporting.</a:t>
            </a:r>
            <a:endParaRPr lang="en-US" sz="1800" dirty="0"/>
          </a:p>
        </p:txBody>
      </p:sp>
      <p:sp>
        <p:nvSpPr>
          <p:cNvPr id="12" name="Google Shape;229;p11">
            <a:extLst>
              <a:ext uri="{FF2B5EF4-FFF2-40B4-BE49-F238E27FC236}">
                <a16:creationId xmlns:a16="http://schemas.microsoft.com/office/drawing/2014/main" id="{834E0131-D63B-B2A1-DBA7-829A58FE8EBE}"/>
              </a:ext>
            </a:extLst>
          </p:cNvPr>
          <p:cNvSpPr txBox="1"/>
          <p:nvPr/>
        </p:nvSpPr>
        <p:spPr>
          <a:xfrm>
            <a:off x="5512215" y="7893928"/>
            <a:ext cx="3095951" cy="548700"/>
          </a:xfrm>
          <a:prstGeom prst="rect">
            <a:avLst/>
          </a:prstGeom>
          <a:noFill/>
          <a:ln>
            <a:noFill/>
          </a:ln>
        </p:spPr>
        <p:txBody>
          <a:bodyPr spcFirstLastPara="1" wrap="square" lIns="0" tIns="45700" rIns="640075" bIns="45700" anchor="ctr" anchorCtr="0">
            <a:noAutofit/>
          </a:bodyPr>
          <a:lstStyle/>
          <a:p>
            <a:pPr>
              <a:buSzPts val="1800"/>
            </a:pPr>
            <a:r>
              <a:rPr lang="en-US" sz="1800" dirty="0">
                <a:solidFill>
                  <a:srgbClr val="9193A8"/>
                </a:solidFill>
              </a:rPr>
              <a:t>Analyze, prioritize, mitigate, and remediate exposures.</a:t>
            </a:r>
            <a:endParaRPr lang="en-US" sz="1800" dirty="0"/>
          </a:p>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rgbClr val="757AAD"/>
              </a:solidFill>
              <a:latin typeface="Arial" panose="020B0604020202020204" pitchFamily="34" charset="0"/>
              <a:sym typeface="Arial"/>
            </a:endParaRPr>
          </a:p>
        </p:txBody>
      </p:sp>
      <p:sp>
        <p:nvSpPr>
          <p:cNvPr id="13" name="Google Shape;230;p11">
            <a:extLst>
              <a:ext uri="{FF2B5EF4-FFF2-40B4-BE49-F238E27FC236}">
                <a16:creationId xmlns:a16="http://schemas.microsoft.com/office/drawing/2014/main" id="{61FC9C85-7A07-D154-5CF8-5CC03C587E84}"/>
              </a:ext>
            </a:extLst>
          </p:cNvPr>
          <p:cNvSpPr txBox="1"/>
          <p:nvPr/>
        </p:nvSpPr>
        <p:spPr>
          <a:xfrm>
            <a:off x="5512215" y="5377405"/>
            <a:ext cx="3371799" cy="954092"/>
          </a:xfrm>
          <a:prstGeom prst="rect">
            <a:avLst/>
          </a:prstGeom>
          <a:noFill/>
          <a:ln>
            <a:noFill/>
          </a:ln>
        </p:spPr>
        <p:txBody>
          <a:bodyPr spcFirstLastPara="1" wrap="square" lIns="0" tIns="0" rIns="0" bIns="91425" anchor="t" anchorCtr="0">
            <a:spAutoFit/>
          </a:bodyPr>
          <a:lstStyle/>
          <a:p>
            <a:pPr lvl="0">
              <a:buSzPts val="2400"/>
            </a:pPr>
            <a:r>
              <a:rPr lang="en-US" sz="2800" dirty="0"/>
              <a:t>Exposure Management</a:t>
            </a:r>
          </a:p>
        </p:txBody>
      </p:sp>
      <p:sp>
        <p:nvSpPr>
          <p:cNvPr id="16" name="Google Shape;233;p11">
            <a:extLst>
              <a:ext uri="{FF2B5EF4-FFF2-40B4-BE49-F238E27FC236}">
                <a16:creationId xmlns:a16="http://schemas.microsoft.com/office/drawing/2014/main" id="{B1105B6A-8603-F02E-9378-5A9AF2684280}"/>
              </a:ext>
            </a:extLst>
          </p:cNvPr>
          <p:cNvSpPr txBox="1"/>
          <p:nvPr/>
        </p:nvSpPr>
        <p:spPr>
          <a:xfrm>
            <a:off x="13909698" y="5379796"/>
            <a:ext cx="3124559" cy="861774"/>
          </a:xfrm>
          <a:prstGeom prst="rect">
            <a:avLst/>
          </a:prstGeom>
          <a:noFill/>
          <a:ln>
            <a:noFill/>
          </a:ln>
        </p:spPr>
        <p:txBody>
          <a:bodyPr spcFirstLastPara="1" wrap="square" lIns="0" tIns="0" rIns="0" bIns="0" anchor="t" anchorCtr="0">
            <a:spAutoFit/>
          </a:bodyPr>
          <a:lstStyle/>
          <a:p>
            <a:pPr lvl="0">
              <a:buSzPts val="2400"/>
            </a:pPr>
            <a:r>
              <a:rPr lang="en-US" sz="2800" dirty="0"/>
              <a:t>Alert Triage and Enrichment</a:t>
            </a:r>
          </a:p>
        </p:txBody>
      </p:sp>
      <p:sp>
        <p:nvSpPr>
          <p:cNvPr id="17" name="Google Shape;234;p11">
            <a:extLst>
              <a:ext uri="{FF2B5EF4-FFF2-40B4-BE49-F238E27FC236}">
                <a16:creationId xmlns:a16="http://schemas.microsoft.com/office/drawing/2014/main" id="{E25B136C-A7CC-6824-8DAC-EE9F95943E5D}"/>
              </a:ext>
            </a:extLst>
          </p:cNvPr>
          <p:cNvSpPr txBox="1"/>
          <p:nvPr/>
        </p:nvSpPr>
        <p:spPr>
          <a:xfrm>
            <a:off x="13909698" y="7737079"/>
            <a:ext cx="2191225" cy="548700"/>
          </a:xfrm>
          <a:prstGeom prst="rect">
            <a:avLst/>
          </a:prstGeom>
          <a:noFill/>
          <a:ln>
            <a:noFill/>
          </a:ln>
        </p:spPr>
        <p:txBody>
          <a:bodyPr spcFirstLastPara="1" wrap="square" lIns="0" tIns="45700" rIns="0" bIns="45700" anchor="ctr" anchorCtr="0">
            <a:noAutofit/>
          </a:bodyPr>
          <a:lstStyle/>
          <a:p>
            <a:pPr lvl="0"/>
            <a:r>
              <a:rPr lang="en-US" sz="1800" dirty="0">
                <a:solidFill>
                  <a:srgbClr val="9193A8"/>
                </a:solidFill>
              </a:rPr>
              <a:t>Automate triage, correlation, and enrichment.</a:t>
            </a:r>
            <a:endParaRPr lang="en-US" sz="1800" dirty="0"/>
          </a:p>
        </p:txBody>
      </p:sp>
      <p:sp>
        <p:nvSpPr>
          <p:cNvPr id="5" name="Rectangle 4">
            <a:extLst>
              <a:ext uri="{FF2B5EF4-FFF2-40B4-BE49-F238E27FC236}">
                <a16:creationId xmlns:a16="http://schemas.microsoft.com/office/drawing/2014/main" id="{D9819E92-AE81-DC27-23C8-42EA40DB7CF7}"/>
              </a:ext>
            </a:extLst>
          </p:cNvPr>
          <p:cNvSpPr/>
          <p:nvPr/>
        </p:nvSpPr>
        <p:spPr>
          <a:xfrm>
            <a:off x="1308845" y="7374471"/>
            <a:ext cx="3068274" cy="18288"/>
          </a:xfrm>
          <a:prstGeom prst="rect">
            <a:avLst/>
          </a:prstGeom>
          <a:gradFill flip="none" rotWithShape="1">
            <a:gsLst>
              <a:gs pos="99000">
                <a:srgbClr val="7165FF"/>
              </a:gs>
              <a:gs pos="0">
                <a:srgbClr val="6FB5F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977653B-0414-0A87-C74E-1E66B81B4556}"/>
              </a:ext>
            </a:extLst>
          </p:cNvPr>
          <p:cNvSpPr/>
          <p:nvPr/>
        </p:nvSpPr>
        <p:spPr>
          <a:xfrm>
            <a:off x="5510273" y="7374471"/>
            <a:ext cx="3068274" cy="18288"/>
          </a:xfrm>
          <a:prstGeom prst="rect">
            <a:avLst/>
          </a:prstGeom>
          <a:gradFill flip="none" rotWithShape="1">
            <a:gsLst>
              <a:gs pos="99000">
                <a:srgbClr val="7165FF"/>
              </a:gs>
              <a:gs pos="0">
                <a:srgbClr val="6FB5F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75A9EB5-4C38-E2B8-B325-4370969B4782}"/>
              </a:ext>
            </a:extLst>
          </p:cNvPr>
          <p:cNvSpPr/>
          <p:nvPr/>
        </p:nvSpPr>
        <p:spPr>
          <a:xfrm>
            <a:off x="9706888" y="7374471"/>
            <a:ext cx="3068274" cy="18288"/>
          </a:xfrm>
          <a:prstGeom prst="rect">
            <a:avLst/>
          </a:prstGeom>
          <a:gradFill flip="none" rotWithShape="1">
            <a:gsLst>
              <a:gs pos="99000">
                <a:srgbClr val="7165FF"/>
              </a:gs>
              <a:gs pos="0">
                <a:srgbClr val="6FB5F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FC05D6E-16F2-078D-09F7-7BC4FA0941BB}"/>
              </a:ext>
            </a:extLst>
          </p:cNvPr>
          <p:cNvSpPr/>
          <p:nvPr/>
        </p:nvSpPr>
        <p:spPr>
          <a:xfrm>
            <a:off x="13913128" y="7374471"/>
            <a:ext cx="3068274" cy="18288"/>
          </a:xfrm>
          <a:prstGeom prst="rect">
            <a:avLst/>
          </a:prstGeom>
          <a:gradFill flip="none" rotWithShape="1">
            <a:gsLst>
              <a:gs pos="99000">
                <a:srgbClr val="7165FF"/>
              </a:gs>
              <a:gs pos="0">
                <a:srgbClr val="6FB5F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CAB1E82C-D14F-1511-A25F-ADE754747DF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60744" y="2852987"/>
            <a:ext cx="930791" cy="930791"/>
          </a:xfrm>
          <a:prstGeom prst="rect">
            <a:avLst/>
          </a:prstGeom>
        </p:spPr>
      </p:pic>
      <p:pic>
        <p:nvPicPr>
          <p:cNvPr id="24" name="Graphic 23">
            <a:extLst>
              <a:ext uri="{FF2B5EF4-FFF2-40B4-BE49-F238E27FC236}">
                <a16:creationId xmlns:a16="http://schemas.microsoft.com/office/drawing/2014/main" id="{24CD133E-2A77-3A0B-EFFE-BCC165D2616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27633" y="2889647"/>
            <a:ext cx="930791" cy="930791"/>
          </a:xfrm>
          <a:prstGeom prst="rect">
            <a:avLst/>
          </a:prstGeom>
        </p:spPr>
      </p:pic>
      <p:pic>
        <p:nvPicPr>
          <p:cNvPr id="25" name="Graphic 24">
            <a:extLst>
              <a:ext uri="{FF2B5EF4-FFF2-40B4-BE49-F238E27FC236}">
                <a16:creationId xmlns:a16="http://schemas.microsoft.com/office/drawing/2014/main" id="{F86E3EB5-8594-A9AE-5D27-5837D62A57B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802099" y="2889647"/>
            <a:ext cx="930791" cy="930791"/>
          </a:xfrm>
          <a:prstGeom prst="rect">
            <a:avLst/>
          </a:prstGeom>
        </p:spPr>
      </p:pic>
      <p:pic>
        <p:nvPicPr>
          <p:cNvPr id="26" name="Graphic 25">
            <a:extLst>
              <a:ext uri="{FF2B5EF4-FFF2-40B4-BE49-F238E27FC236}">
                <a16:creationId xmlns:a16="http://schemas.microsoft.com/office/drawing/2014/main" id="{952A19E7-22FA-496A-6ED0-D6096A32C91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154779" y="2857873"/>
            <a:ext cx="930791" cy="930791"/>
          </a:xfrm>
          <a:prstGeom prst="rect">
            <a:avLst/>
          </a:prstGeom>
        </p:spPr>
      </p:pic>
    </p:spTree>
    <p:custDataLst>
      <p:tags r:id="rId1"/>
    </p:custDataLst>
    <p:extLst>
      <p:ext uri="{BB962C8B-B14F-4D97-AF65-F5344CB8AC3E}">
        <p14:creationId xmlns:p14="http://schemas.microsoft.com/office/powerpoint/2010/main" val="3737020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4">
          <a:extLst>
            <a:ext uri="{FF2B5EF4-FFF2-40B4-BE49-F238E27FC236}">
              <a16:creationId xmlns:a16="http://schemas.microsoft.com/office/drawing/2014/main" id="{3F4B1671-FBC1-A883-AF03-88D808040E41}"/>
            </a:ext>
          </a:extLst>
        </p:cNvPr>
        <p:cNvGrpSpPr/>
        <p:nvPr/>
      </p:nvGrpSpPr>
      <p:grpSpPr>
        <a:xfrm>
          <a:off x="0" y="0"/>
          <a:ext cx="0" cy="0"/>
          <a:chOff x="0" y="0"/>
          <a:chExt cx="0" cy="0"/>
        </a:xfrm>
      </p:grpSpPr>
      <p:sp>
        <p:nvSpPr>
          <p:cNvPr id="385" name="Google Shape;385;p18">
            <a:extLst>
              <a:ext uri="{FF2B5EF4-FFF2-40B4-BE49-F238E27FC236}">
                <a16:creationId xmlns:a16="http://schemas.microsoft.com/office/drawing/2014/main" id="{66ECDF92-E661-363A-58FF-A512CE9CCF54}"/>
              </a:ext>
            </a:extLst>
          </p:cNvPr>
          <p:cNvSpPr txBox="1">
            <a:spLocks noGrp="1"/>
          </p:cNvSpPr>
          <p:nvPr>
            <p:ph type="title"/>
          </p:nvPr>
        </p:nvSpPr>
        <p:spPr>
          <a:xfrm>
            <a:off x="761935" y="5177499"/>
            <a:ext cx="8134930" cy="1846659"/>
          </a:xfrm>
          <a:noFill/>
          <a:ln>
            <a:noFill/>
          </a:ln>
        </p:spPr>
        <p:txBody>
          <a:bodyPr spcFirstLastPara="1" wrap="square" lIns="0" tIns="0" rIns="0" bIns="0" anchor="b" anchorCtr="0">
            <a:spAutoFit/>
          </a:bodyPr>
          <a:lstStyle/>
          <a:p>
            <a:pPr lvl="0"/>
            <a:r>
              <a:rPr lang="en-US" dirty="0"/>
              <a:t>Fundamentals of Hyperautomation</a:t>
            </a:r>
          </a:p>
        </p:txBody>
      </p:sp>
      <p:pic>
        <p:nvPicPr>
          <p:cNvPr id="15" name="Pixelhead" descr="A blue and purple pixelated arrow&#10;&#10;AI-generated content may be incorrect.">
            <a:extLst>
              <a:ext uri="{FF2B5EF4-FFF2-40B4-BE49-F238E27FC236}">
                <a16:creationId xmlns:a16="http://schemas.microsoft.com/office/drawing/2014/main" id="{C003961D-7FB2-5633-6CD9-7CD406723192}"/>
              </a:ext>
            </a:extLst>
          </p:cNvPr>
          <p:cNvPicPr>
            <a:picLocks noChangeAspect="1"/>
          </p:cNvPicPr>
          <p:nvPr/>
        </p:nvPicPr>
        <p:blipFill>
          <a:blip r:embed="rId4"/>
          <a:stretch>
            <a:fillRect/>
          </a:stretch>
        </p:blipFill>
        <p:spPr>
          <a:xfrm>
            <a:off x="8676640" y="1719175"/>
            <a:ext cx="8966200" cy="6848650"/>
          </a:xfrm>
          <a:prstGeom prst="rect">
            <a:avLst/>
          </a:prstGeom>
        </p:spPr>
      </p:pic>
      <p:pic>
        <p:nvPicPr>
          <p:cNvPr id="21" name="Bitmap" descr="A blue and black rectangle with a white center&#10;&#10;AI-generated content may be incorrect.">
            <a:extLst>
              <a:ext uri="{FF2B5EF4-FFF2-40B4-BE49-F238E27FC236}">
                <a16:creationId xmlns:a16="http://schemas.microsoft.com/office/drawing/2014/main" id="{38002E4D-A801-0448-1DFC-4F4E80B1BDFD}"/>
              </a:ext>
            </a:extLst>
          </p:cNvPr>
          <p:cNvPicPr>
            <a:picLocks noChangeAspect="1"/>
          </p:cNvPicPr>
          <p:nvPr/>
        </p:nvPicPr>
        <p:blipFill>
          <a:blip r:embed="rId5"/>
          <a:stretch>
            <a:fillRect/>
          </a:stretch>
        </p:blipFill>
        <p:spPr>
          <a:xfrm>
            <a:off x="-1261034" y="8343991"/>
            <a:ext cx="20501134" cy="5595886"/>
          </a:xfrm>
          <a:prstGeom prst="rect">
            <a:avLst/>
          </a:prstGeom>
        </p:spPr>
      </p:pic>
      <p:pic>
        <p:nvPicPr>
          <p:cNvPr id="16" name="Star 2" descr="A blue light on a black background&#10;&#10;AI-generated content may be incorrect.">
            <a:extLst>
              <a:ext uri="{FF2B5EF4-FFF2-40B4-BE49-F238E27FC236}">
                <a16:creationId xmlns:a16="http://schemas.microsoft.com/office/drawing/2014/main" id="{1C468799-C29B-B3D1-ECAA-CE56709E05F8}"/>
              </a:ext>
            </a:extLst>
          </p:cNvPr>
          <p:cNvPicPr>
            <a:picLocks noChangeAspect="1"/>
          </p:cNvPicPr>
          <p:nvPr/>
        </p:nvPicPr>
        <p:blipFill>
          <a:blip r:embed="rId6"/>
          <a:stretch>
            <a:fillRect/>
          </a:stretch>
        </p:blipFill>
        <p:spPr>
          <a:xfrm>
            <a:off x="18678218" y="157700"/>
            <a:ext cx="561882" cy="542972"/>
          </a:xfrm>
          <a:prstGeom prst="rect">
            <a:avLst/>
          </a:prstGeom>
        </p:spPr>
      </p:pic>
      <p:pic>
        <p:nvPicPr>
          <p:cNvPr id="17" name="Star 3" descr="A blue light on a black background&#10;&#10;AI-generated content may be incorrect.">
            <a:extLst>
              <a:ext uri="{FF2B5EF4-FFF2-40B4-BE49-F238E27FC236}">
                <a16:creationId xmlns:a16="http://schemas.microsoft.com/office/drawing/2014/main" id="{413C96E0-B004-9F3B-3887-554BF97DDA92}"/>
              </a:ext>
            </a:extLst>
          </p:cNvPr>
          <p:cNvPicPr>
            <a:picLocks noChangeAspect="1"/>
          </p:cNvPicPr>
          <p:nvPr/>
        </p:nvPicPr>
        <p:blipFill>
          <a:blip r:embed="rId6"/>
          <a:stretch>
            <a:fillRect/>
          </a:stretch>
        </p:blipFill>
        <p:spPr>
          <a:xfrm>
            <a:off x="18959159" y="9723820"/>
            <a:ext cx="623863" cy="602868"/>
          </a:xfrm>
          <a:prstGeom prst="rect">
            <a:avLst/>
          </a:prstGeom>
        </p:spPr>
      </p:pic>
      <p:pic>
        <p:nvPicPr>
          <p:cNvPr id="18" name="Star 1" descr="A blue light on a black background&#10;&#10;AI-generated content may be incorrect.">
            <a:extLst>
              <a:ext uri="{FF2B5EF4-FFF2-40B4-BE49-F238E27FC236}">
                <a16:creationId xmlns:a16="http://schemas.microsoft.com/office/drawing/2014/main" id="{561F686E-7592-7474-DBA7-16B6EF8B26F4}"/>
              </a:ext>
            </a:extLst>
          </p:cNvPr>
          <p:cNvPicPr>
            <a:picLocks noChangeAspect="1"/>
          </p:cNvPicPr>
          <p:nvPr/>
        </p:nvPicPr>
        <p:blipFill>
          <a:blip r:embed="rId6"/>
          <a:stretch>
            <a:fillRect/>
          </a:stretch>
        </p:blipFill>
        <p:spPr>
          <a:xfrm>
            <a:off x="18100924" y="-750015"/>
            <a:ext cx="669840" cy="647298"/>
          </a:xfrm>
          <a:prstGeom prst="rect">
            <a:avLst/>
          </a:prstGeom>
        </p:spPr>
      </p:pic>
      <p:sp>
        <p:nvSpPr>
          <p:cNvPr id="3" name="TextBox 2">
            <a:extLst>
              <a:ext uri="{FF2B5EF4-FFF2-40B4-BE49-F238E27FC236}">
                <a16:creationId xmlns:a16="http://schemas.microsoft.com/office/drawing/2014/main" id="{C311AC4B-88C9-F86A-BCF0-55F154939CC5}"/>
              </a:ext>
            </a:extLst>
          </p:cNvPr>
          <p:cNvSpPr txBox="1"/>
          <p:nvPr/>
        </p:nvSpPr>
        <p:spPr>
          <a:xfrm>
            <a:off x="3945699" y="6441065"/>
            <a:ext cx="10421654"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671EE481-8A87-7FD5-A37A-3535499178F5}"/>
              </a:ext>
            </a:extLst>
          </p:cNvPr>
          <p:cNvSpPr txBox="1"/>
          <p:nvPr/>
        </p:nvSpPr>
        <p:spPr>
          <a:xfrm>
            <a:off x="3945699" y="6441065"/>
            <a:ext cx="10421654" cy="307777"/>
          </a:xfrm>
          <a:prstGeom prst="rect">
            <a:avLst/>
          </a:prstGeom>
          <a:noFill/>
        </p:spPr>
        <p:txBody>
          <a:bodyPr wrap="square">
            <a:spAutoFit/>
          </a:bodyPr>
          <a:lstStyle/>
          <a:p>
            <a:r>
              <a:rPr lang="en-US" b="0" dirty="0">
                <a:effectLst/>
              </a:rPr>
              <a:t> </a:t>
            </a:r>
            <a:endParaRPr lang="en-US" dirty="0"/>
          </a:p>
        </p:txBody>
      </p:sp>
    </p:spTree>
    <p:custDataLst>
      <p:tags r:id="rId1"/>
    </p:custDataLst>
    <p:extLst>
      <p:ext uri="{BB962C8B-B14F-4D97-AF65-F5344CB8AC3E}">
        <p14:creationId xmlns:p14="http://schemas.microsoft.com/office/powerpoint/2010/main" val="2496798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decel="50000" fill="hold" nodeType="withEffect">
                                  <p:stCondLst>
                                    <p:cond delay="0"/>
                                  </p:stCondLst>
                                  <p:childTnLst>
                                    <p:animMotion origin="layout" path="M 0.01285 0.01142 L -0.175 0.06204 L -0.30929 0.1054 L -0.40694 0.14877 L -0.45929 0.1767 L -0.48889 0.1963 " pathEditMode="relative" ptsTypes="AAAAAA">
                                      <p:cBhvr>
                                        <p:cTn id="6" dur="2000" fill="hold"/>
                                        <p:tgtEl>
                                          <p:spTgt spid="18"/>
                                        </p:tgtEl>
                                        <p:attrNameLst>
                                          <p:attrName>ppt_x</p:attrName>
                                          <p:attrName>ppt_y</p:attrName>
                                        </p:attrNameLst>
                                      </p:cBhvr>
                                    </p:animMotion>
                                  </p:childTnLst>
                                </p:cTn>
                              </p:par>
                              <p:par>
                                <p:cTn id="7" presetID="0" presetClass="path" presetSubtype="0" decel="50000" fill="hold" nodeType="withEffect">
                                  <p:stCondLst>
                                    <p:cond delay="0"/>
                                  </p:stCondLst>
                                  <p:childTnLst>
                                    <p:animMotion origin="layout" path="M 0.02665 -0.02207 L -0.05425 0.02947 L -0.1257 0.08225 L -0.18212 0.13811 L -0.20651 0.16898 " pathEditMode="relative" ptsTypes="AAAAA">
                                      <p:cBhvr>
                                        <p:cTn id="8" dur="2000" fill="hold"/>
                                        <p:tgtEl>
                                          <p:spTgt spid="16"/>
                                        </p:tgtEl>
                                        <p:attrNameLst>
                                          <p:attrName>ppt_x</p:attrName>
                                          <p:attrName>ppt_y</p:attrName>
                                        </p:attrNameLst>
                                      </p:cBhvr>
                                    </p:animMotion>
                                  </p:childTnLst>
                                </p:cTn>
                              </p:par>
                              <p:par>
                                <p:cTn id="9" presetID="0" presetClass="path" presetSubtype="0" decel="50000" fill="hold" nodeType="withEffect">
                                  <p:stCondLst>
                                    <p:cond delay="0"/>
                                  </p:stCondLst>
                                  <p:childTnLst>
                                    <p:animMotion origin="layout" path="M 0.04566 0.01157 L -0.04974 -0.00201 L -0.10607 -0.01744 L -0.22699 -0.05679 L -0.36015 -0.11574 L -0.45495 -0.17361 L -0.51883 -0.22315 " pathEditMode="relative" ptsTypes="AAAAAAA">
                                      <p:cBhvr>
                                        <p:cTn id="10" dur="2000" fill="hold"/>
                                        <p:tgtEl>
                                          <p:spTgt spid="17"/>
                                        </p:tgtEl>
                                        <p:attrNameLst>
                                          <p:attrName>ppt_x</p:attrName>
                                          <p:attrName>ppt_y</p:attrName>
                                        </p:attrNameLst>
                                      </p:cBhvr>
                                    </p:animMotion>
                                  </p:childTnLst>
                                </p:cTn>
                              </p:par>
                              <p:par>
                                <p:cTn id="11" presetID="42" presetClass="entr" presetSubtype="0" fill="hold" nodeType="withEffect">
                                  <p:stCondLst>
                                    <p:cond delay="10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750"/>
                                        <p:tgtEl>
                                          <p:spTgt spid="21"/>
                                        </p:tgtEl>
                                      </p:cBhvr>
                                    </p:animEffect>
                                    <p:anim calcmode="lin" valueType="num">
                                      <p:cBhvr>
                                        <p:cTn id="14" dur="750" fill="hold"/>
                                        <p:tgtEl>
                                          <p:spTgt spid="21"/>
                                        </p:tgtEl>
                                        <p:attrNameLst>
                                          <p:attrName>ppt_x</p:attrName>
                                        </p:attrNameLst>
                                      </p:cBhvr>
                                      <p:tavLst>
                                        <p:tav tm="0">
                                          <p:val>
                                            <p:strVal val="#ppt_x"/>
                                          </p:val>
                                        </p:tav>
                                        <p:tav tm="100000">
                                          <p:val>
                                            <p:strVal val="#ppt_x"/>
                                          </p:val>
                                        </p:tav>
                                      </p:tavLst>
                                    </p:anim>
                                    <p:anim calcmode="lin" valueType="num">
                                      <p:cBhvr>
                                        <p:cTn id="15" dur="750" fill="hold"/>
                                        <p:tgtEl>
                                          <p:spTgt spid="21"/>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100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750"/>
                                        <p:tgtEl>
                                          <p:spTgt spid="15"/>
                                        </p:tgtEl>
                                      </p:cBhvr>
                                    </p:animEffect>
                                    <p:anim calcmode="lin" valueType="num">
                                      <p:cBhvr>
                                        <p:cTn id="19" dur="750" fill="hold"/>
                                        <p:tgtEl>
                                          <p:spTgt spid="15"/>
                                        </p:tgtEl>
                                        <p:attrNameLst>
                                          <p:attrName>ppt_x</p:attrName>
                                        </p:attrNameLst>
                                      </p:cBhvr>
                                      <p:tavLst>
                                        <p:tav tm="0">
                                          <p:val>
                                            <p:strVal val="#ppt_x"/>
                                          </p:val>
                                        </p:tav>
                                        <p:tav tm="100000">
                                          <p:val>
                                            <p:strVal val="#ppt_x"/>
                                          </p:val>
                                        </p:tav>
                                      </p:tavLst>
                                    </p:anim>
                                    <p:anim calcmode="lin" valueType="num">
                                      <p:cBhvr>
                                        <p:cTn id="20" dur="75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pic>
        <p:nvPicPr>
          <p:cNvPr id="352" name="Google Shape;352;p80"/>
          <p:cNvPicPr preferRelativeResize="0"/>
          <p:nvPr/>
        </p:nvPicPr>
        <p:blipFill rotWithShape="1">
          <a:blip r:embed="rId4">
            <a:alphaModFix/>
          </a:blip>
          <a:srcRect/>
          <a:stretch/>
        </p:blipFill>
        <p:spPr>
          <a:xfrm>
            <a:off x="5146773" y="0"/>
            <a:ext cx="11981898" cy="9937630"/>
          </a:xfrm>
          <a:prstGeom prst="rect">
            <a:avLst/>
          </a:prstGeom>
          <a:noFill/>
          <a:ln>
            <a:noFill/>
          </a:ln>
        </p:spPr>
      </p:pic>
      <p:sp>
        <p:nvSpPr>
          <p:cNvPr id="353" name="Google Shape;353;p80"/>
          <p:cNvSpPr txBox="1"/>
          <p:nvPr/>
        </p:nvSpPr>
        <p:spPr>
          <a:xfrm>
            <a:off x="293913" y="268129"/>
            <a:ext cx="6613071" cy="545937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A5CEE"/>
              </a:buClr>
              <a:buSzPts val="6000"/>
              <a:buFont typeface="Arial"/>
              <a:buNone/>
            </a:pPr>
            <a:r>
              <a:rPr lang="en-US" sz="6000" b="1" i="0" u="none" strike="noStrike" cap="none">
                <a:solidFill>
                  <a:srgbClr val="7A5CEE"/>
                </a:solidFill>
                <a:latin typeface="Calibri"/>
                <a:ea typeface="Calibri"/>
                <a:cs typeface="Calibri"/>
                <a:sym typeface="Calibri"/>
              </a:rPr>
              <a:t>Singularity Platform</a:t>
            </a:r>
            <a:endParaRPr sz="6000" b="1" i="0" u="none" strike="noStrike" cap="none">
              <a:solidFill>
                <a:srgbClr val="7A5CEE"/>
              </a:solidFill>
              <a:highlight>
                <a:srgbClr val="FFFFFF"/>
              </a:highlight>
              <a:latin typeface="Lato"/>
              <a:ea typeface="Lato"/>
              <a:cs typeface="Lato"/>
              <a:sym typeface="Lato"/>
            </a:endParaRPr>
          </a:p>
          <a:p>
            <a:pPr marL="342900" marR="0" lvl="0" indent="-342900" algn="l" rtl="0">
              <a:lnSpc>
                <a:spcPct val="90000"/>
              </a:lnSpc>
              <a:spcBef>
                <a:spcPts val="1800"/>
              </a:spcBef>
              <a:spcAft>
                <a:spcPts val="0"/>
              </a:spcAft>
              <a:buClr>
                <a:schemeClr val="dk1"/>
              </a:buClr>
              <a:buSzPts val="1800"/>
              <a:buFont typeface="Arial"/>
              <a:buChar char="•"/>
            </a:pPr>
            <a:r>
              <a:rPr lang="en-US" sz="1800" b="0" i="0" u="none" strike="noStrike" cap="none">
                <a:solidFill>
                  <a:schemeClr val="dk1"/>
                </a:solidFill>
                <a:highlight>
                  <a:srgbClr val="FFFFFF"/>
                </a:highlight>
                <a:latin typeface="Lato"/>
                <a:ea typeface="Lato"/>
                <a:cs typeface="Lato"/>
                <a:sym typeface="Lato"/>
              </a:rPr>
              <a:t>The strongest aspect of our solution is the unified platform providing protection and visibility into the endpoint, cloud environments, Identity and Active Directory, as well third- party log sources that AI SIEM can ingest.</a:t>
            </a:r>
            <a:endParaRPr sz="1800" b="0" i="0" u="none" strike="noStrike" cap="none">
              <a:solidFill>
                <a:schemeClr val="dk1"/>
              </a:solidFill>
              <a:highlight>
                <a:srgbClr val="FFFF00"/>
              </a:highlight>
              <a:latin typeface="Lato"/>
              <a:ea typeface="Lato"/>
              <a:cs typeface="Lato"/>
              <a:sym typeface="Lato"/>
            </a:endParaRPr>
          </a:p>
          <a:p>
            <a:pPr marL="88900" marR="0" lvl="0" indent="0" algn="l" rtl="0">
              <a:lnSpc>
                <a:spcPct val="90000"/>
              </a:lnSpc>
              <a:spcBef>
                <a:spcPts val="1500"/>
              </a:spcBef>
              <a:spcAft>
                <a:spcPts val="0"/>
              </a:spcAft>
              <a:buClr>
                <a:schemeClr val="dk1"/>
              </a:buClr>
              <a:buSzPts val="4200"/>
              <a:buFont typeface="Arial"/>
              <a:buNone/>
            </a:pPr>
            <a:endParaRPr sz="4200" b="0" i="0" u="none" strike="noStrike" cap="none">
              <a:solidFill>
                <a:schemeClr val="dk1"/>
              </a:solidFill>
              <a:latin typeface="Calibri"/>
              <a:ea typeface="Calibri"/>
              <a:cs typeface="Calibri"/>
              <a:sym typeface="Calibri"/>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8"/>
          <p:cNvSpPr txBox="1">
            <a:spLocks noGrp="1"/>
          </p:cNvSpPr>
          <p:nvPr>
            <p:ph type="title"/>
          </p:nvPr>
        </p:nvSpPr>
        <p:spPr>
          <a:xfrm>
            <a:off x="820738" y="504825"/>
            <a:ext cx="16657800" cy="924000"/>
          </a:xfrm>
          <a:prstGeom prst="rect">
            <a:avLst/>
          </a:prstGeom>
          <a:noFill/>
          <a:ln>
            <a:noFill/>
          </a:ln>
        </p:spPr>
        <p:txBody>
          <a:bodyPr spcFirstLastPara="1" wrap="square" lIns="0" tIns="45700" rIns="0" bIns="45700" anchor="t" anchorCtr="0">
            <a:normAutofit fontScale="90000"/>
          </a:bodyPr>
          <a:lstStyle/>
          <a:p>
            <a:pPr marL="0" lvl="0" indent="0" algn="ctr" rtl="0">
              <a:lnSpc>
                <a:spcPct val="90000"/>
              </a:lnSpc>
              <a:spcBef>
                <a:spcPts val="0"/>
              </a:spcBef>
              <a:spcAft>
                <a:spcPts val="0"/>
              </a:spcAft>
              <a:buClr>
                <a:schemeClr val="dk1"/>
              </a:buClr>
              <a:buSzPts val="5800"/>
              <a:buFont typeface="Arial"/>
              <a:buNone/>
            </a:pPr>
            <a:r>
              <a:rPr lang="en-US" dirty="0">
                <a:latin typeface="Lato"/>
                <a:ea typeface="Lato"/>
                <a:cs typeface="Lato"/>
                <a:sym typeface="Lato"/>
              </a:rPr>
              <a:t>Preparing for Hyperautomation</a:t>
            </a:r>
            <a:br>
              <a:rPr lang="en-US" dirty="0">
                <a:latin typeface="Lato"/>
                <a:ea typeface="Lato"/>
                <a:cs typeface="Lato"/>
                <a:sym typeface="Lato"/>
              </a:rPr>
            </a:br>
            <a:endParaRPr i="1" dirty="0">
              <a:highlight>
                <a:srgbClr val="FFFF00"/>
              </a:highlight>
              <a:latin typeface="Lato"/>
              <a:ea typeface="Lato"/>
              <a:cs typeface="Lato"/>
              <a:sym typeface="Lato"/>
            </a:endParaRPr>
          </a:p>
        </p:txBody>
      </p:sp>
      <p:sp>
        <p:nvSpPr>
          <p:cNvPr id="495" name="Google Shape;495;p68" descr="e7d195523061f1c0cef09ac28eaae964ec9988a5cce77c8b8C1E4685C6E6B40CD7615480512384A61EE159C6FE0045D14B61E85D0A95589D558B81FFC809322ACC20DC2254D928200A3EA0841B8B181425E75F621A0737AE52F75253442D7DFDFFB884E79B152A59AC1BF8F007369901BBE03D7BF90910ED4C9E716A6727A8A3FD4B34E854846BB4"/>
          <p:cNvSpPr/>
          <p:nvPr/>
        </p:nvSpPr>
        <p:spPr>
          <a:xfrm>
            <a:off x="6667050" y="3047686"/>
            <a:ext cx="4936200" cy="4936200"/>
          </a:xfrm>
          <a:prstGeom prst="diamond">
            <a:avLst/>
          </a:prstGeom>
          <a:solidFill>
            <a:srgbClr val="EBEFFF"/>
          </a:solidFill>
          <a:ln>
            <a:noFill/>
          </a:ln>
        </p:spPr>
        <p:txBody>
          <a:bodyPr spcFirstLastPara="1" wrap="square" lIns="91450" tIns="45700" rIns="91450"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rgbClr val="FFFFFF"/>
              </a:solidFill>
              <a:latin typeface="Arial"/>
              <a:ea typeface="Arial"/>
              <a:cs typeface="Arial"/>
              <a:sym typeface="Arial"/>
            </a:endParaRPr>
          </a:p>
        </p:txBody>
      </p:sp>
      <p:sp>
        <p:nvSpPr>
          <p:cNvPr id="496" name="Google Shape;496;p68" descr="e7d195523061f1c0cef09ac28eaae964ec9988a5cce77c8b8C1E4685C6E6B40CD7615480512384A61EE159C6FE0045D14B61E85D0A95589D558B81FFC809322ACC20DC2254D928200A3EA0841B8B181425E75F621A0737AE52F75253442D7DFDFFB884E79B152A59AC1BF8F007369901BBE03D7BF90910ED4C9E716A6727A8A3FD4B34E854846BB4"/>
          <p:cNvSpPr/>
          <p:nvPr/>
        </p:nvSpPr>
        <p:spPr>
          <a:xfrm rot="2700000">
            <a:off x="6894821" y="3257910"/>
            <a:ext cx="1871005" cy="1870580"/>
          </a:xfrm>
          <a:prstGeom prst="rect">
            <a:avLst/>
          </a:prstGeom>
          <a:solidFill>
            <a:schemeClr val="dk1"/>
          </a:solidFill>
          <a:ln>
            <a:noFill/>
          </a:ln>
        </p:spPr>
        <p:txBody>
          <a:bodyPr spcFirstLastPara="1" wrap="square" lIns="91450" tIns="45700" rIns="91450" bIns="45700" anchor="ctr" anchorCtr="0">
            <a:noAutofit/>
          </a:bodyPr>
          <a:lstStyle/>
          <a:p>
            <a:pPr marL="0" marR="0" lvl="0" indent="0" algn="ctr" rtl="0">
              <a:lnSpc>
                <a:spcPct val="100000"/>
              </a:lnSpc>
              <a:spcBef>
                <a:spcPts val="0"/>
              </a:spcBef>
              <a:spcAft>
                <a:spcPts val="0"/>
              </a:spcAft>
              <a:buClr>
                <a:srgbClr val="000000"/>
              </a:buClr>
              <a:buSzPts val="4200"/>
              <a:buFont typeface="Arial"/>
              <a:buNone/>
            </a:pPr>
            <a:endParaRPr sz="4200" b="0" i="0" u="none" strike="noStrike" cap="none">
              <a:solidFill>
                <a:srgbClr val="FFFFFF"/>
              </a:solidFill>
              <a:latin typeface="Arial"/>
              <a:ea typeface="Arial"/>
              <a:cs typeface="Arial"/>
              <a:sym typeface="Arial"/>
            </a:endParaRPr>
          </a:p>
        </p:txBody>
      </p:sp>
      <p:sp>
        <p:nvSpPr>
          <p:cNvPr id="497" name="Google Shape;497;p68" descr="e7d195523061f1c0cef09ac28eaae964ec9988a5cce77c8b8C1E4685C6E6B40CD7615480512384A61EE159C6FE0045D14B61E85D0A95589D558B81FFC809322ACC20DC2254D928200A3EA0841B8B181425E75F621A0737AE52F75253442D7DFDFFB884E79B152A59AC1BF8F007369901BBE03D7BF90910ED4C9E716A6727A8A3FD4B34E854846BB4"/>
          <p:cNvSpPr/>
          <p:nvPr/>
        </p:nvSpPr>
        <p:spPr>
          <a:xfrm rot="2700000">
            <a:off x="9522771" y="3257910"/>
            <a:ext cx="1871005" cy="1870580"/>
          </a:xfrm>
          <a:prstGeom prst="rect">
            <a:avLst/>
          </a:prstGeom>
          <a:solidFill>
            <a:srgbClr val="6100FF"/>
          </a:solidFill>
          <a:ln>
            <a:noFill/>
          </a:ln>
        </p:spPr>
        <p:txBody>
          <a:bodyPr spcFirstLastPara="1" wrap="square" lIns="91450" tIns="45700" rIns="91450" bIns="45700" anchor="ctr" anchorCtr="0">
            <a:noAutofit/>
          </a:bodyPr>
          <a:lstStyle/>
          <a:p>
            <a:pPr marL="0" marR="0" lvl="0" indent="0" algn="ctr" rtl="0">
              <a:lnSpc>
                <a:spcPct val="100000"/>
              </a:lnSpc>
              <a:spcBef>
                <a:spcPts val="0"/>
              </a:spcBef>
              <a:spcAft>
                <a:spcPts val="0"/>
              </a:spcAft>
              <a:buClr>
                <a:srgbClr val="000000"/>
              </a:buClr>
              <a:buSzPts val="4200"/>
              <a:buFont typeface="Arial"/>
              <a:buNone/>
            </a:pPr>
            <a:endParaRPr sz="4200" b="0" i="0" u="none" strike="noStrike" cap="none">
              <a:solidFill>
                <a:srgbClr val="FFFFFF"/>
              </a:solidFill>
              <a:latin typeface="Arial"/>
              <a:ea typeface="Arial"/>
              <a:cs typeface="Arial"/>
              <a:sym typeface="Arial"/>
            </a:endParaRPr>
          </a:p>
        </p:txBody>
      </p:sp>
      <p:sp>
        <p:nvSpPr>
          <p:cNvPr id="498" name="Google Shape;498;p68" descr="e7d195523061f1c0cef09ac28eaae964ec9988a5cce77c8b8C1E4685C6E6B40CD7615480512384A61EE159C6FE0045D14B61E85D0A95589D558B81FFC809322ACC20DC2254D928200A3EA0841B8B181425E75F621A0737AE52F75253442D7DFDFFB884E79B152A59AC1BF8F007369901BBE03D7BF90910ED4C9E716A6727A8A3FD4B34E854846BB4"/>
          <p:cNvSpPr/>
          <p:nvPr/>
        </p:nvSpPr>
        <p:spPr>
          <a:xfrm rot="2700000">
            <a:off x="9522771" y="5885857"/>
            <a:ext cx="1871005" cy="1870580"/>
          </a:xfrm>
          <a:prstGeom prst="rect">
            <a:avLst/>
          </a:prstGeom>
          <a:solidFill>
            <a:srgbClr val="4C00C8"/>
          </a:solidFill>
          <a:ln>
            <a:noFill/>
          </a:ln>
        </p:spPr>
        <p:txBody>
          <a:bodyPr spcFirstLastPara="1" wrap="square" lIns="91450" tIns="45700" rIns="91450" bIns="45700" anchor="ctr" anchorCtr="0">
            <a:noAutofit/>
          </a:bodyPr>
          <a:lstStyle/>
          <a:p>
            <a:pPr marL="0" marR="0" lvl="0" indent="0" algn="ctr" rtl="0">
              <a:lnSpc>
                <a:spcPct val="100000"/>
              </a:lnSpc>
              <a:spcBef>
                <a:spcPts val="0"/>
              </a:spcBef>
              <a:spcAft>
                <a:spcPts val="0"/>
              </a:spcAft>
              <a:buClr>
                <a:srgbClr val="000000"/>
              </a:buClr>
              <a:buSzPts val="4200"/>
              <a:buFont typeface="Arial"/>
              <a:buNone/>
            </a:pPr>
            <a:endParaRPr sz="4200" b="0" i="0" u="none" strike="noStrike" cap="none">
              <a:solidFill>
                <a:srgbClr val="FFFFFF"/>
              </a:solidFill>
              <a:latin typeface="Arial"/>
              <a:ea typeface="Arial"/>
              <a:cs typeface="Arial"/>
              <a:sym typeface="Arial"/>
            </a:endParaRPr>
          </a:p>
        </p:txBody>
      </p:sp>
      <p:sp>
        <p:nvSpPr>
          <p:cNvPr id="499" name="Google Shape;499;p68" descr="e7d195523061f1c0cef09ac28eaae964ec9988a5cce77c8b8C1E4685C6E6B40CD7615480512384A61EE159C6FE0045D14B61E85D0A95589D558B81FFC809322ACC20DC2254D928200A3EA0841B8B181425E75F621A0737AE52F75253442D7DFDFFB884E79B152A59AC1BF8F007369901BBE03D7BF90910ED4C9E716A6727A8A3FD4B34E854846BB4"/>
          <p:cNvSpPr/>
          <p:nvPr/>
        </p:nvSpPr>
        <p:spPr>
          <a:xfrm rot="2700000">
            <a:off x="6894821" y="5885857"/>
            <a:ext cx="1871005" cy="1870580"/>
          </a:xfrm>
          <a:prstGeom prst="rect">
            <a:avLst/>
          </a:prstGeom>
          <a:solidFill>
            <a:srgbClr val="7A5CEE"/>
          </a:solidFill>
          <a:ln>
            <a:noFill/>
          </a:ln>
        </p:spPr>
        <p:txBody>
          <a:bodyPr spcFirstLastPara="1" wrap="square" lIns="91450" tIns="45700" rIns="91450" bIns="45700" anchor="ctr" anchorCtr="0">
            <a:noAutofit/>
          </a:bodyPr>
          <a:lstStyle/>
          <a:p>
            <a:pPr marL="0" marR="0" lvl="0" indent="0" algn="ctr" rtl="0">
              <a:lnSpc>
                <a:spcPct val="100000"/>
              </a:lnSpc>
              <a:spcBef>
                <a:spcPts val="0"/>
              </a:spcBef>
              <a:spcAft>
                <a:spcPts val="0"/>
              </a:spcAft>
              <a:buClr>
                <a:srgbClr val="000000"/>
              </a:buClr>
              <a:buSzPts val="4200"/>
              <a:buFont typeface="Arial"/>
              <a:buNone/>
            </a:pPr>
            <a:endParaRPr sz="4200" b="0" i="0" u="none" strike="noStrike" cap="none">
              <a:solidFill>
                <a:srgbClr val="FFFFFF"/>
              </a:solidFill>
              <a:latin typeface="Arial"/>
              <a:ea typeface="Arial"/>
              <a:cs typeface="Arial"/>
              <a:sym typeface="Arial"/>
            </a:endParaRPr>
          </a:p>
        </p:txBody>
      </p:sp>
      <p:sp>
        <p:nvSpPr>
          <p:cNvPr id="500" name="Google Shape;500;p68" descr="e7d195523061f1c0cef09ac28eaae964ec9988a5cce77c8b8C1E4685C6E6B40CD7615480512384A61EE159C6FE0045D14B61E85D0A95589D558B81FFC809322ACC20DC2254D928200A3EA0841B8B18145E4076E2716215F9CA74215B300285468169D7DD1FA2F2873B8815601B39E841862D712EA7F5373BA315BA9E7E16882AEF70AD4E677971A3"/>
          <p:cNvSpPr/>
          <p:nvPr/>
        </p:nvSpPr>
        <p:spPr>
          <a:xfrm>
            <a:off x="1288563" y="3505893"/>
            <a:ext cx="4861800" cy="1505400"/>
          </a:xfrm>
          <a:prstGeom prst="rect">
            <a:avLst/>
          </a:prstGeom>
          <a:noFill/>
          <a:ln>
            <a:noFill/>
          </a:ln>
        </p:spPr>
        <p:txBody>
          <a:bodyPr spcFirstLastPara="1" wrap="square" lIns="91450" tIns="45700" rIns="91450" bIns="45700" anchor="ctr" anchorCtr="0">
            <a:noAutofit/>
          </a:bodyPr>
          <a:lstStyle/>
          <a:p>
            <a:pPr marL="0" marR="0" lvl="0" indent="0" algn="ctr" rtl="0">
              <a:lnSpc>
                <a:spcPct val="120000"/>
              </a:lnSpc>
              <a:spcBef>
                <a:spcPts val="0"/>
              </a:spcBef>
              <a:spcAft>
                <a:spcPts val="0"/>
              </a:spcAft>
              <a:buClr>
                <a:srgbClr val="000000"/>
              </a:buClr>
              <a:buSzPts val="2400"/>
              <a:buFont typeface="Arial"/>
              <a:buNone/>
            </a:pPr>
            <a:r>
              <a:rPr lang="en-US" sz="3200" b="1" i="0" u="none" strike="noStrike" cap="none">
                <a:solidFill>
                  <a:schemeClr val="dk1"/>
                </a:solidFill>
                <a:latin typeface="Lato"/>
                <a:ea typeface="Lato"/>
                <a:cs typeface="Lato"/>
                <a:sym typeface="Lato"/>
              </a:rPr>
              <a:t>Optimize Continuously</a:t>
            </a:r>
            <a:endParaRPr sz="1400" b="1" i="0" u="none" strike="noStrike" cap="none">
              <a:solidFill>
                <a:schemeClr val="dk1"/>
              </a:solidFill>
              <a:latin typeface="Lato"/>
              <a:ea typeface="Lato"/>
              <a:cs typeface="Lato"/>
              <a:sym typeface="Lato"/>
            </a:endParaRPr>
          </a:p>
        </p:txBody>
      </p:sp>
      <p:sp>
        <p:nvSpPr>
          <p:cNvPr id="501" name="Google Shape;501;p68" descr="e7d195523061f1c0cef09ac28eaae964ec9988a5cce77c8b8C1E4685C6E6B40CD7615480512384A61EE159C6FE0045D14B61E85D0A95589D558B81FFC809322ACC20DC2254D928200A3EA0841B8B18145E4076E2716215F9CA74215B300285468169D7DD1FA2F2873B8815601B39E841862D712EA7F5373BA315BA9E7E16882AEF70AD4E677971A3"/>
          <p:cNvSpPr/>
          <p:nvPr/>
        </p:nvSpPr>
        <p:spPr>
          <a:xfrm>
            <a:off x="12137879" y="6133840"/>
            <a:ext cx="4861800" cy="1505400"/>
          </a:xfrm>
          <a:prstGeom prst="rect">
            <a:avLst/>
          </a:prstGeom>
          <a:noFill/>
          <a:ln>
            <a:noFill/>
          </a:ln>
        </p:spPr>
        <p:txBody>
          <a:bodyPr spcFirstLastPara="1" wrap="square" lIns="91450" tIns="45700" rIns="91450" bIns="45700" anchor="ctr" anchorCtr="0">
            <a:noAutofit/>
          </a:bodyPr>
          <a:lstStyle/>
          <a:p>
            <a:pPr marL="0" marR="0" lvl="0" indent="0" algn="ctr" rtl="0">
              <a:lnSpc>
                <a:spcPct val="120000"/>
              </a:lnSpc>
              <a:spcBef>
                <a:spcPts val="0"/>
              </a:spcBef>
              <a:spcAft>
                <a:spcPts val="0"/>
              </a:spcAft>
              <a:buClr>
                <a:srgbClr val="000000"/>
              </a:buClr>
              <a:buSzPts val="2400"/>
              <a:buFont typeface="Arial"/>
              <a:buNone/>
            </a:pPr>
            <a:r>
              <a:rPr lang="en-US" sz="3200" b="1" i="0" u="none" strike="noStrike" cap="none">
                <a:solidFill>
                  <a:schemeClr val="dk1"/>
                </a:solidFill>
                <a:latin typeface="Lato"/>
                <a:ea typeface="Lato"/>
                <a:cs typeface="Lato"/>
                <a:sym typeface="Lato"/>
              </a:rPr>
              <a:t>Automate Tasks</a:t>
            </a:r>
            <a:endParaRPr sz="1400" b="1" i="0" u="none" strike="noStrike" cap="none">
              <a:solidFill>
                <a:schemeClr val="dk1"/>
              </a:solidFill>
              <a:latin typeface="Lato"/>
              <a:ea typeface="Lato"/>
              <a:cs typeface="Lato"/>
              <a:sym typeface="Lato"/>
            </a:endParaRPr>
          </a:p>
        </p:txBody>
      </p:sp>
      <p:sp>
        <p:nvSpPr>
          <p:cNvPr id="502" name="Google Shape;502;p68" descr="e7d195523061f1c0cef09ac28eaae964ec9988a5cce77c8b8C1E4685C6E6B40CD7615480512384A61EE159C6FE0045D14B61E85D0A95589D558B81FFC809322ACC20DC2254D928200A3EA0841B8B18145E4076E2716215F9CA74215B300285468169D7DD1FA2F2873B8815601B39E841862D712EA7F5373BA315BA9E7E16882AEF70AD4E677971A3"/>
          <p:cNvSpPr/>
          <p:nvPr/>
        </p:nvSpPr>
        <p:spPr>
          <a:xfrm flipH="1">
            <a:off x="12138238" y="3505893"/>
            <a:ext cx="4861200" cy="1505400"/>
          </a:xfrm>
          <a:prstGeom prst="rect">
            <a:avLst/>
          </a:prstGeom>
          <a:noFill/>
          <a:ln>
            <a:noFill/>
          </a:ln>
        </p:spPr>
        <p:txBody>
          <a:bodyPr spcFirstLastPara="1" wrap="square" lIns="91450" tIns="45700" rIns="91450" bIns="45700" anchor="ctr" anchorCtr="0">
            <a:noAutofit/>
          </a:bodyPr>
          <a:lstStyle/>
          <a:p>
            <a:pPr marL="0" marR="0" lvl="0" indent="0" algn="ctr" rtl="0">
              <a:lnSpc>
                <a:spcPct val="120000"/>
              </a:lnSpc>
              <a:spcBef>
                <a:spcPts val="0"/>
              </a:spcBef>
              <a:spcAft>
                <a:spcPts val="0"/>
              </a:spcAft>
              <a:buClr>
                <a:srgbClr val="000000"/>
              </a:buClr>
              <a:buSzPts val="2400"/>
              <a:buFont typeface="Arial"/>
              <a:buNone/>
            </a:pPr>
            <a:r>
              <a:rPr lang="en-US" sz="3200" b="1" i="0" u="none" strike="noStrike" cap="none">
                <a:solidFill>
                  <a:schemeClr val="dk1"/>
                </a:solidFill>
                <a:latin typeface="Lato"/>
                <a:ea typeface="Lato"/>
                <a:cs typeface="Lato"/>
                <a:sym typeface="Lato"/>
              </a:rPr>
              <a:t>Identify Processes</a:t>
            </a:r>
            <a:endParaRPr sz="1400" b="1" i="0" u="none" strike="noStrike" cap="none">
              <a:solidFill>
                <a:schemeClr val="dk1"/>
              </a:solidFill>
              <a:latin typeface="Lato"/>
              <a:ea typeface="Lato"/>
              <a:cs typeface="Lato"/>
              <a:sym typeface="Lato"/>
            </a:endParaRPr>
          </a:p>
        </p:txBody>
      </p:sp>
      <p:sp>
        <p:nvSpPr>
          <p:cNvPr id="503" name="Google Shape;503;p68" descr="e7d195523061f1c0cef09ac28eaae964ec9988a5cce77c8b8C1E4685C6E6B40CD7615480512384A61EE159C6FE0045D14B61E85D0A95589D558B81FFC809322ACC20DC2254D928200A3EA0841B8B18145E4076E2716215F9CA74215B300285468169D7DD1FA2F2873B8815601B39E841862D712EA7F5373BA315BA9E7E16882AEF70AD4E677971A3"/>
          <p:cNvSpPr/>
          <p:nvPr/>
        </p:nvSpPr>
        <p:spPr>
          <a:xfrm flipH="1">
            <a:off x="1288921" y="6133840"/>
            <a:ext cx="4861200" cy="1505400"/>
          </a:xfrm>
          <a:prstGeom prst="rect">
            <a:avLst/>
          </a:prstGeom>
          <a:noFill/>
          <a:ln>
            <a:noFill/>
          </a:ln>
        </p:spPr>
        <p:txBody>
          <a:bodyPr spcFirstLastPara="1" wrap="square" lIns="91450" tIns="45700" rIns="91450" bIns="45700" anchor="ctr" anchorCtr="0">
            <a:noAutofit/>
          </a:bodyPr>
          <a:lstStyle/>
          <a:p>
            <a:pPr marL="0" marR="0" lvl="0" indent="0" algn="ctr" rtl="0">
              <a:lnSpc>
                <a:spcPct val="120000"/>
              </a:lnSpc>
              <a:spcBef>
                <a:spcPts val="0"/>
              </a:spcBef>
              <a:spcAft>
                <a:spcPts val="0"/>
              </a:spcAft>
              <a:buClr>
                <a:srgbClr val="000000"/>
              </a:buClr>
              <a:buSzPts val="2400"/>
              <a:buFont typeface="Arial"/>
              <a:buNone/>
            </a:pPr>
            <a:r>
              <a:rPr lang="en-US" sz="3200" b="1" i="0" u="none" strike="noStrike" cap="none">
                <a:solidFill>
                  <a:schemeClr val="dk1"/>
                </a:solidFill>
                <a:latin typeface="Lato"/>
                <a:ea typeface="Lato"/>
                <a:cs typeface="Lato"/>
                <a:sym typeface="Lato"/>
              </a:rPr>
              <a:t>Integrate Tools</a:t>
            </a:r>
            <a:endParaRPr sz="1400" b="1" i="0" u="none" strike="noStrike" cap="none">
              <a:solidFill>
                <a:schemeClr val="dk1"/>
              </a:solidFill>
              <a:latin typeface="Lato"/>
              <a:ea typeface="Lato"/>
              <a:cs typeface="Lato"/>
              <a:sym typeface="Lato"/>
            </a:endParaRPr>
          </a:p>
        </p:txBody>
      </p:sp>
      <p:pic>
        <p:nvPicPr>
          <p:cNvPr id="504" name="Google Shape;504;p68"/>
          <p:cNvPicPr preferRelativeResize="0"/>
          <p:nvPr/>
        </p:nvPicPr>
        <p:blipFill rotWithShape="1">
          <a:blip r:embed="rId4">
            <a:alphaModFix/>
          </a:blip>
          <a:srcRect/>
          <a:stretch/>
        </p:blipFill>
        <p:spPr>
          <a:xfrm>
            <a:off x="10026639" y="3752838"/>
            <a:ext cx="862671" cy="862671"/>
          </a:xfrm>
          <a:prstGeom prst="rect">
            <a:avLst/>
          </a:prstGeom>
          <a:noFill/>
          <a:ln>
            <a:noFill/>
          </a:ln>
        </p:spPr>
      </p:pic>
      <p:cxnSp>
        <p:nvCxnSpPr>
          <p:cNvPr id="505" name="Google Shape;505;p68"/>
          <p:cNvCxnSpPr/>
          <p:nvPr/>
        </p:nvCxnSpPr>
        <p:spPr>
          <a:xfrm>
            <a:off x="1649521" y="3301557"/>
            <a:ext cx="4426800" cy="0"/>
          </a:xfrm>
          <a:prstGeom prst="straightConnector1">
            <a:avLst/>
          </a:prstGeom>
          <a:solidFill>
            <a:schemeClr val="accent2"/>
          </a:solidFill>
          <a:ln w="28575" cap="flat" cmpd="sng">
            <a:solidFill>
              <a:srgbClr val="A1ABE5"/>
            </a:solidFill>
            <a:prstDash val="solid"/>
            <a:round/>
            <a:headEnd type="none" w="sm" len="sm"/>
            <a:tailEnd type="none" w="sm" len="sm"/>
          </a:ln>
        </p:spPr>
      </p:cxnSp>
      <p:cxnSp>
        <p:nvCxnSpPr>
          <p:cNvPr id="506" name="Google Shape;506;p68"/>
          <p:cNvCxnSpPr/>
          <p:nvPr/>
        </p:nvCxnSpPr>
        <p:spPr>
          <a:xfrm>
            <a:off x="1649521" y="5993957"/>
            <a:ext cx="4426800" cy="0"/>
          </a:xfrm>
          <a:prstGeom prst="straightConnector1">
            <a:avLst/>
          </a:prstGeom>
          <a:solidFill>
            <a:schemeClr val="accent2"/>
          </a:solidFill>
          <a:ln w="28575" cap="flat" cmpd="sng">
            <a:solidFill>
              <a:srgbClr val="A1ABE5"/>
            </a:solidFill>
            <a:prstDash val="solid"/>
            <a:round/>
            <a:headEnd type="none" w="sm" len="sm"/>
            <a:tailEnd type="none" w="sm" len="sm"/>
          </a:ln>
        </p:spPr>
      </p:cxnSp>
      <p:cxnSp>
        <p:nvCxnSpPr>
          <p:cNvPr id="507" name="Google Shape;507;p68"/>
          <p:cNvCxnSpPr/>
          <p:nvPr/>
        </p:nvCxnSpPr>
        <p:spPr>
          <a:xfrm>
            <a:off x="12137879" y="3301557"/>
            <a:ext cx="4426800" cy="0"/>
          </a:xfrm>
          <a:prstGeom prst="straightConnector1">
            <a:avLst/>
          </a:prstGeom>
          <a:solidFill>
            <a:schemeClr val="accent2"/>
          </a:solidFill>
          <a:ln w="28575" cap="flat" cmpd="sng">
            <a:solidFill>
              <a:srgbClr val="A1ABE5"/>
            </a:solidFill>
            <a:prstDash val="solid"/>
            <a:round/>
            <a:headEnd type="none" w="sm" len="sm"/>
            <a:tailEnd type="none" w="sm" len="sm"/>
          </a:ln>
        </p:spPr>
      </p:cxnSp>
      <p:cxnSp>
        <p:nvCxnSpPr>
          <p:cNvPr id="508" name="Google Shape;508;p68"/>
          <p:cNvCxnSpPr/>
          <p:nvPr/>
        </p:nvCxnSpPr>
        <p:spPr>
          <a:xfrm>
            <a:off x="12137879" y="5993957"/>
            <a:ext cx="4426800" cy="0"/>
          </a:xfrm>
          <a:prstGeom prst="straightConnector1">
            <a:avLst/>
          </a:prstGeom>
          <a:solidFill>
            <a:schemeClr val="accent2"/>
          </a:solidFill>
          <a:ln w="28575" cap="flat" cmpd="sng">
            <a:solidFill>
              <a:srgbClr val="A1ABE5"/>
            </a:solidFill>
            <a:prstDash val="solid"/>
            <a:round/>
            <a:headEnd type="none" w="sm" len="sm"/>
            <a:tailEnd type="none" w="sm" len="sm"/>
          </a:ln>
        </p:spPr>
      </p:cxnSp>
      <p:pic>
        <p:nvPicPr>
          <p:cNvPr id="509" name="Google Shape;509;p68"/>
          <p:cNvPicPr preferRelativeResize="0"/>
          <p:nvPr/>
        </p:nvPicPr>
        <p:blipFill rotWithShape="1">
          <a:blip r:embed="rId5">
            <a:alphaModFix/>
          </a:blip>
          <a:srcRect/>
          <a:stretch/>
        </p:blipFill>
        <p:spPr>
          <a:xfrm>
            <a:off x="10026640" y="6389523"/>
            <a:ext cx="862671" cy="862671"/>
          </a:xfrm>
          <a:prstGeom prst="rect">
            <a:avLst/>
          </a:prstGeom>
          <a:noFill/>
          <a:ln>
            <a:noFill/>
          </a:ln>
        </p:spPr>
      </p:pic>
      <p:pic>
        <p:nvPicPr>
          <p:cNvPr id="510" name="Google Shape;510;p68"/>
          <p:cNvPicPr preferRelativeResize="0"/>
          <p:nvPr/>
        </p:nvPicPr>
        <p:blipFill rotWithShape="1">
          <a:blip r:embed="rId6">
            <a:alphaModFix/>
          </a:blip>
          <a:srcRect/>
          <a:stretch/>
        </p:blipFill>
        <p:spPr>
          <a:xfrm>
            <a:off x="7372819" y="3726968"/>
            <a:ext cx="914400" cy="914400"/>
          </a:xfrm>
          <a:prstGeom prst="rect">
            <a:avLst/>
          </a:prstGeom>
          <a:noFill/>
          <a:ln>
            <a:noFill/>
          </a:ln>
        </p:spPr>
      </p:pic>
      <p:pic>
        <p:nvPicPr>
          <p:cNvPr id="511" name="Google Shape;511;p68"/>
          <p:cNvPicPr preferRelativeResize="0"/>
          <p:nvPr/>
        </p:nvPicPr>
        <p:blipFill rotWithShape="1">
          <a:blip r:embed="rId7">
            <a:alphaModFix/>
          </a:blip>
          <a:srcRect/>
          <a:stretch/>
        </p:blipFill>
        <p:spPr>
          <a:xfrm>
            <a:off x="7441406" y="6432232"/>
            <a:ext cx="777240" cy="777240"/>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27E0F-3FA3-04AA-E944-2E6A45FDC162}"/>
              </a:ext>
            </a:extLst>
          </p:cNvPr>
          <p:cNvSpPr>
            <a:spLocks noGrp="1"/>
          </p:cNvSpPr>
          <p:nvPr>
            <p:ph type="title"/>
          </p:nvPr>
        </p:nvSpPr>
        <p:spPr/>
        <p:txBody>
          <a:bodyPr/>
          <a:lstStyle/>
          <a:p>
            <a:r>
              <a:rPr lang="en-US" dirty="0"/>
              <a:t>Getting Started with Hyperautomation Templates</a:t>
            </a:r>
          </a:p>
        </p:txBody>
      </p:sp>
      <p:pic>
        <p:nvPicPr>
          <p:cNvPr id="7" name="Picture 6">
            <a:extLst>
              <a:ext uri="{FF2B5EF4-FFF2-40B4-BE49-F238E27FC236}">
                <a16:creationId xmlns:a16="http://schemas.microsoft.com/office/drawing/2014/main" id="{938FCB8F-7D26-9889-EEB9-9183C4B26083}"/>
              </a:ext>
            </a:extLst>
          </p:cNvPr>
          <p:cNvPicPr>
            <a:picLocks noChangeAspect="1"/>
          </p:cNvPicPr>
          <p:nvPr/>
        </p:nvPicPr>
        <p:blipFill>
          <a:blip r:embed="rId4"/>
          <a:stretch>
            <a:fillRect/>
          </a:stretch>
        </p:blipFill>
        <p:spPr>
          <a:xfrm>
            <a:off x="1688730" y="1804531"/>
            <a:ext cx="14910540" cy="7690294"/>
          </a:xfrm>
          <a:prstGeom prst="rect">
            <a:avLst/>
          </a:prstGeom>
        </p:spPr>
      </p:pic>
    </p:spTree>
    <p:custDataLst>
      <p:tags r:id="rId1"/>
    </p:custDataLst>
    <p:extLst>
      <p:ext uri="{BB962C8B-B14F-4D97-AF65-F5344CB8AC3E}">
        <p14:creationId xmlns:p14="http://schemas.microsoft.com/office/powerpoint/2010/main" val="602315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94F755DE-BAFC-365D-76D1-3A8E547AF58F}"/>
            </a:ext>
          </a:extLst>
        </p:cNvPr>
        <p:cNvGrpSpPr/>
        <p:nvPr/>
      </p:nvGrpSpPr>
      <p:grpSpPr>
        <a:xfrm>
          <a:off x="0" y="0"/>
          <a:ext cx="0" cy="0"/>
          <a:chOff x="0" y="0"/>
          <a:chExt cx="0" cy="0"/>
        </a:xfrm>
      </p:grpSpPr>
      <p:sp>
        <p:nvSpPr>
          <p:cNvPr id="183" name="Header">
            <a:extLst>
              <a:ext uri="{FF2B5EF4-FFF2-40B4-BE49-F238E27FC236}">
                <a16:creationId xmlns:a16="http://schemas.microsoft.com/office/drawing/2014/main" id="{9AAE142B-F232-8DAC-E84F-48CF720842E5}"/>
              </a:ext>
            </a:extLst>
          </p:cNvPr>
          <p:cNvSpPr txBox="1">
            <a:spLocks noGrp="1"/>
          </p:cNvSpPr>
          <p:nvPr>
            <p:ph type="title"/>
          </p:nvPr>
        </p:nvSpPr>
        <p:spPr>
          <a:xfrm>
            <a:off x="761935" y="6147020"/>
            <a:ext cx="7558826" cy="886397"/>
          </a:xfrm>
          <a:noFill/>
          <a:ln>
            <a:noFill/>
          </a:ln>
        </p:spPr>
        <p:txBody>
          <a:bodyPr spcFirstLastPara="1" wrap="square" lIns="0" tIns="0" rIns="0" bIns="0" anchor="b" anchorCtr="0">
            <a:spAutoFit/>
          </a:bodyPr>
          <a:lstStyle/>
          <a:p>
            <a:pPr lvl="0"/>
            <a:r>
              <a:rPr lang="en-US" dirty="0"/>
              <a:t>Demo</a:t>
            </a:r>
          </a:p>
        </p:txBody>
      </p:sp>
      <p:sp>
        <p:nvSpPr>
          <p:cNvPr id="184" name="Subhead">
            <a:extLst>
              <a:ext uri="{FF2B5EF4-FFF2-40B4-BE49-F238E27FC236}">
                <a16:creationId xmlns:a16="http://schemas.microsoft.com/office/drawing/2014/main" id="{EC41C4AB-1556-F96E-5FFD-47640007A919}"/>
              </a:ext>
            </a:extLst>
          </p:cNvPr>
          <p:cNvSpPr txBox="1">
            <a:spLocks noGrp="1"/>
          </p:cNvSpPr>
          <p:nvPr>
            <p:ph type="body" idx="1"/>
          </p:nvPr>
        </p:nvSpPr>
        <p:spPr>
          <a:noFill/>
          <a:ln>
            <a:noFill/>
          </a:ln>
        </p:spPr>
        <p:txBody>
          <a:bodyPr spcFirstLastPara="1" wrap="square" lIns="0" tIns="0" rIns="0" bIns="0" anchor="t" anchorCtr="0">
            <a:spAutoFit/>
          </a:bodyPr>
          <a:lstStyle/>
          <a:p>
            <a:pPr lvl="0"/>
            <a:r>
              <a:rPr lang="en-US" dirty="0"/>
              <a:t>Working with Templates</a:t>
            </a:r>
          </a:p>
        </p:txBody>
      </p:sp>
      <p:pic>
        <p:nvPicPr>
          <p:cNvPr id="2" name="Orbit" descr="A blue and purple logo&#10;&#10;AI-generated content may be incorrect.">
            <a:extLst>
              <a:ext uri="{FF2B5EF4-FFF2-40B4-BE49-F238E27FC236}">
                <a16:creationId xmlns:a16="http://schemas.microsoft.com/office/drawing/2014/main" id="{AEE77529-DF14-CDD7-7E9D-8217759A0060}"/>
              </a:ext>
            </a:extLst>
          </p:cNvPr>
          <p:cNvPicPr>
            <a:picLocks noChangeAspect="1"/>
          </p:cNvPicPr>
          <p:nvPr/>
        </p:nvPicPr>
        <p:blipFill>
          <a:blip r:embed="rId4"/>
          <a:stretch>
            <a:fillRect/>
          </a:stretch>
        </p:blipFill>
        <p:spPr>
          <a:xfrm>
            <a:off x="8752840" y="-844062"/>
            <a:ext cx="16449151" cy="11381240"/>
          </a:xfrm>
          <a:prstGeom prst="rect">
            <a:avLst/>
          </a:prstGeom>
        </p:spPr>
      </p:pic>
      <p:pic>
        <p:nvPicPr>
          <p:cNvPr id="3" name="Star 2" descr="A blue light on a black background&#10;&#10;AI-generated content may be incorrect.">
            <a:extLst>
              <a:ext uri="{FF2B5EF4-FFF2-40B4-BE49-F238E27FC236}">
                <a16:creationId xmlns:a16="http://schemas.microsoft.com/office/drawing/2014/main" id="{CD66D725-67A4-C8A7-5A64-E2EB2A37E977}"/>
              </a:ext>
            </a:extLst>
          </p:cNvPr>
          <p:cNvPicPr>
            <a:picLocks noChangeAspect="1"/>
          </p:cNvPicPr>
          <p:nvPr/>
        </p:nvPicPr>
        <p:blipFill>
          <a:blip r:embed="rId5"/>
          <a:stretch>
            <a:fillRect/>
          </a:stretch>
        </p:blipFill>
        <p:spPr>
          <a:xfrm>
            <a:off x="18683866" y="2075314"/>
            <a:ext cx="669840" cy="647297"/>
          </a:xfrm>
          <a:prstGeom prst="rect">
            <a:avLst/>
          </a:prstGeom>
        </p:spPr>
      </p:pic>
      <p:pic>
        <p:nvPicPr>
          <p:cNvPr id="4" name="Star 3" descr="A blue light on a black background&#10;&#10;AI-generated content may be incorrect.">
            <a:extLst>
              <a:ext uri="{FF2B5EF4-FFF2-40B4-BE49-F238E27FC236}">
                <a16:creationId xmlns:a16="http://schemas.microsoft.com/office/drawing/2014/main" id="{CE0F1028-D0D5-A839-D6E4-25E6497EA097}"/>
              </a:ext>
            </a:extLst>
          </p:cNvPr>
          <p:cNvPicPr>
            <a:picLocks noChangeAspect="1"/>
          </p:cNvPicPr>
          <p:nvPr/>
        </p:nvPicPr>
        <p:blipFill>
          <a:blip r:embed="rId5"/>
          <a:stretch>
            <a:fillRect/>
          </a:stretch>
        </p:blipFill>
        <p:spPr>
          <a:xfrm>
            <a:off x="19130281" y="3102247"/>
            <a:ext cx="446850" cy="431812"/>
          </a:xfrm>
          <a:prstGeom prst="rect">
            <a:avLst/>
          </a:prstGeom>
        </p:spPr>
      </p:pic>
      <p:pic>
        <p:nvPicPr>
          <p:cNvPr id="5" name="Star 1" descr="A blue light on a black background&#10;&#10;AI-generated content may be incorrect.">
            <a:extLst>
              <a:ext uri="{FF2B5EF4-FFF2-40B4-BE49-F238E27FC236}">
                <a16:creationId xmlns:a16="http://schemas.microsoft.com/office/drawing/2014/main" id="{B84681DB-A8D5-796C-F977-14DCC89079DD}"/>
              </a:ext>
            </a:extLst>
          </p:cNvPr>
          <p:cNvPicPr>
            <a:picLocks noChangeAspect="1"/>
          </p:cNvPicPr>
          <p:nvPr/>
        </p:nvPicPr>
        <p:blipFill>
          <a:blip r:embed="rId5"/>
          <a:stretch>
            <a:fillRect/>
          </a:stretch>
        </p:blipFill>
        <p:spPr>
          <a:xfrm>
            <a:off x="18683866" y="589450"/>
            <a:ext cx="446850" cy="431812"/>
          </a:xfrm>
          <a:prstGeom prst="rect">
            <a:avLst/>
          </a:prstGeom>
        </p:spPr>
      </p:pic>
      <p:pic>
        <p:nvPicPr>
          <p:cNvPr id="8" name="Bitmap" descr="A blue and black rectangle with a white center&#10;&#10;AI-generated content may be incorrect.">
            <a:extLst>
              <a:ext uri="{FF2B5EF4-FFF2-40B4-BE49-F238E27FC236}">
                <a16:creationId xmlns:a16="http://schemas.microsoft.com/office/drawing/2014/main" id="{94326D0F-FAA4-A1E0-C937-5E4E53EA2B91}"/>
              </a:ext>
            </a:extLst>
          </p:cNvPr>
          <p:cNvPicPr>
            <a:picLocks noChangeAspect="1"/>
          </p:cNvPicPr>
          <p:nvPr/>
        </p:nvPicPr>
        <p:blipFill>
          <a:blip r:embed="rId6"/>
          <a:stretch>
            <a:fillRect/>
          </a:stretch>
        </p:blipFill>
        <p:spPr>
          <a:xfrm>
            <a:off x="-1261034" y="8343991"/>
            <a:ext cx="20501134" cy="5595886"/>
          </a:xfrm>
          <a:prstGeom prst="rect">
            <a:avLst/>
          </a:prstGeom>
        </p:spPr>
      </p:pic>
    </p:spTree>
    <p:custDataLst>
      <p:tags r:id="rId1"/>
    </p:custDataLst>
    <p:extLst>
      <p:ext uri="{BB962C8B-B14F-4D97-AF65-F5344CB8AC3E}">
        <p14:creationId xmlns:p14="http://schemas.microsoft.com/office/powerpoint/2010/main" val="544798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decel="50000" fill="hold" nodeType="withEffect">
                                  <p:stCondLst>
                                    <p:cond delay="0"/>
                                  </p:stCondLst>
                                  <p:childTnLst>
                                    <p:animMotion origin="layout" path="M 0.03767 -0.01667 L -0.07587 0.03796 L -0.15148 0.08133 L -0.24444 0.13935 L -0.32326 0.20092 L -0.39384 0.26358 L -0.45859 0.33318 L -0.50668 0.39691 L -0.54384 0.45849 L -0.57075 0.50864 L -0.57969 0.53148 " pathEditMode="relative" ptsTypes="AAAAAAAAAAA">
                                      <p:cBhvr>
                                        <p:cTn id="6" dur="2000" fill="hold"/>
                                        <p:tgtEl>
                                          <p:spTgt spid="3"/>
                                        </p:tgtEl>
                                        <p:attrNameLst>
                                          <p:attrName>ppt_x</p:attrName>
                                          <p:attrName>ppt_y</p:attrName>
                                        </p:attrNameLst>
                                      </p:cBhvr>
                                    </p:animMotion>
                                  </p:childTnLst>
                                </p:cTn>
                              </p:par>
                              <p:par>
                                <p:cTn id="7" presetID="0" presetClass="path" presetSubtype="0" decel="50000" fill="hold" nodeType="withEffect">
                                  <p:stCondLst>
                                    <p:cond delay="0"/>
                                  </p:stCondLst>
                                  <p:childTnLst>
                                    <p:animMotion origin="layout" path="M 0.0415 -0.01126 L 0.0375 -0.00941 L -0.13203 0.02685 L -0.24774 0.05803 L -0.36597 0.0983 L -0.54939 0.17624 " pathEditMode="relative" rAng="0" ptsTypes="AAAAAA">
                                      <p:cBhvr>
                                        <p:cTn id="8" dur="2000" fill="hold"/>
                                        <p:tgtEl>
                                          <p:spTgt spid="5"/>
                                        </p:tgtEl>
                                        <p:attrNameLst>
                                          <p:attrName>ppt_x</p:attrName>
                                          <p:attrName>ppt_y</p:attrName>
                                        </p:attrNameLst>
                                      </p:cBhvr>
                                      <p:rCtr x="-29549" y="9367"/>
                                    </p:animMotion>
                                  </p:childTnLst>
                                </p:cTn>
                              </p:par>
                              <p:par>
                                <p:cTn id="9" presetID="0" presetClass="path" presetSubtype="0" decel="50000" fill="hold" nodeType="withEffect">
                                  <p:stCondLst>
                                    <p:cond delay="0"/>
                                  </p:stCondLst>
                                  <p:childTnLst>
                                    <p:animMotion origin="layout" path="M 0.02387 -0.01775 L -0.05886 0.0287 L -0.11068 0.06574 L -0.17136 0.10911 L -0.21424 0.14938 L -0.26962 0.20448 L -0.32075 0.26266 L -0.35469 0.31019 L -0.3678 0.32932 L -0.37726 0.34738 " pathEditMode="relative" ptsTypes="AAAAAAAAAA">
                                      <p:cBhvr>
                                        <p:cTn id="10" dur="2000" fill="hold"/>
                                        <p:tgtEl>
                                          <p:spTgt spid="4"/>
                                        </p:tgtEl>
                                        <p:attrNameLst>
                                          <p:attrName>ppt_x</p:attrName>
                                          <p:attrName>ppt_y</p:attrName>
                                        </p:attrNameLst>
                                      </p:cBhvr>
                                    </p:animMotion>
                                  </p:childTnLst>
                                </p:cTn>
                              </p:par>
                              <p:par>
                                <p:cTn id="11" presetID="42" presetClass="entr" presetSubtype="0" fill="hold" nodeType="withEffect">
                                  <p:stCondLst>
                                    <p:cond delay="15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100"/>
                                        <p:tgtEl>
                                          <p:spTgt spid="8"/>
                                        </p:tgtEl>
                                      </p:cBhvr>
                                    </p:animEffect>
                                    <p:anim calcmode="lin" valueType="num">
                                      <p:cBhvr>
                                        <p:cTn id="14" dur="1100" fill="hold"/>
                                        <p:tgtEl>
                                          <p:spTgt spid="8"/>
                                        </p:tgtEl>
                                        <p:attrNameLst>
                                          <p:attrName>ppt_x</p:attrName>
                                        </p:attrNameLst>
                                      </p:cBhvr>
                                      <p:tavLst>
                                        <p:tav tm="0">
                                          <p:val>
                                            <p:strVal val="#ppt_x"/>
                                          </p:val>
                                        </p:tav>
                                        <p:tav tm="100000">
                                          <p:val>
                                            <p:strVal val="#ppt_x"/>
                                          </p:val>
                                        </p:tav>
                                      </p:tavLst>
                                    </p:anim>
                                    <p:anim calcmode="lin" valueType="num">
                                      <p:cBhvr>
                                        <p:cTn id="15" dur="1100" fill="hold"/>
                                        <p:tgtEl>
                                          <p:spTgt spid="8"/>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100"/>
                                        <p:tgtEl>
                                          <p:spTgt spid="2"/>
                                        </p:tgtEl>
                                      </p:cBhvr>
                                    </p:animEffect>
                                    <p:anim calcmode="lin" valueType="num">
                                      <p:cBhvr>
                                        <p:cTn id="19" dur="1100" fill="hold"/>
                                        <p:tgtEl>
                                          <p:spTgt spid="2"/>
                                        </p:tgtEl>
                                        <p:attrNameLst>
                                          <p:attrName>ppt_x</p:attrName>
                                        </p:attrNameLst>
                                      </p:cBhvr>
                                      <p:tavLst>
                                        <p:tav tm="0">
                                          <p:val>
                                            <p:strVal val="#ppt_x"/>
                                          </p:val>
                                        </p:tav>
                                        <p:tav tm="100000">
                                          <p:val>
                                            <p:strVal val="#ppt_x"/>
                                          </p:val>
                                        </p:tav>
                                      </p:tavLst>
                                    </p:anim>
                                    <p:anim calcmode="lin" valueType="num">
                                      <p:cBhvr>
                                        <p:cTn id="20" dur="11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77"/>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630" name="Google Shape;630;p77"/>
          <p:cNvSpPr txBox="1"/>
          <p:nvPr/>
        </p:nvSpPr>
        <p:spPr>
          <a:xfrm>
            <a:off x="842961" y="5037667"/>
            <a:ext cx="7985100" cy="28449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dk1"/>
              </a:buClr>
              <a:buSzPts val="1100"/>
              <a:buFont typeface="Arial"/>
              <a:buNone/>
            </a:pPr>
            <a:r>
              <a:rPr lang="en-US" sz="2200" b="1" dirty="0">
                <a:solidFill>
                  <a:schemeClr val="accent2"/>
                </a:solidFill>
              </a:rPr>
              <a:t>Workflow Triggers</a:t>
            </a:r>
            <a:endParaRPr sz="2200" b="1" dirty="0">
              <a:solidFill>
                <a:schemeClr val="accent2"/>
              </a:solidFill>
            </a:endParaRPr>
          </a:p>
          <a:p>
            <a:pPr lvl="0">
              <a:lnSpc>
                <a:spcPct val="110000"/>
              </a:lnSpc>
              <a:spcBef>
                <a:spcPts val="1500"/>
              </a:spcBef>
              <a:buClr>
                <a:schemeClr val="dk1"/>
              </a:buClr>
              <a:buSzPts val="1100"/>
            </a:pPr>
            <a:r>
              <a:rPr lang="en-US" sz="2200" dirty="0">
                <a:solidFill>
                  <a:schemeClr val="accent2"/>
                </a:solidFill>
              </a:rPr>
              <a:t>Workflows activate automatically based on real-time events, on a schedule, or on demand</a:t>
            </a:r>
            <a:endParaRPr sz="2200"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They can respond to </a:t>
            </a:r>
            <a:r>
              <a:rPr lang="en-US" sz="2200" dirty="0" err="1">
                <a:solidFill>
                  <a:schemeClr val="accent2"/>
                </a:solidFill>
              </a:rPr>
              <a:t>SentinelOne</a:t>
            </a:r>
            <a:r>
              <a:rPr lang="en-US" sz="2200" dirty="0">
                <a:solidFill>
                  <a:schemeClr val="accent2"/>
                </a:solidFill>
              </a:rPr>
              <a:t> alerts and exposures, integrate with third-party tools via webhooks, process incoming emails, run on predefined schedules, or be triggered manually for immediate action.</a:t>
            </a:r>
            <a:endParaRPr sz="2200" dirty="0">
              <a:solidFill>
                <a:srgbClr val="7F7F7F"/>
              </a:solidFill>
            </a:endParaRPr>
          </a:p>
        </p:txBody>
      </p:sp>
      <p:sp>
        <p:nvSpPr>
          <p:cNvPr id="631" name="Google Shape;631;p77"/>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a:t>Triggers</a:t>
            </a:r>
            <a:endParaRPr b="0">
              <a:solidFill>
                <a:schemeClr val="dk1"/>
              </a:solidFill>
            </a:endParaRPr>
          </a:p>
        </p:txBody>
      </p:sp>
      <p:pic>
        <p:nvPicPr>
          <p:cNvPr id="4" name="Picture 3">
            <a:extLst>
              <a:ext uri="{FF2B5EF4-FFF2-40B4-BE49-F238E27FC236}">
                <a16:creationId xmlns:a16="http://schemas.microsoft.com/office/drawing/2014/main" id="{3163AC38-810E-BE29-F0C1-F7FAF428A676}"/>
              </a:ext>
            </a:extLst>
          </p:cNvPr>
          <p:cNvPicPr>
            <a:picLocks noChangeAspect="1"/>
          </p:cNvPicPr>
          <p:nvPr/>
        </p:nvPicPr>
        <p:blipFill>
          <a:blip r:embed="rId4"/>
          <a:stretch>
            <a:fillRect/>
          </a:stretch>
        </p:blipFill>
        <p:spPr>
          <a:xfrm>
            <a:off x="10377283" y="587350"/>
            <a:ext cx="6658114" cy="9112300"/>
          </a:xfrm>
          <a:prstGeom prst="rect">
            <a:avLst/>
          </a:prstGeom>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5B788-69CE-C229-CDD8-B1AD17138F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749A26-B9FC-21EB-00E3-3A1C20F63743}"/>
              </a:ext>
            </a:extLst>
          </p:cNvPr>
          <p:cNvSpPr>
            <a:spLocks noGrp="1"/>
          </p:cNvSpPr>
          <p:nvPr>
            <p:ph type="title"/>
          </p:nvPr>
        </p:nvSpPr>
        <p:spPr/>
        <p:txBody>
          <a:bodyPr/>
          <a:lstStyle/>
          <a:p>
            <a:r>
              <a:rPr lang="en-US" dirty="0"/>
              <a:t>Running a Workflow from Triage</a:t>
            </a:r>
          </a:p>
        </p:txBody>
      </p:sp>
      <p:pic>
        <p:nvPicPr>
          <p:cNvPr id="4" name="Picture 3">
            <a:extLst>
              <a:ext uri="{FF2B5EF4-FFF2-40B4-BE49-F238E27FC236}">
                <a16:creationId xmlns:a16="http://schemas.microsoft.com/office/drawing/2014/main" id="{8D542551-B54D-972D-4A6E-B3F35C9F448C}"/>
              </a:ext>
            </a:extLst>
          </p:cNvPr>
          <p:cNvPicPr>
            <a:picLocks noChangeAspect="1"/>
          </p:cNvPicPr>
          <p:nvPr/>
        </p:nvPicPr>
        <p:blipFill>
          <a:blip r:embed="rId4"/>
          <a:stretch>
            <a:fillRect/>
          </a:stretch>
        </p:blipFill>
        <p:spPr>
          <a:xfrm>
            <a:off x="1568185" y="1992085"/>
            <a:ext cx="14007312" cy="5849208"/>
          </a:xfrm>
          <a:prstGeom prst="rect">
            <a:avLst/>
          </a:prstGeom>
        </p:spPr>
      </p:pic>
      <p:sp>
        <p:nvSpPr>
          <p:cNvPr id="9" name="Arrow: Left 8">
            <a:extLst>
              <a:ext uri="{FF2B5EF4-FFF2-40B4-BE49-F238E27FC236}">
                <a16:creationId xmlns:a16="http://schemas.microsoft.com/office/drawing/2014/main" id="{3929DA7D-BF1D-1472-1A06-032C968BBF06}"/>
              </a:ext>
            </a:extLst>
          </p:cNvPr>
          <p:cNvSpPr/>
          <p:nvPr/>
        </p:nvSpPr>
        <p:spPr>
          <a:xfrm rot="20776513">
            <a:off x="8016658" y="3006582"/>
            <a:ext cx="2868460" cy="751562"/>
          </a:xfrm>
          <a:prstGeom prst="leftArrow">
            <a:avLst>
              <a:gd name="adj1" fmla="val 4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813908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78"/>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639" name="Google Shape;639;p78"/>
          <p:cNvSpPr txBox="1"/>
          <p:nvPr/>
        </p:nvSpPr>
        <p:spPr>
          <a:xfrm>
            <a:off x="842961" y="5037667"/>
            <a:ext cx="7985100" cy="28449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dk1"/>
              </a:buClr>
              <a:buSzPts val="1100"/>
              <a:buFont typeface="Arial"/>
              <a:buNone/>
            </a:pPr>
            <a:r>
              <a:rPr lang="en-US" sz="2200" b="1" dirty="0">
                <a:solidFill>
                  <a:schemeClr val="accent2"/>
                </a:solidFill>
              </a:rPr>
              <a:t>Adding Actions</a:t>
            </a:r>
            <a:endParaRPr sz="2200" b="1"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Easily build workflows by dragging actions onto the canvas. Send HTTP requests</a:t>
            </a:r>
            <a:r>
              <a:rPr lang="en-US" sz="2200">
                <a:solidFill>
                  <a:schemeClr val="accent2"/>
                </a:solidFill>
              </a:rPr>
              <a:t>, and emails</a:t>
            </a:r>
            <a:r>
              <a:rPr lang="en-US" sz="2200" dirty="0">
                <a:solidFill>
                  <a:schemeClr val="accent2"/>
                </a:solidFill>
              </a:rPr>
              <a:t>, control logic with conditions, loops, and delays, and manage data flow using variables.</a:t>
            </a:r>
            <a:endParaRPr sz="2200" dirty="0">
              <a:solidFill>
                <a:srgbClr val="7F7F7F"/>
              </a:solidFill>
            </a:endParaRPr>
          </a:p>
        </p:txBody>
      </p:sp>
      <p:sp>
        <p:nvSpPr>
          <p:cNvPr id="640" name="Google Shape;640;p78"/>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dirty="0"/>
              <a:t>Overview of Core Actions</a:t>
            </a:r>
            <a:endParaRPr b="0" dirty="0">
              <a:solidFill>
                <a:schemeClr val="dk1"/>
              </a:solidFill>
            </a:endParaRPr>
          </a:p>
        </p:txBody>
      </p:sp>
      <p:pic>
        <p:nvPicPr>
          <p:cNvPr id="4" name="Picture 3">
            <a:extLst>
              <a:ext uri="{FF2B5EF4-FFF2-40B4-BE49-F238E27FC236}">
                <a16:creationId xmlns:a16="http://schemas.microsoft.com/office/drawing/2014/main" id="{9A8CFC95-3DCC-3CE1-87F4-A8593318C69C}"/>
              </a:ext>
            </a:extLst>
          </p:cNvPr>
          <p:cNvPicPr>
            <a:picLocks noChangeAspect="1"/>
          </p:cNvPicPr>
          <p:nvPr/>
        </p:nvPicPr>
        <p:blipFill>
          <a:blip r:embed="rId4"/>
          <a:stretch>
            <a:fillRect/>
          </a:stretch>
        </p:blipFill>
        <p:spPr>
          <a:xfrm>
            <a:off x="9459806" y="508218"/>
            <a:ext cx="7841293" cy="8669762"/>
          </a:xfrm>
          <a:prstGeom prst="rect">
            <a:avLst/>
          </a:prstGeom>
        </p:spPr>
      </p:pic>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82"/>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675" name="Google Shape;675;p82"/>
          <p:cNvSpPr txBox="1"/>
          <p:nvPr/>
        </p:nvSpPr>
        <p:spPr>
          <a:xfrm>
            <a:off x="842961" y="5037667"/>
            <a:ext cx="7985100" cy="28449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dk1"/>
              </a:buClr>
              <a:buSzPts val="1100"/>
              <a:buFont typeface="Arial"/>
              <a:buNone/>
            </a:pPr>
            <a:r>
              <a:rPr lang="en-US" sz="2200" b="1" dirty="0">
                <a:solidFill>
                  <a:schemeClr val="accent2"/>
                </a:solidFill>
              </a:rPr>
              <a:t>The Action Inspector</a:t>
            </a:r>
            <a:endParaRPr sz="2200" b="1"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Once added to a workflow, actions are configured using the Action Inspector, which appears on the right panel. </a:t>
            </a:r>
            <a:endParaRPr sz="2200"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Key parameters are highlighted for easy setup, and changes auto-save. </a:t>
            </a:r>
            <a:endParaRPr sz="2200"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Testing actions is essential to ensure proper execution, a process covered coming up.</a:t>
            </a:r>
            <a:endParaRPr sz="2200" dirty="0">
              <a:solidFill>
                <a:srgbClr val="7F7F7F"/>
              </a:solidFill>
            </a:endParaRPr>
          </a:p>
        </p:txBody>
      </p:sp>
      <p:sp>
        <p:nvSpPr>
          <p:cNvPr id="676" name="Google Shape;676;p82"/>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a:t>Configuring Actions</a:t>
            </a:r>
            <a:endParaRPr/>
          </a:p>
          <a:p>
            <a:pPr marL="0" lvl="0" indent="0" algn="l" rtl="0">
              <a:lnSpc>
                <a:spcPct val="90000"/>
              </a:lnSpc>
              <a:spcBef>
                <a:spcPts val="0"/>
              </a:spcBef>
              <a:spcAft>
                <a:spcPts val="0"/>
              </a:spcAft>
              <a:buClr>
                <a:schemeClr val="lt1"/>
              </a:buClr>
              <a:buSzPts val="5800"/>
              <a:buFont typeface="Arial"/>
              <a:buNone/>
            </a:pPr>
            <a:endParaRPr/>
          </a:p>
        </p:txBody>
      </p:sp>
      <p:pic>
        <p:nvPicPr>
          <p:cNvPr id="4" name="Picture 3">
            <a:extLst>
              <a:ext uri="{FF2B5EF4-FFF2-40B4-BE49-F238E27FC236}">
                <a16:creationId xmlns:a16="http://schemas.microsoft.com/office/drawing/2014/main" id="{06D83323-A576-8359-9A9A-DBCF5C00E794}"/>
              </a:ext>
            </a:extLst>
          </p:cNvPr>
          <p:cNvPicPr>
            <a:picLocks noChangeAspect="1"/>
          </p:cNvPicPr>
          <p:nvPr/>
        </p:nvPicPr>
        <p:blipFill>
          <a:blip r:embed="rId4"/>
          <a:stretch>
            <a:fillRect/>
          </a:stretch>
        </p:blipFill>
        <p:spPr>
          <a:xfrm>
            <a:off x="8828061" y="643077"/>
            <a:ext cx="8801100" cy="8455111"/>
          </a:xfrm>
          <a:prstGeom prst="rect">
            <a:avLst/>
          </a:prstGeom>
          <a:effectLst>
            <a:outerShdw blurRad="50800" dist="38100" dir="2700000" algn="tl" rotWithShape="0">
              <a:prstClr val="black">
                <a:alpha val="40000"/>
              </a:prstClr>
            </a:outerShdw>
          </a:effectLst>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2E717859-A46E-D0A9-E95F-981612A98783}"/>
            </a:ext>
          </a:extLst>
        </p:cNvPr>
        <p:cNvGrpSpPr/>
        <p:nvPr/>
      </p:nvGrpSpPr>
      <p:grpSpPr>
        <a:xfrm>
          <a:off x="0" y="0"/>
          <a:ext cx="0" cy="0"/>
          <a:chOff x="0" y="0"/>
          <a:chExt cx="0" cy="0"/>
        </a:xfrm>
      </p:grpSpPr>
      <p:sp>
        <p:nvSpPr>
          <p:cNvPr id="183" name="Header">
            <a:extLst>
              <a:ext uri="{FF2B5EF4-FFF2-40B4-BE49-F238E27FC236}">
                <a16:creationId xmlns:a16="http://schemas.microsoft.com/office/drawing/2014/main" id="{9C0D2365-E7C8-785B-A51F-66B3B5DB29D0}"/>
              </a:ext>
            </a:extLst>
          </p:cNvPr>
          <p:cNvSpPr txBox="1">
            <a:spLocks noGrp="1"/>
          </p:cNvSpPr>
          <p:nvPr>
            <p:ph type="title"/>
          </p:nvPr>
        </p:nvSpPr>
        <p:spPr>
          <a:xfrm>
            <a:off x="761935" y="6147020"/>
            <a:ext cx="7558826" cy="886397"/>
          </a:xfrm>
          <a:noFill/>
          <a:ln>
            <a:noFill/>
          </a:ln>
        </p:spPr>
        <p:txBody>
          <a:bodyPr spcFirstLastPara="1" wrap="square" lIns="0" tIns="0" rIns="0" bIns="0" anchor="b" anchorCtr="0">
            <a:spAutoFit/>
          </a:bodyPr>
          <a:lstStyle/>
          <a:p>
            <a:pPr lvl="0"/>
            <a:r>
              <a:rPr lang="en-US" dirty="0"/>
              <a:t>Demo</a:t>
            </a:r>
          </a:p>
        </p:txBody>
      </p:sp>
      <p:sp>
        <p:nvSpPr>
          <p:cNvPr id="184" name="Subhead">
            <a:extLst>
              <a:ext uri="{FF2B5EF4-FFF2-40B4-BE49-F238E27FC236}">
                <a16:creationId xmlns:a16="http://schemas.microsoft.com/office/drawing/2014/main" id="{D1CDCA6E-4E9B-225E-1092-0142D0AD3E37}"/>
              </a:ext>
            </a:extLst>
          </p:cNvPr>
          <p:cNvSpPr txBox="1">
            <a:spLocks noGrp="1"/>
          </p:cNvSpPr>
          <p:nvPr>
            <p:ph type="body" idx="1"/>
          </p:nvPr>
        </p:nvSpPr>
        <p:spPr>
          <a:noFill/>
          <a:ln>
            <a:noFill/>
          </a:ln>
        </p:spPr>
        <p:txBody>
          <a:bodyPr spcFirstLastPara="1" wrap="square" lIns="0" tIns="0" rIns="0" bIns="0" anchor="t" anchorCtr="0">
            <a:spAutoFit/>
          </a:bodyPr>
          <a:lstStyle/>
          <a:p>
            <a:pPr lvl="0"/>
            <a:r>
              <a:rPr lang="en-US" dirty="0"/>
              <a:t>A Simple Workflow</a:t>
            </a:r>
          </a:p>
        </p:txBody>
      </p:sp>
      <p:pic>
        <p:nvPicPr>
          <p:cNvPr id="2" name="Orbit" descr="A blue and purple logo&#10;&#10;AI-generated content may be incorrect.">
            <a:extLst>
              <a:ext uri="{FF2B5EF4-FFF2-40B4-BE49-F238E27FC236}">
                <a16:creationId xmlns:a16="http://schemas.microsoft.com/office/drawing/2014/main" id="{013F8B5C-32D3-F600-EAD9-941BD05B5BAB}"/>
              </a:ext>
            </a:extLst>
          </p:cNvPr>
          <p:cNvPicPr>
            <a:picLocks noChangeAspect="1"/>
          </p:cNvPicPr>
          <p:nvPr/>
        </p:nvPicPr>
        <p:blipFill>
          <a:blip r:embed="rId4"/>
          <a:stretch>
            <a:fillRect/>
          </a:stretch>
        </p:blipFill>
        <p:spPr>
          <a:xfrm>
            <a:off x="8752840" y="-844062"/>
            <a:ext cx="16449151" cy="11381240"/>
          </a:xfrm>
          <a:prstGeom prst="rect">
            <a:avLst/>
          </a:prstGeom>
        </p:spPr>
      </p:pic>
      <p:pic>
        <p:nvPicPr>
          <p:cNvPr id="3" name="Star 2" descr="A blue light on a black background&#10;&#10;AI-generated content may be incorrect.">
            <a:extLst>
              <a:ext uri="{FF2B5EF4-FFF2-40B4-BE49-F238E27FC236}">
                <a16:creationId xmlns:a16="http://schemas.microsoft.com/office/drawing/2014/main" id="{13EE545B-9DF0-4F25-A723-66F3D521801E}"/>
              </a:ext>
            </a:extLst>
          </p:cNvPr>
          <p:cNvPicPr>
            <a:picLocks noChangeAspect="1"/>
          </p:cNvPicPr>
          <p:nvPr/>
        </p:nvPicPr>
        <p:blipFill>
          <a:blip r:embed="rId5"/>
          <a:stretch>
            <a:fillRect/>
          </a:stretch>
        </p:blipFill>
        <p:spPr>
          <a:xfrm>
            <a:off x="18683866" y="2075314"/>
            <a:ext cx="669840" cy="647297"/>
          </a:xfrm>
          <a:prstGeom prst="rect">
            <a:avLst/>
          </a:prstGeom>
        </p:spPr>
      </p:pic>
      <p:pic>
        <p:nvPicPr>
          <p:cNvPr id="4" name="Star 3" descr="A blue light on a black background&#10;&#10;AI-generated content may be incorrect.">
            <a:extLst>
              <a:ext uri="{FF2B5EF4-FFF2-40B4-BE49-F238E27FC236}">
                <a16:creationId xmlns:a16="http://schemas.microsoft.com/office/drawing/2014/main" id="{08B0432C-6CE8-218C-0A18-DF9606559870}"/>
              </a:ext>
            </a:extLst>
          </p:cNvPr>
          <p:cNvPicPr>
            <a:picLocks noChangeAspect="1"/>
          </p:cNvPicPr>
          <p:nvPr/>
        </p:nvPicPr>
        <p:blipFill>
          <a:blip r:embed="rId5"/>
          <a:stretch>
            <a:fillRect/>
          </a:stretch>
        </p:blipFill>
        <p:spPr>
          <a:xfrm>
            <a:off x="19130281" y="3102247"/>
            <a:ext cx="446850" cy="431812"/>
          </a:xfrm>
          <a:prstGeom prst="rect">
            <a:avLst/>
          </a:prstGeom>
        </p:spPr>
      </p:pic>
      <p:pic>
        <p:nvPicPr>
          <p:cNvPr id="5" name="Star 1" descr="A blue light on a black background&#10;&#10;AI-generated content may be incorrect.">
            <a:extLst>
              <a:ext uri="{FF2B5EF4-FFF2-40B4-BE49-F238E27FC236}">
                <a16:creationId xmlns:a16="http://schemas.microsoft.com/office/drawing/2014/main" id="{D04223B1-2165-406A-9F0F-482C71BF697D}"/>
              </a:ext>
            </a:extLst>
          </p:cNvPr>
          <p:cNvPicPr>
            <a:picLocks noChangeAspect="1"/>
          </p:cNvPicPr>
          <p:nvPr/>
        </p:nvPicPr>
        <p:blipFill>
          <a:blip r:embed="rId5"/>
          <a:stretch>
            <a:fillRect/>
          </a:stretch>
        </p:blipFill>
        <p:spPr>
          <a:xfrm>
            <a:off x="18683866" y="589450"/>
            <a:ext cx="446850" cy="431812"/>
          </a:xfrm>
          <a:prstGeom prst="rect">
            <a:avLst/>
          </a:prstGeom>
        </p:spPr>
      </p:pic>
      <p:pic>
        <p:nvPicPr>
          <p:cNvPr id="8" name="Bitmap" descr="A blue and black rectangle with a white center&#10;&#10;AI-generated content may be incorrect.">
            <a:extLst>
              <a:ext uri="{FF2B5EF4-FFF2-40B4-BE49-F238E27FC236}">
                <a16:creationId xmlns:a16="http://schemas.microsoft.com/office/drawing/2014/main" id="{37F9F8CB-9C84-A08A-50F8-4CF059A39D2C}"/>
              </a:ext>
            </a:extLst>
          </p:cNvPr>
          <p:cNvPicPr>
            <a:picLocks noChangeAspect="1"/>
          </p:cNvPicPr>
          <p:nvPr/>
        </p:nvPicPr>
        <p:blipFill>
          <a:blip r:embed="rId6"/>
          <a:stretch>
            <a:fillRect/>
          </a:stretch>
        </p:blipFill>
        <p:spPr>
          <a:xfrm>
            <a:off x="-1261034" y="8343991"/>
            <a:ext cx="20501134" cy="5595886"/>
          </a:xfrm>
          <a:prstGeom prst="rect">
            <a:avLst/>
          </a:prstGeom>
        </p:spPr>
      </p:pic>
    </p:spTree>
    <p:custDataLst>
      <p:tags r:id="rId1"/>
    </p:custDataLst>
    <p:extLst>
      <p:ext uri="{BB962C8B-B14F-4D97-AF65-F5344CB8AC3E}">
        <p14:creationId xmlns:p14="http://schemas.microsoft.com/office/powerpoint/2010/main" val="4234382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decel="50000" fill="hold" nodeType="withEffect">
                                  <p:stCondLst>
                                    <p:cond delay="0"/>
                                  </p:stCondLst>
                                  <p:childTnLst>
                                    <p:animMotion origin="layout" path="M 0.03767 -0.01667 L -0.07587 0.03796 L -0.15148 0.08133 L -0.24444 0.13935 L -0.32326 0.20092 L -0.39384 0.26358 L -0.45859 0.33318 L -0.50668 0.39691 L -0.54384 0.45849 L -0.57075 0.50864 L -0.57969 0.53148 " pathEditMode="relative" ptsTypes="AAAAAAAAAAA">
                                      <p:cBhvr>
                                        <p:cTn id="6" dur="2000" fill="hold"/>
                                        <p:tgtEl>
                                          <p:spTgt spid="3"/>
                                        </p:tgtEl>
                                        <p:attrNameLst>
                                          <p:attrName>ppt_x</p:attrName>
                                          <p:attrName>ppt_y</p:attrName>
                                        </p:attrNameLst>
                                      </p:cBhvr>
                                    </p:animMotion>
                                  </p:childTnLst>
                                </p:cTn>
                              </p:par>
                              <p:par>
                                <p:cTn id="7" presetID="0" presetClass="path" presetSubtype="0" decel="50000" fill="hold" nodeType="withEffect">
                                  <p:stCondLst>
                                    <p:cond delay="0"/>
                                  </p:stCondLst>
                                  <p:childTnLst>
                                    <p:animMotion origin="layout" path="M 0.0415 -0.01126 L 0.0375 -0.00941 L -0.13203 0.02685 L -0.24774 0.05803 L -0.36597 0.0983 L -0.54939 0.17624 " pathEditMode="relative" rAng="0" ptsTypes="AAAAAA">
                                      <p:cBhvr>
                                        <p:cTn id="8" dur="2000" fill="hold"/>
                                        <p:tgtEl>
                                          <p:spTgt spid="5"/>
                                        </p:tgtEl>
                                        <p:attrNameLst>
                                          <p:attrName>ppt_x</p:attrName>
                                          <p:attrName>ppt_y</p:attrName>
                                        </p:attrNameLst>
                                      </p:cBhvr>
                                      <p:rCtr x="-29549" y="9367"/>
                                    </p:animMotion>
                                  </p:childTnLst>
                                </p:cTn>
                              </p:par>
                              <p:par>
                                <p:cTn id="9" presetID="0" presetClass="path" presetSubtype="0" decel="50000" fill="hold" nodeType="withEffect">
                                  <p:stCondLst>
                                    <p:cond delay="0"/>
                                  </p:stCondLst>
                                  <p:childTnLst>
                                    <p:animMotion origin="layout" path="M 0.02387 -0.01775 L -0.05886 0.0287 L -0.11068 0.06574 L -0.17136 0.10911 L -0.21424 0.14938 L -0.26962 0.20448 L -0.32075 0.26266 L -0.35469 0.31019 L -0.3678 0.32932 L -0.37726 0.34738 " pathEditMode="relative" ptsTypes="AAAAAAAAAA">
                                      <p:cBhvr>
                                        <p:cTn id="10" dur="2000" fill="hold"/>
                                        <p:tgtEl>
                                          <p:spTgt spid="4"/>
                                        </p:tgtEl>
                                        <p:attrNameLst>
                                          <p:attrName>ppt_x</p:attrName>
                                          <p:attrName>ppt_y</p:attrName>
                                        </p:attrNameLst>
                                      </p:cBhvr>
                                    </p:animMotion>
                                  </p:childTnLst>
                                </p:cTn>
                              </p:par>
                              <p:par>
                                <p:cTn id="11" presetID="42" presetClass="entr" presetSubtype="0" fill="hold" nodeType="withEffect">
                                  <p:stCondLst>
                                    <p:cond delay="15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100"/>
                                        <p:tgtEl>
                                          <p:spTgt spid="8"/>
                                        </p:tgtEl>
                                      </p:cBhvr>
                                    </p:animEffect>
                                    <p:anim calcmode="lin" valueType="num">
                                      <p:cBhvr>
                                        <p:cTn id="14" dur="1100" fill="hold"/>
                                        <p:tgtEl>
                                          <p:spTgt spid="8"/>
                                        </p:tgtEl>
                                        <p:attrNameLst>
                                          <p:attrName>ppt_x</p:attrName>
                                        </p:attrNameLst>
                                      </p:cBhvr>
                                      <p:tavLst>
                                        <p:tav tm="0">
                                          <p:val>
                                            <p:strVal val="#ppt_x"/>
                                          </p:val>
                                        </p:tav>
                                        <p:tav tm="100000">
                                          <p:val>
                                            <p:strVal val="#ppt_x"/>
                                          </p:val>
                                        </p:tav>
                                      </p:tavLst>
                                    </p:anim>
                                    <p:anim calcmode="lin" valueType="num">
                                      <p:cBhvr>
                                        <p:cTn id="15" dur="1100" fill="hold"/>
                                        <p:tgtEl>
                                          <p:spTgt spid="8"/>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100"/>
                                        <p:tgtEl>
                                          <p:spTgt spid="2"/>
                                        </p:tgtEl>
                                      </p:cBhvr>
                                    </p:animEffect>
                                    <p:anim calcmode="lin" valueType="num">
                                      <p:cBhvr>
                                        <p:cTn id="19" dur="1100" fill="hold"/>
                                        <p:tgtEl>
                                          <p:spTgt spid="2"/>
                                        </p:tgtEl>
                                        <p:attrNameLst>
                                          <p:attrName>ppt_x</p:attrName>
                                        </p:attrNameLst>
                                      </p:cBhvr>
                                      <p:tavLst>
                                        <p:tav tm="0">
                                          <p:val>
                                            <p:strVal val="#ppt_x"/>
                                          </p:val>
                                        </p:tav>
                                        <p:tav tm="100000">
                                          <p:val>
                                            <p:strVal val="#ppt_x"/>
                                          </p:val>
                                        </p:tav>
                                      </p:tavLst>
                                    </p:anim>
                                    <p:anim calcmode="lin" valueType="num">
                                      <p:cBhvr>
                                        <p:cTn id="20" dur="11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79"/>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648" name="Google Shape;648;p79"/>
          <p:cNvSpPr txBox="1"/>
          <p:nvPr/>
        </p:nvSpPr>
        <p:spPr>
          <a:xfrm>
            <a:off x="842961" y="5037667"/>
            <a:ext cx="5219636" cy="28449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accent1"/>
              </a:buClr>
              <a:buSzPts val="2200"/>
              <a:buFont typeface="Noto Sans Symbols"/>
              <a:buNone/>
            </a:pPr>
            <a:r>
              <a:rPr lang="en-US" sz="2200" dirty="0">
                <a:solidFill>
                  <a:schemeClr val="accent2"/>
                </a:solidFill>
              </a:rPr>
              <a:t>Integrations connect workflows to third-party tools, acting as a container for both actions and connections. </a:t>
            </a:r>
            <a:endParaRPr sz="2200" dirty="0">
              <a:solidFill>
                <a:schemeClr val="accent2"/>
              </a:solidFill>
            </a:endParaRPr>
          </a:p>
          <a:p>
            <a:pPr marL="0" lvl="0" indent="0" algn="l" rtl="0">
              <a:lnSpc>
                <a:spcPct val="110000"/>
              </a:lnSpc>
              <a:spcBef>
                <a:spcPts val="1500"/>
              </a:spcBef>
              <a:spcAft>
                <a:spcPts val="0"/>
              </a:spcAft>
              <a:buClr>
                <a:schemeClr val="accent1"/>
              </a:buClr>
              <a:buSzPts val="2200"/>
              <a:buFont typeface="Noto Sans Symbols"/>
              <a:buNone/>
            </a:pPr>
            <a:r>
              <a:rPr lang="en-US" sz="2200" dirty="0">
                <a:solidFill>
                  <a:schemeClr val="accent2"/>
                </a:solidFill>
              </a:rPr>
              <a:t>Each integration is tied to a specific vendor and product.</a:t>
            </a:r>
            <a:endParaRPr sz="2200" dirty="0">
              <a:solidFill>
                <a:schemeClr val="accent2"/>
              </a:solidFill>
            </a:endParaRPr>
          </a:p>
          <a:p>
            <a:pPr marL="0" lvl="0" indent="0" algn="l" rtl="0">
              <a:lnSpc>
                <a:spcPct val="110000"/>
              </a:lnSpc>
              <a:spcBef>
                <a:spcPts val="1500"/>
              </a:spcBef>
              <a:spcAft>
                <a:spcPts val="0"/>
              </a:spcAft>
              <a:buClr>
                <a:schemeClr val="accent1"/>
              </a:buClr>
              <a:buSzPts val="2200"/>
              <a:buFont typeface="Noto Sans Symbols"/>
              <a:buNone/>
            </a:pPr>
            <a:r>
              <a:rPr lang="en-US" sz="2200" dirty="0">
                <a:solidFill>
                  <a:schemeClr val="accent2"/>
                </a:solidFill>
              </a:rPr>
              <a:t>Hyperautomation includes 150+ pre-built integrations, supports no-code API connections, and allows users to create custom integrations.</a:t>
            </a:r>
            <a:endParaRPr sz="2200" dirty="0">
              <a:solidFill>
                <a:srgbClr val="7F7F7F"/>
              </a:solidFill>
            </a:endParaRPr>
          </a:p>
        </p:txBody>
      </p:sp>
      <p:sp>
        <p:nvSpPr>
          <p:cNvPr id="649" name="Google Shape;649;p79"/>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a:t>Integrations</a:t>
            </a:r>
            <a:endParaRPr b="0">
              <a:solidFill>
                <a:schemeClr val="dk1"/>
              </a:solidFill>
            </a:endParaRPr>
          </a:p>
        </p:txBody>
      </p:sp>
      <p:pic>
        <p:nvPicPr>
          <p:cNvPr id="7" name="Picture 6">
            <a:extLst>
              <a:ext uri="{FF2B5EF4-FFF2-40B4-BE49-F238E27FC236}">
                <a16:creationId xmlns:a16="http://schemas.microsoft.com/office/drawing/2014/main" id="{A9207FE1-3D4A-D447-3492-BEA0FDDC4A09}"/>
              </a:ext>
            </a:extLst>
          </p:cNvPr>
          <p:cNvPicPr>
            <a:picLocks noChangeAspect="1"/>
          </p:cNvPicPr>
          <p:nvPr/>
        </p:nvPicPr>
        <p:blipFill>
          <a:blip r:embed="rId4"/>
          <a:stretch>
            <a:fillRect/>
          </a:stretch>
        </p:blipFill>
        <p:spPr>
          <a:xfrm>
            <a:off x="6388274" y="1156428"/>
            <a:ext cx="11711836" cy="6053345"/>
          </a:xfrm>
          <a:prstGeom prst="rect">
            <a:avLst/>
          </a:prstGeom>
        </p:spPr>
      </p:pic>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80"/>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657" name="Google Shape;657;p80"/>
          <p:cNvSpPr txBox="1"/>
          <p:nvPr/>
        </p:nvSpPr>
        <p:spPr>
          <a:xfrm>
            <a:off x="944633" y="3947912"/>
            <a:ext cx="7985100" cy="36504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accent1"/>
              </a:buClr>
              <a:buSzPts val="2200"/>
              <a:buFont typeface="Noto Sans Symbols"/>
              <a:buNone/>
            </a:pPr>
            <a:r>
              <a:rPr lang="en-US" sz="2200" dirty="0">
                <a:solidFill>
                  <a:schemeClr val="accent2"/>
                </a:solidFill>
              </a:rPr>
              <a:t>Connections enable secure interaction with external systems by managing host details, authentication, and protocols. </a:t>
            </a:r>
            <a:endParaRPr sz="2200" dirty="0">
              <a:solidFill>
                <a:schemeClr val="accent2"/>
              </a:solidFill>
            </a:endParaRPr>
          </a:p>
          <a:p>
            <a:pPr marL="0" lvl="0" indent="0" algn="l" rtl="0">
              <a:lnSpc>
                <a:spcPct val="110000"/>
              </a:lnSpc>
              <a:spcBef>
                <a:spcPts val="1500"/>
              </a:spcBef>
              <a:spcAft>
                <a:spcPts val="0"/>
              </a:spcAft>
              <a:buClr>
                <a:schemeClr val="accent1"/>
              </a:buClr>
              <a:buSzPts val="2200"/>
              <a:buFont typeface="Noto Sans Symbols"/>
              <a:buNone/>
            </a:pPr>
            <a:r>
              <a:rPr lang="en-US" sz="2200" dirty="0">
                <a:solidFill>
                  <a:schemeClr val="accent2"/>
                </a:solidFill>
              </a:rPr>
              <a:t>Each integration supports multiple connections, allowing flexibility across environments. With built-in support for OAuth 2.0, API keys, and other authentication methods, connections are configured once and reused across workflows while ensuring security and privacy.</a:t>
            </a:r>
            <a:endParaRPr sz="2200" dirty="0">
              <a:solidFill>
                <a:srgbClr val="7F7F7F"/>
              </a:solidFill>
            </a:endParaRPr>
          </a:p>
        </p:txBody>
      </p:sp>
      <p:sp>
        <p:nvSpPr>
          <p:cNvPr id="658" name="Google Shape;658;p80"/>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a:t>Integration Connections</a:t>
            </a:r>
            <a:endParaRPr b="0">
              <a:solidFill>
                <a:schemeClr val="dk1"/>
              </a:solidFill>
            </a:endParaRPr>
          </a:p>
        </p:txBody>
      </p:sp>
      <p:pic>
        <p:nvPicPr>
          <p:cNvPr id="660" name="Google Shape;660;p80"/>
          <p:cNvPicPr preferRelativeResize="0"/>
          <p:nvPr/>
        </p:nvPicPr>
        <p:blipFill>
          <a:blip r:embed="rId4">
            <a:alphaModFix/>
          </a:blip>
          <a:stretch>
            <a:fillRect/>
          </a:stretch>
        </p:blipFill>
        <p:spPr>
          <a:xfrm>
            <a:off x="10060300" y="2311875"/>
            <a:ext cx="7654301" cy="5663249"/>
          </a:xfrm>
          <a:prstGeom prst="rect">
            <a:avLst/>
          </a:prstGeom>
          <a:noFill/>
          <a:ln>
            <a:noFill/>
          </a:ln>
        </p:spPr>
      </p:pic>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81"/>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666" name="Google Shape;666;p81"/>
          <p:cNvSpPr txBox="1"/>
          <p:nvPr/>
        </p:nvSpPr>
        <p:spPr>
          <a:xfrm>
            <a:off x="842961" y="5037667"/>
            <a:ext cx="7349061" cy="28448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Pre-configured actions are designed for seamless interaction with third-party tools. </a:t>
            </a:r>
            <a:endParaRPr sz="2200"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Each integration includes built-in actions tailored to its platform, supporting operations like data retrieval, incident management, and automation tasks. </a:t>
            </a:r>
            <a:endParaRPr sz="2200"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Users can also create custom actions to extend functionality and adapt workflows to specific needs.</a:t>
            </a:r>
            <a:endParaRPr sz="2200" dirty="0">
              <a:solidFill>
                <a:srgbClr val="7F7F7F"/>
              </a:solidFill>
            </a:endParaRPr>
          </a:p>
        </p:txBody>
      </p:sp>
      <p:sp>
        <p:nvSpPr>
          <p:cNvPr id="667" name="Google Shape;667;p81"/>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a:t>Integration Actions</a:t>
            </a:r>
            <a:endParaRPr b="0">
              <a:solidFill>
                <a:schemeClr val="dk1"/>
              </a:solidFill>
            </a:endParaRPr>
          </a:p>
        </p:txBody>
      </p:sp>
      <p:pic>
        <p:nvPicPr>
          <p:cNvPr id="5" name="Picture 4">
            <a:extLst>
              <a:ext uri="{FF2B5EF4-FFF2-40B4-BE49-F238E27FC236}">
                <a16:creationId xmlns:a16="http://schemas.microsoft.com/office/drawing/2014/main" id="{14933B32-57E0-FA37-BA7B-235973684712}"/>
              </a:ext>
            </a:extLst>
          </p:cNvPr>
          <p:cNvPicPr>
            <a:picLocks noChangeAspect="1"/>
          </p:cNvPicPr>
          <p:nvPr/>
        </p:nvPicPr>
        <p:blipFill>
          <a:blip r:embed="rId4"/>
          <a:stretch>
            <a:fillRect/>
          </a:stretch>
        </p:blipFill>
        <p:spPr>
          <a:xfrm>
            <a:off x="8603574" y="2024437"/>
            <a:ext cx="9373082" cy="6026460"/>
          </a:xfrm>
          <a:prstGeom prst="rect">
            <a:avLst/>
          </a:prstGeom>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992467F4-D681-161B-021D-DB06D028A7F5}"/>
            </a:ext>
          </a:extLst>
        </p:cNvPr>
        <p:cNvGrpSpPr/>
        <p:nvPr/>
      </p:nvGrpSpPr>
      <p:grpSpPr>
        <a:xfrm>
          <a:off x="0" y="0"/>
          <a:ext cx="0" cy="0"/>
          <a:chOff x="0" y="0"/>
          <a:chExt cx="0" cy="0"/>
        </a:xfrm>
      </p:grpSpPr>
      <p:sp>
        <p:nvSpPr>
          <p:cNvPr id="183" name="Header">
            <a:extLst>
              <a:ext uri="{FF2B5EF4-FFF2-40B4-BE49-F238E27FC236}">
                <a16:creationId xmlns:a16="http://schemas.microsoft.com/office/drawing/2014/main" id="{B328E9B5-0066-1767-6963-758B6E55B077}"/>
              </a:ext>
            </a:extLst>
          </p:cNvPr>
          <p:cNvSpPr txBox="1">
            <a:spLocks noGrp="1"/>
          </p:cNvSpPr>
          <p:nvPr>
            <p:ph type="title"/>
          </p:nvPr>
        </p:nvSpPr>
        <p:spPr>
          <a:xfrm>
            <a:off x="761935" y="6147020"/>
            <a:ext cx="7558826" cy="886397"/>
          </a:xfrm>
          <a:noFill/>
          <a:ln>
            <a:noFill/>
          </a:ln>
        </p:spPr>
        <p:txBody>
          <a:bodyPr spcFirstLastPara="1" wrap="square" lIns="0" tIns="0" rIns="0" bIns="0" anchor="b" anchorCtr="0">
            <a:spAutoFit/>
          </a:bodyPr>
          <a:lstStyle/>
          <a:p>
            <a:pPr lvl="0"/>
            <a:r>
              <a:rPr lang="en-US" dirty="0"/>
              <a:t>Demo</a:t>
            </a:r>
          </a:p>
        </p:txBody>
      </p:sp>
      <p:sp>
        <p:nvSpPr>
          <p:cNvPr id="184" name="Subhead">
            <a:extLst>
              <a:ext uri="{FF2B5EF4-FFF2-40B4-BE49-F238E27FC236}">
                <a16:creationId xmlns:a16="http://schemas.microsoft.com/office/drawing/2014/main" id="{73B5BBC1-A032-FE18-9678-51495207E273}"/>
              </a:ext>
            </a:extLst>
          </p:cNvPr>
          <p:cNvSpPr txBox="1">
            <a:spLocks noGrp="1"/>
          </p:cNvSpPr>
          <p:nvPr>
            <p:ph type="body" idx="1"/>
          </p:nvPr>
        </p:nvSpPr>
        <p:spPr>
          <a:noFill/>
          <a:ln>
            <a:noFill/>
          </a:ln>
        </p:spPr>
        <p:txBody>
          <a:bodyPr spcFirstLastPara="1" wrap="square" lIns="0" tIns="0" rIns="0" bIns="0" anchor="t" anchorCtr="0">
            <a:spAutoFit/>
          </a:bodyPr>
          <a:lstStyle/>
          <a:p>
            <a:pPr lvl="0"/>
            <a:r>
              <a:rPr lang="en-US" dirty="0"/>
              <a:t>Configuring Integrations</a:t>
            </a:r>
          </a:p>
        </p:txBody>
      </p:sp>
      <p:pic>
        <p:nvPicPr>
          <p:cNvPr id="2" name="Orbit" descr="A blue and purple logo&#10;&#10;AI-generated content may be incorrect.">
            <a:extLst>
              <a:ext uri="{FF2B5EF4-FFF2-40B4-BE49-F238E27FC236}">
                <a16:creationId xmlns:a16="http://schemas.microsoft.com/office/drawing/2014/main" id="{C3F06D2B-D8FA-2D7D-7BC2-362332AA2656}"/>
              </a:ext>
            </a:extLst>
          </p:cNvPr>
          <p:cNvPicPr>
            <a:picLocks noChangeAspect="1"/>
          </p:cNvPicPr>
          <p:nvPr/>
        </p:nvPicPr>
        <p:blipFill>
          <a:blip r:embed="rId4"/>
          <a:stretch>
            <a:fillRect/>
          </a:stretch>
        </p:blipFill>
        <p:spPr>
          <a:xfrm>
            <a:off x="8752840" y="-844062"/>
            <a:ext cx="16449151" cy="11381240"/>
          </a:xfrm>
          <a:prstGeom prst="rect">
            <a:avLst/>
          </a:prstGeom>
        </p:spPr>
      </p:pic>
      <p:pic>
        <p:nvPicPr>
          <p:cNvPr id="3" name="Star 2" descr="A blue light on a black background&#10;&#10;AI-generated content may be incorrect.">
            <a:extLst>
              <a:ext uri="{FF2B5EF4-FFF2-40B4-BE49-F238E27FC236}">
                <a16:creationId xmlns:a16="http://schemas.microsoft.com/office/drawing/2014/main" id="{65484DBB-0EA3-1D29-29BE-A2B73D6AC5DB}"/>
              </a:ext>
            </a:extLst>
          </p:cNvPr>
          <p:cNvPicPr>
            <a:picLocks noChangeAspect="1"/>
          </p:cNvPicPr>
          <p:nvPr/>
        </p:nvPicPr>
        <p:blipFill>
          <a:blip r:embed="rId5"/>
          <a:stretch>
            <a:fillRect/>
          </a:stretch>
        </p:blipFill>
        <p:spPr>
          <a:xfrm>
            <a:off x="18683866" y="2075314"/>
            <a:ext cx="669840" cy="647297"/>
          </a:xfrm>
          <a:prstGeom prst="rect">
            <a:avLst/>
          </a:prstGeom>
        </p:spPr>
      </p:pic>
      <p:pic>
        <p:nvPicPr>
          <p:cNvPr id="4" name="Star 3" descr="A blue light on a black background&#10;&#10;AI-generated content may be incorrect.">
            <a:extLst>
              <a:ext uri="{FF2B5EF4-FFF2-40B4-BE49-F238E27FC236}">
                <a16:creationId xmlns:a16="http://schemas.microsoft.com/office/drawing/2014/main" id="{800B26D3-2ECC-767C-BF8C-23EDE9A81CD7}"/>
              </a:ext>
            </a:extLst>
          </p:cNvPr>
          <p:cNvPicPr>
            <a:picLocks noChangeAspect="1"/>
          </p:cNvPicPr>
          <p:nvPr/>
        </p:nvPicPr>
        <p:blipFill>
          <a:blip r:embed="rId5"/>
          <a:stretch>
            <a:fillRect/>
          </a:stretch>
        </p:blipFill>
        <p:spPr>
          <a:xfrm>
            <a:off x="19130281" y="3102247"/>
            <a:ext cx="446850" cy="431812"/>
          </a:xfrm>
          <a:prstGeom prst="rect">
            <a:avLst/>
          </a:prstGeom>
        </p:spPr>
      </p:pic>
      <p:pic>
        <p:nvPicPr>
          <p:cNvPr id="5" name="Star 1" descr="A blue light on a black background&#10;&#10;AI-generated content may be incorrect.">
            <a:extLst>
              <a:ext uri="{FF2B5EF4-FFF2-40B4-BE49-F238E27FC236}">
                <a16:creationId xmlns:a16="http://schemas.microsoft.com/office/drawing/2014/main" id="{D2D4FE3E-2C27-F6AF-761E-6A3B0DD0DE49}"/>
              </a:ext>
            </a:extLst>
          </p:cNvPr>
          <p:cNvPicPr>
            <a:picLocks noChangeAspect="1"/>
          </p:cNvPicPr>
          <p:nvPr/>
        </p:nvPicPr>
        <p:blipFill>
          <a:blip r:embed="rId5"/>
          <a:stretch>
            <a:fillRect/>
          </a:stretch>
        </p:blipFill>
        <p:spPr>
          <a:xfrm>
            <a:off x="18683866" y="589450"/>
            <a:ext cx="446850" cy="431812"/>
          </a:xfrm>
          <a:prstGeom prst="rect">
            <a:avLst/>
          </a:prstGeom>
        </p:spPr>
      </p:pic>
      <p:pic>
        <p:nvPicPr>
          <p:cNvPr id="8" name="Bitmap" descr="A blue and black rectangle with a white center&#10;&#10;AI-generated content may be incorrect.">
            <a:extLst>
              <a:ext uri="{FF2B5EF4-FFF2-40B4-BE49-F238E27FC236}">
                <a16:creationId xmlns:a16="http://schemas.microsoft.com/office/drawing/2014/main" id="{3A43B3E0-9640-E74C-2C65-58BA26AC50EC}"/>
              </a:ext>
            </a:extLst>
          </p:cNvPr>
          <p:cNvPicPr>
            <a:picLocks noChangeAspect="1"/>
          </p:cNvPicPr>
          <p:nvPr/>
        </p:nvPicPr>
        <p:blipFill>
          <a:blip r:embed="rId6"/>
          <a:stretch>
            <a:fillRect/>
          </a:stretch>
        </p:blipFill>
        <p:spPr>
          <a:xfrm>
            <a:off x="-1261034" y="8343991"/>
            <a:ext cx="20501134" cy="5595886"/>
          </a:xfrm>
          <a:prstGeom prst="rect">
            <a:avLst/>
          </a:prstGeom>
        </p:spPr>
      </p:pic>
    </p:spTree>
    <p:custDataLst>
      <p:tags r:id="rId1"/>
    </p:custDataLst>
    <p:extLst>
      <p:ext uri="{BB962C8B-B14F-4D97-AF65-F5344CB8AC3E}">
        <p14:creationId xmlns:p14="http://schemas.microsoft.com/office/powerpoint/2010/main" val="1657079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decel="50000" fill="hold" nodeType="withEffect">
                                  <p:stCondLst>
                                    <p:cond delay="0"/>
                                  </p:stCondLst>
                                  <p:childTnLst>
                                    <p:animMotion origin="layout" path="M 0.03767 -0.01667 L -0.07587 0.03796 L -0.15148 0.08133 L -0.24444 0.13935 L -0.32326 0.20092 L -0.39384 0.26358 L -0.45859 0.33318 L -0.50668 0.39691 L -0.54384 0.45849 L -0.57075 0.50864 L -0.57969 0.53148 " pathEditMode="relative" ptsTypes="AAAAAAAAAAA">
                                      <p:cBhvr>
                                        <p:cTn id="6" dur="2000" fill="hold"/>
                                        <p:tgtEl>
                                          <p:spTgt spid="3"/>
                                        </p:tgtEl>
                                        <p:attrNameLst>
                                          <p:attrName>ppt_x</p:attrName>
                                          <p:attrName>ppt_y</p:attrName>
                                        </p:attrNameLst>
                                      </p:cBhvr>
                                    </p:animMotion>
                                  </p:childTnLst>
                                </p:cTn>
                              </p:par>
                              <p:par>
                                <p:cTn id="7" presetID="0" presetClass="path" presetSubtype="0" decel="50000" fill="hold" nodeType="withEffect">
                                  <p:stCondLst>
                                    <p:cond delay="0"/>
                                  </p:stCondLst>
                                  <p:childTnLst>
                                    <p:animMotion origin="layout" path="M 0.0415 -0.01126 L 0.0375 -0.00941 L -0.13203 0.02685 L -0.24774 0.05803 L -0.36597 0.0983 L -0.54939 0.17624 " pathEditMode="relative" rAng="0" ptsTypes="AAAAAA">
                                      <p:cBhvr>
                                        <p:cTn id="8" dur="2000" fill="hold"/>
                                        <p:tgtEl>
                                          <p:spTgt spid="5"/>
                                        </p:tgtEl>
                                        <p:attrNameLst>
                                          <p:attrName>ppt_x</p:attrName>
                                          <p:attrName>ppt_y</p:attrName>
                                        </p:attrNameLst>
                                      </p:cBhvr>
                                      <p:rCtr x="-29549" y="9367"/>
                                    </p:animMotion>
                                  </p:childTnLst>
                                </p:cTn>
                              </p:par>
                              <p:par>
                                <p:cTn id="9" presetID="0" presetClass="path" presetSubtype="0" decel="50000" fill="hold" nodeType="withEffect">
                                  <p:stCondLst>
                                    <p:cond delay="0"/>
                                  </p:stCondLst>
                                  <p:childTnLst>
                                    <p:animMotion origin="layout" path="M 0.02387 -0.01775 L -0.05886 0.0287 L -0.11068 0.06574 L -0.17136 0.10911 L -0.21424 0.14938 L -0.26962 0.20448 L -0.32075 0.26266 L -0.35469 0.31019 L -0.3678 0.32932 L -0.37726 0.34738 " pathEditMode="relative" ptsTypes="AAAAAAAAAA">
                                      <p:cBhvr>
                                        <p:cTn id="10" dur="2000" fill="hold"/>
                                        <p:tgtEl>
                                          <p:spTgt spid="4"/>
                                        </p:tgtEl>
                                        <p:attrNameLst>
                                          <p:attrName>ppt_x</p:attrName>
                                          <p:attrName>ppt_y</p:attrName>
                                        </p:attrNameLst>
                                      </p:cBhvr>
                                    </p:animMotion>
                                  </p:childTnLst>
                                </p:cTn>
                              </p:par>
                              <p:par>
                                <p:cTn id="11" presetID="42" presetClass="entr" presetSubtype="0" fill="hold" nodeType="withEffect">
                                  <p:stCondLst>
                                    <p:cond delay="15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100"/>
                                        <p:tgtEl>
                                          <p:spTgt spid="8"/>
                                        </p:tgtEl>
                                      </p:cBhvr>
                                    </p:animEffect>
                                    <p:anim calcmode="lin" valueType="num">
                                      <p:cBhvr>
                                        <p:cTn id="14" dur="1100" fill="hold"/>
                                        <p:tgtEl>
                                          <p:spTgt spid="8"/>
                                        </p:tgtEl>
                                        <p:attrNameLst>
                                          <p:attrName>ppt_x</p:attrName>
                                        </p:attrNameLst>
                                      </p:cBhvr>
                                      <p:tavLst>
                                        <p:tav tm="0">
                                          <p:val>
                                            <p:strVal val="#ppt_x"/>
                                          </p:val>
                                        </p:tav>
                                        <p:tav tm="100000">
                                          <p:val>
                                            <p:strVal val="#ppt_x"/>
                                          </p:val>
                                        </p:tav>
                                      </p:tavLst>
                                    </p:anim>
                                    <p:anim calcmode="lin" valueType="num">
                                      <p:cBhvr>
                                        <p:cTn id="15" dur="1100" fill="hold"/>
                                        <p:tgtEl>
                                          <p:spTgt spid="8"/>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100"/>
                                        <p:tgtEl>
                                          <p:spTgt spid="2"/>
                                        </p:tgtEl>
                                      </p:cBhvr>
                                    </p:animEffect>
                                    <p:anim calcmode="lin" valueType="num">
                                      <p:cBhvr>
                                        <p:cTn id="19" dur="1100" fill="hold"/>
                                        <p:tgtEl>
                                          <p:spTgt spid="2"/>
                                        </p:tgtEl>
                                        <p:attrNameLst>
                                          <p:attrName>ppt_x</p:attrName>
                                        </p:attrNameLst>
                                      </p:cBhvr>
                                      <p:tavLst>
                                        <p:tav tm="0">
                                          <p:val>
                                            <p:strVal val="#ppt_x"/>
                                          </p:val>
                                        </p:tav>
                                        <p:tav tm="100000">
                                          <p:val>
                                            <p:strVal val="#ppt_x"/>
                                          </p:val>
                                        </p:tav>
                                      </p:tavLst>
                                    </p:anim>
                                    <p:anim calcmode="lin" valueType="num">
                                      <p:cBhvr>
                                        <p:cTn id="20" dur="11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4">
          <a:extLst>
            <a:ext uri="{FF2B5EF4-FFF2-40B4-BE49-F238E27FC236}">
              <a16:creationId xmlns:a16="http://schemas.microsoft.com/office/drawing/2014/main" id="{898CB656-C0C9-9294-F349-EDA1ECEB8D76}"/>
            </a:ext>
          </a:extLst>
        </p:cNvPr>
        <p:cNvGrpSpPr/>
        <p:nvPr/>
      </p:nvGrpSpPr>
      <p:grpSpPr>
        <a:xfrm>
          <a:off x="0" y="0"/>
          <a:ext cx="0" cy="0"/>
          <a:chOff x="0" y="0"/>
          <a:chExt cx="0" cy="0"/>
        </a:xfrm>
      </p:grpSpPr>
      <p:sp>
        <p:nvSpPr>
          <p:cNvPr id="665" name="Google Shape;665;p81">
            <a:extLst>
              <a:ext uri="{FF2B5EF4-FFF2-40B4-BE49-F238E27FC236}">
                <a16:creationId xmlns:a16="http://schemas.microsoft.com/office/drawing/2014/main" id="{0540AC3B-D5CA-F2D3-D298-7958CAC6E70A}"/>
              </a:ext>
            </a:extLst>
          </p:cNvPr>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666" name="Google Shape;666;p81">
            <a:extLst>
              <a:ext uri="{FF2B5EF4-FFF2-40B4-BE49-F238E27FC236}">
                <a16:creationId xmlns:a16="http://schemas.microsoft.com/office/drawing/2014/main" id="{9F5F16AA-52D1-E06F-90BF-4FE986A8D8E3}"/>
              </a:ext>
            </a:extLst>
          </p:cNvPr>
          <p:cNvSpPr txBox="1"/>
          <p:nvPr/>
        </p:nvSpPr>
        <p:spPr>
          <a:xfrm>
            <a:off x="842961" y="5037667"/>
            <a:ext cx="7985100" cy="2844900"/>
          </a:xfrm>
          <a:prstGeom prst="rect">
            <a:avLst/>
          </a:prstGeom>
          <a:noFill/>
          <a:ln>
            <a:noFill/>
          </a:ln>
        </p:spPr>
        <p:txBody>
          <a:bodyPr spcFirstLastPara="1" wrap="square" lIns="0" tIns="45700" rIns="0" bIns="45700" anchor="t" anchorCtr="0">
            <a:noAutofit/>
          </a:bodyPr>
          <a:lstStyle/>
          <a:p>
            <a:pPr lvl="0">
              <a:lnSpc>
                <a:spcPct val="110000"/>
              </a:lnSpc>
              <a:spcBef>
                <a:spcPts val="1500"/>
              </a:spcBef>
              <a:buClr>
                <a:schemeClr val="dk1"/>
              </a:buClr>
              <a:buSzPts val="1100"/>
            </a:pPr>
            <a:r>
              <a:rPr lang="en-US" sz="2200" dirty="0">
                <a:solidFill>
                  <a:schemeClr val="accent2"/>
                </a:solidFill>
              </a:rPr>
              <a:t>You can create custom integrations to any SaaS application for which you have an API key.</a:t>
            </a:r>
          </a:p>
          <a:p>
            <a:pPr lvl="0">
              <a:lnSpc>
                <a:spcPct val="110000"/>
              </a:lnSpc>
              <a:spcBef>
                <a:spcPts val="1500"/>
              </a:spcBef>
              <a:buClr>
                <a:schemeClr val="dk1"/>
              </a:buClr>
              <a:buSzPts val="1100"/>
            </a:pPr>
            <a:r>
              <a:rPr lang="en-US" sz="2200" dirty="0">
                <a:solidFill>
                  <a:schemeClr val="accent2"/>
                </a:solidFill>
              </a:rPr>
              <a:t>Once you create an integration, it will appear at the top of the Integrations page along with the other platforms you have configured.</a:t>
            </a:r>
            <a:endParaRPr sz="2200" dirty="0">
              <a:solidFill>
                <a:srgbClr val="7F7F7F"/>
              </a:solidFill>
            </a:endParaRPr>
          </a:p>
        </p:txBody>
      </p:sp>
      <p:sp>
        <p:nvSpPr>
          <p:cNvPr id="667" name="Google Shape;667;p81">
            <a:extLst>
              <a:ext uri="{FF2B5EF4-FFF2-40B4-BE49-F238E27FC236}">
                <a16:creationId xmlns:a16="http://schemas.microsoft.com/office/drawing/2014/main" id="{4F81850E-E80F-C02E-552A-84C32705BC43}"/>
              </a:ext>
            </a:extLst>
          </p:cNvPr>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dirty="0"/>
              <a:t>Custom Integrations</a:t>
            </a:r>
            <a:endParaRPr b="0" dirty="0">
              <a:solidFill>
                <a:schemeClr val="dk1"/>
              </a:solidFill>
            </a:endParaRPr>
          </a:p>
        </p:txBody>
      </p:sp>
      <p:pic>
        <p:nvPicPr>
          <p:cNvPr id="4" name="Picture 3">
            <a:extLst>
              <a:ext uri="{FF2B5EF4-FFF2-40B4-BE49-F238E27FC236}">
                <a16:creationId xmlns:a16="http://schemas.microsoft.com/office/drawing/2014/main" id="{7653F6EB-1E78-3C1F-380F-94165DC85594}"/>
              </a:ext>
            </a:extLst>
          </p:cNvPr>
          <p:cNvPicPr>
            <a:picLocks noChangeAspect="1"/>
          </p:cNvPicPr>
          <p:nvPr/>
        </p:nvPicPr>
        <p:blipFill>
          <a:blip r:embed="rId4"/>
          <a:stretch>
            <a:fillRect/>
          </a:stretch>
        </p:blipFill>
        <p:spPr>
          <a:xfrm>
            <a:off x="9141250" y="1252906"/>
            <a:ext cx="8448013" cy="7747659"/>
          </a:xfrm>
          <a:prstGeom prst="rect">
            <a:avLst/>
          </a:prstGeom>
        </p:spPr>
      </p:pic>
    </p:spTree>
    <p:custDataLst>
      <p:tags r:id="rId1"/>
    </p:custDataLst>
    <p:extLst>
      <p:ext uri="{BB962C8B-B14F-4D97-AF65-F5344CB8AC3E}">
        <p14:creationId xmlns:p14="http://schemas.microsoft.com/office/powerpoint/2010/main" val="3084240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86"/>
          <p:cNvSpPr/>
          <p:nvPr/>
        </p:nvSpPr>
        <p:spPr>
          <a:xfrm>
            <a:off x="7385325" y="0"/>
            <a:ext cx="109026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13" name="Google Shape;713;p86"/>
          <p:cNvSpPr txBox="1"/>
          <p:nvPr/>
        </p:nvSpPr>
        <p:spPr>
          <a:xfrm>
            <a:off x="842952" y="5037675"/>
            <a:ext cx="6455400" cy="28449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Testing actions ensures they function correctly and produce the expected output. </a:t>
            </a:r>
            <a:endParaRPr sz="2200"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Run tests directly in the Action Inspector to validate configurations, debug errors, and understand output structures. Use realistic sample data or manually simulate outputs to refine workflows before execution.</a:t>
            </a:r>
            <a:endParaRPr sz="2200" dirty="0">
              <a:solidFill>
                <a:srgbClr val="7F7F7F"/>
              </a:solidFill>
            </a:endParaRPr>
          </a:p>
        </p:txBody>
      </p:sp>
      <p:sp>
        <p:nvSpPr>
          <p:cNvPr id="714" name="Google Shape;714;p86"/>
          <p:cNvSpPr txBox="1">
            <a:spLocks noGrp="1"/>
          </p:cNvSpPr>
          <p:nvPr>
            <p:ph type="title"/>
          </p:nvPr>
        </p:nvSpPr>
        <p:spPr>
          <a:xfrm>
            <a:off x="792175" y="2404516"/>
            <a:ext cx="8008800" cy="19389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dirty="0"/>
              <a:t>Testing As You Go</a:t>
            </a:r>
            <a:endParaRPr dirty="0"/>
          </a:p>
          <a:p>
            <a:pPr marL="0" lvl="0" indent="0" algn="l" rtl="0">
              <a:lnSpc>
                <a:spcPct val="90000"/>
              </a:lnSpc>
              <a:spcBef>
                <a:spcPts val="0"/>
              </a:spcBef>
              <a:spcAft>
                <a:spcPts val="0"/>
              </a:spcAft>
              <a:buClr>
                <a:schemeClr val="lt1"/>
              </a:buClr>
              <a:buSzPts val="5800"/>
              <a:buFont typeface="Arial"/>
              <a:buNone/>
            </a:pPr>
            <a:endParaRPr dirty="0"/>
          </a:p>
        </p:txBody>
      </p:sp>
      <p:pic>
        <p:nvPicPr>
          <p:cNvPr id="4" name="Picture 3">
            <a:extLst>
              <a:ext uri="{FF2B5EF4-FFF2-40B4-BE49-F238E27FC236}">
                <a16:creationId xmlns:a16="http://schemas.microsoft.com/office/drawing/2014/main" id="{69B0098D-73EB-9CAA-CE01-9211AB5A5948}"/>
              </a:ext>
            </a:extLst>
          </p:cNvPr>
          <p:cNvPicPr>
            <a:picLocks noChangeAspect="1"/>
          </p:cNvPicPr>
          <p:nvPr/>
        </p:nvPicPr>
        <p:blipFill>
          <a:blip r:embed="rId4"/>
          <a:stretch>
            <a:fillRect/>
          </a:stretch>
        </p:blipFill>
        <p:spPr>
          <a:xfrm>
            <a:off x="7352675" y="1606400"/>
            <a:ext cx="4838949" cy="7525137"/>
          </a:xfrm>
          <a:prstGeom prst="rect">
            <a:avLst/>
          </a:prstGeom>
        </p:spPr>
      </p:pic>
      <p:pic>
        <p:nvPicPr>
          <p:cNvPr id="6" name="Picture 5">
            <a:extLst>
              <a:ext uri="{FF2B5EF4-FFF2-40B4-BE49-F238E27FC236}">
                <a16:creationId xmlns:a16="http://schemas.microsoft.com/office/drawing/2014/main" id="{1C1B350E-D8D4-2D52-D418-0803F94367B5}"/>
              </a:ext>
            </a:extLst>
          </p:cNvPr>
          <p:cNvPicPr>
            <a:picLocks noChangeAspect="1"/>
          </p:cNvPicPr>
          <p:nvPr/>
        </p:nvPicPr>
        <p:blipFill>
          <a:blip r:embed="rId5"/>
          <a:stretch>
            <a:fillRect/>
          </a:stretch>
        </p:blipFill>
        <p:spPr>
          <a:xfrm>
            <a:off x="13190568" y="1368342"/>
            <a:ext cx="4517766" cy="7757035"/>
          </a:xfrm>
          <a:prstGeom prst="rect">
            <a:avLst/>
          </a:prstGeom>
        </p:spPr>
      </p:pic>
      <p:sp>
        <p:nvSpPr>
          <p:cNvPr id="7" name="Arrow: Right 6">
            <a:extLst>
              <a:ext uri="{FF2B5EF4-FFF2-40B4-BE49-F238E27FC236}">
                <a16:creationId xmlns:a16="http://schemas.microsoft.com/office/drawing/2014/main" id="{591499BD-64A9-2794-EB15-10635161ED18}"/>
              </a:ext>
            </a:extLst>
          </p:cNvPr>
          <p:cNvSpPr/>
          <p:nvPr/>
        </p:nvSpPr>
        <p:spPr>
          <a:xfrm>
            <a:off x="12313085" y="4208745"/>
            <a:ext cx="663879" cy="4509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35248DCB-F9FC-4EAD-2F1C-322A030C81EF}"/>
            </a:ext>
          </a:extLst>
        </p:cNvPr>
        <p:cNvGrpSpPr/>
        <p:nvPr/>
      </p:nvGrpSpPr>
      <p:grpSpPr>
        <a:xfrm>
          <a:off x="0" y="0"/>
          <a:ext cx="0" cy="0"/>
          <a:chOff x="0" y="0"/>
          <a:chExt cx="0" cy="0"/>
        </a:xfrm>
      </p:grpSpPr>
      <p:sp>
        <p:nvSpPr>
          <p:cNvPr id="183" name="Header">
            <a:extLst>
              <a:ext uri="{FF2B5EF4-FFF2-40B4-BE49-F238E27FC236}">
                <a16:creationId xmlns:a16="http://schemas.microsoft.com/office/drawing/2014/main" id="{5A044852-21C7-5E35-DDF5-D3D53EFB1708}"/>
              </a:ext>
            </a:extLst>
          </p:cNvPr>
          <p:cNvSpPr txBox="1">
            <a:spLocks noGrp="1"/>
          </p:cNvSpPr>
          <p:nvPr>
            <p:ph type="title"/>
          </p:nvPr>
        </p:nvSpPr>
        <p:spPr>
          <a:xfrm>
            <a:off x="761935" y="6147020"/>
            <a:ext cx="7558826" cy="886397"/>
          </a:xfrm>
          <a:noFill/>
          <a:ln>
            <a:noFill/>
          </a:ln>
        </p:spPr>
        <p:txBody>
          <a:bodyPr spcFirstLastPara="1" wrap="square" lIns="0" tIns="0" rIns="0" bIns="0" anchor="b" anchorCtr="0">
            <a:spAutoFit/>
          </a:bodyPr>
          <a:lstStyle/>
          <a:p>
            <a:pPr lvl="0"/>
            <a:r>
              <a:rPr lang="en-US" dirty="0"/>
              <a:t>Demo</a:t>
            </a:r>
          </a:p>
        </p:txBody>
      </p:sp>
      <p:sp>
        <p:nvSpPr>
          <p:cNvPr id="184" name="Subhead">
            <a:extLst>
              <a:ext uri="{FF2B5EF4-FFF2-40B4-BE49-F238E27FC236}">
                <a16:creationId xmlns:a16="http://schemas.microsoft.com/office/drawing/2014/main" id="{6EBBAD5E-8BD5-3BEC-EFBC-D6FB8FDED473}"/>
              </a:ext>
            </a:extLst>
          </p:cNvPr>
          <p:cNvSpPr txBox="1">
            <a:spLocks noGrp="1"/>
          </p:cNvSpPr>
          <p:nvPr>
            <p:ph type="body" idx="1"/>
          </p:nvPr>
        </p:nvSpPr>
        <p:spPr>
          <a:noFill/>
          <a:ln>
            <a:noFill/>
          </a:ln>
        </p:spPr>
        <p:txBody>
          <a:bodyPr spcFirstLastPara="1" wrap="square" lIns="0" tIns="0" rIns="0" bIns="0" anchor="t" anchorCtr="0">
            <a:spAutoFit/>
          </a:bodyPr>
          <a:lstStyle/>
          <a:p>
            <a:pPr lvl="0"/>
            <a:r>
              <a:rPr lang="en-US" dirty="0"/>
              <a:t>Testing Actions</a:t>
            </a:r>
          </a:p>
        </p:txBody>
      </p:sp>
      <p:pic>
        <p:nvPicPr>
          <p:cNvPr id="2" name="Orbit" descr="A blue and purple logo&#10;&#10;AI-generated content may be incorrect.">
            <a:extLst>
              <a:ext uri="{FF2B5EF4-FFF2-40B4-BE49-F238E27FC236}">
                <a16:creationId xmlns:a16="http://schemas.microsoft.com/office/drawing/2014/main" id="{B5D8CC79-17E0-0E40-FCDF-CBB7FD411C18}"/>
              </a:ext>
            </a:extLst>
          </p:cNvPr>
          <p:cNvPicPr>
            <a:picLocks noChangeAspect="1"/>
          </p:cNvPicPr>
          <p:nvPr/>
        </p:nvPicPr>
        <p:blipFill>
          <a:blip r:embed="rId4"/>
          <a:stretch>
            <a:fillRect/>
          </a:stretch>
        </p:blipFill>
        <p:spPr>
          <a:xfrm>
            <a:off x="8752840" y="-844062"/>
            <a:ext cx="16449151" cy="11381240"/>
          </a:xfrm>
          <a:prstGeom prst="rect">
            <a:avLst/>
          </a:prstGeom>
        </p:spPr>
      </p:pic>
      <p:pic>
        <p:nvPicPr>
          <p:cNvPr id="3" name="Star 2" descr="A blue light on a black background&#10;&#10;AI-generated content may be incorrect.">
            <a:extLst>
              <a:ext uri="{FF2B5EF4-FFF2-40B4-BE49-F238E27FC236}">
                <a16:creationId xmlns:a16="http://schemas.microsoft.com/office/drawing/2014/main" id="{3C7F72C3-14AF-B611-316B-3A4C232A65FB}"/>
              </a:ext>
            </a:extLst>
          </p:cNvPr>
          <p:cNvPicPr>
            <a:picLocks noChangeAspect="1"/>
          </p:cNvPicPr>
          <p:nvPr/>
        </p:nvPicPr>
        <p:blipFill>
          <a:blip r:embed="rId5"/>
          <a:stretch>
            <a:fillRect/>
          </a:stretch>
        </p:blipFill>
        <p:spPr>
          <a:xfrm>
            <a:off x="18683866" y="2075314"/>
            <a:ext cx="669840" cy="647297"/>
          </a:xfrm>
          <a:prstGeom prst="rect">
            <a:avLst/>
          </a:prstGeom>
        </p:spPr>
      </p:pic>
      <p:pic>
        <p:nvPicPr>
          <p:cNvPr id="4" name="Star 3" descr="A blue light on a black background&#10;&#10;AI-generated content may be incorrect.">
            <a:extLst>
              <a:ext uri="{FF2B5EF4-FFF2-40B4-BE49-F238E27FC236}">
                <a16:creationId xmlns:a16="http://schemas.microsoft.com/office/drawing/2014/main" id="{2B8364D2-C287-0127-64D7-02C76290C115}"/>
              </a:ext>
            </a:extLst>
          </p:cNvPr>
          <p:cNvPicPr>
            <a:picLocks noChangeAspect="1"/>
          </p:cNvPicPr>
          <p:nvPr/>
        </p:nvPicPr>
        <p:blipFill>
          <a:blip r:embed="rId5"/>
          <a:stretch>
            <a:fillRect/>
          </a:stretch>
        </p:blipFill>
        <p:spPr>
          <a:xfrm>
            <a:off x="19130281" y="3102247"/>
            <a:ext cx="446850" cy="431812"/>
          </a:xfrm>
          <a:prstGeom prst="rect">
            <a:avLst/>
          </a:prstGeom>
        </p:spPr>
      </p:pic>
      <p:pic>
        <p:nvPicPr>
          <p:cNvPr id="5" name="Star 1" descr="A blue light on a black background&#10;&#10;AI-generated content may be incorrect.">
            <a:extLst>
              <a:ext uri="{FF2B5EF4-FFF2-40B4-BE49-F238E27FC236}">
                <a16:creationId xmlns:a16="http://schemas.microsoft.com/office/drawing/2014/main" id="{F0F35F08-F63B-61A3-F6A5-EED917A2E709}"/>
              </a:ext>
            </a:extLst>
          </p:cNvPr>
          <p:cNvPicPr>
            <a:picLocks noChangeAspect="1"/>
          </p:cNvPicPr>
          <p:nvPr/>
        </p:nvPicPr>
        <p:blipFill>
          <a:blip r:embed="rId5"/>
          <a:stretch>
            <a:fillRect/>
          </a:stretch>
        </p:blipFill>
        <p:spPr>
          <a:xfrm>
            <a:off x="18683866" y="589450"/>
            <a:ext cx="446850" cy="431812"/>
          </a:xfrm>
          <a:prstGeom prst="rect">
            <a:avLst/>
          </a:prstGeom>
        </p:spPr>
      </p:pic>
      <p:pic>
        <p:nvPicPr>
          <p:cNvPr id="8" name="Bitmap" descr="A blue and black rectangle with a white center&#10;&#10;AI-generated content may be incorrect.">
            <a:extLst>
              <a:ext uri="{FF2B5EF4-FFF2-40B4-BE49-F238E27FC236}">
                <a16:creationId xmlns:a16="http://schemas.microsoft.com/office/drawing/2014/main" id="{6127EB42-2DF3-A2C3-3C7F-307E24137055}"/>
              </a:ext>
            </a:extLst>
          </p:cNvPr>
          <p:cNvPicPr>
            <a:picLocks noChangeAspect="1"/>
          </p:cNvPicPr>
          <p:nvPr/>
        </p:nvPicPr>
        <p:blipFill>
          <a:blip r:embed="rId6"/>
          <a:stretch>
            <a:fillRect/>
          </a:stretch>
        </p:blipFill>
        <p:spPr>
          <a:xfrm>
            <a:off x="-1261034" y="8343991"/>
            <a:ext cx="20501134" cy="5595886"/>
          </a:xfrm>
          <a:prstGeom prst="rect">
            <a:avLst/>
          </a:prstGeom>
        </p:spPr>
      </p:pic>
    </p:spTree>
    <p:custDataLst>
      <p:tags r:id="rId1"/>
    </p:custDataLst>
    <p:extLst>
      <p:ext uri="{BB962C8B-B14F-4D97-AF65-F5344CB8AC3E}">
        <p14:creationId xmlns:p14="http://schemas.microsoft.com/office/powerpoint/2010/main" val="1298399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decel="50000" fill="hold" nodeType="withEffect">
                                  <p:stCondLst>
                                    <p:cond delay="0"/>
                                  </p:stCondLst>
                                  <p:childTnLst>
                                    <p:animMotion origin="layout" path="M 0.03767 -0.01667 L -0.07587 0.03796 L -0.15148 0.08133 L -0.24444 0.13935 L -0.32326 0.20092 L -0.39384 0.26358 L -0.45859 0.33318 L -0.50668 0.39691 L -0.54384 0.45849 L -0.57075 0.50864 L -0.57969 0.53148 " pathEditMode="relative" ptsTypes="AAAAAAAAAAA">
                                      <p:cBhvr>
                                        <p:cTn id="6" dur="2000" fill="hold"/>
                                        <p:tgtEl>
                                          <p:spTgt spid="3"/>
                                        </p:tgtEl>
                                        <p:attrNameLst>
                                          <p:attrName>ppt_x</p:attrName>
                                          <p:attrName>ppt_y</p:attrName>
                                        </p:attrNameLst>
                                      </p:cBhvr>
                                    </p:animMotion>
                                  </p:childTnLst>
                                </p:cTn>
                              </p:par>
                              <p:par>
                                <p:cTn id="7" presetID="0" presetClass="path" presetSubtype="0" decel="50000" fill="hold" nodeType="withEffect">
                                  <p:stCondLst>
                                    <p:cond delay="0"/>
                                  </p:stCondLst>
                                  <p:childTnLst>
                                    <p:animMotion origin="layout" path="M 0.0415 -0.01126 L 0.0375 -0.00941 L -0.13203 0.02685 L -0.24774 0.05803 L -0.36597 0.0983 L -0.54939 0.17624 " pathEditMode="relative" rAng="0" ptsTypes="AAAAAA">
                                      <p:cBhvr>
                                        <p:cTn id="8" dur="2000" fill="hold"/>
                                        <p:tgtEl>
                                          <p:spTgt spid="5"/>
                                        </p:tgtEl>
                                        <p:attrNameLst>
                                          <p:attrName>ppt_x</p:attrName>
                                          <p:attrName>ppt_y</p:attrName>
                                        </p:attrNameLst>
                                      </p:cBhvr>
                                      <p:rCtr x="-29549" y="9367"/>
                                    </p:animMotion>
                                  </p:childTnLst>
                                </p:cTn>
                              </p:par>
                              <p:par>
                                <p:cTn id="9" presetID="0" presetClass="path" presetSubtype="0" decel="50000" fill="hold" nodeType="withEffect">
                                  <p:stCondLst>
                                    <p:cond delay="0"/>
                                  </p:stCondLst>
                                  <p:childTnLst>
                                    <p:animMotion origin="layout" path="M 0.02387 -0.01775 L -0.05886 0.0287 L -0.11068 0.06574 L -0.17136 0.10911 L -0.21424 0.14938 L -0.26962 0.20448 L -0.32075 0.26266 L -0.35469 0.31019 L -0.3678 0.32932 L -0.37726 0.34738 " pathEditMode="relative" ptsTypes="AAAAAAAAAA">
                                      <p:cBhvr>
                                        <p:cTn id="10" dur="2000" fill="hold"/>
                                        <p:tgtEl>
                                          <p:spTgt spid="4"/>
                                        </p:tgtEl>
                                        <p:attrNameLst>
                                          <p:attrName>ppt_x</p:attrName>
                                          <p:attrName>ppt_y</p:attrName>
                                        </p:attrNameLst>
                                      </p:cBhvr>
                                    </p:animMotion>
                                  </p:childTnLst>
                                </p:cTn>
                              </p:par>
                              <p:par>
                                <p:cTn id="11" presetID="42" presetClass="entr" presetSubtype="0" fill="hold" nodeType="withEffect">
                                  <p:stCondLst>
                                    <p:cond delay="15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100"/>
                                        <p:tgtEl>
                                          <p:spTgt spid="8"/>
                                        </p:tgtEl>
                                      </p:cBhvr>
                                    </p:animEffect>
                                    <p:anim calcmode="lin" valueType="num">
                                      <p:cBhvr>
                                        <p:cTn id="14" dur="1100" fill="hold"/>
                                        <p:tgtEl>
                                          <p:spTgt spid="8"/>
                                        </p:tgtEl>
                                        <p:attrNameLst>
                                          <p:attrName>ppt_x</p:attrName>
                                        </p:attrNameLst>
                                      </p:cBhvr>
                                      <p:tavLst>
                                        <p:tav tm="0">
                                          <p:val>
                                            <p:strVal val="#ppt_x"/>
                                          </p:val>
                                        </p:tav>
                                        <p:tav tm="100000">
                                          <p:val>
                                            <p:strVal val="#ppt_x"/>
                                          </p:val>
                                        </p:tav>
                                      </p:tavLst>
                                    </p:anim>
                                    <p:anim calcmode="lin" valueType="num">
                                      <p:cBhvr>
                                        <p:cTn id="15" dur="1100" fill="hold"/>
                                        <p:tgtEl>
                                          <p:spTgt spid="8"/>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100"/>
                                        <p:tgtEl>
                                          <p:spTgt spid="2"/>
                                        </p:tgtEl>
                                      </p:cBhvr>
                                    </p:animEffect>
                                    <p:anim calcmode="lin" valueType="num">
                                      <p:cBhvr>
                                        <p:cTn id="19" dur="1100" fill="hold"/>
                                        <p:tgtEl>
                                          <p:spTgt spid="2"/>
                                        </p:tgtEl>
                                        <p:attrNameLst>
                                          <p:attrName>ppt_x</p:attrName>
                                        </p:attrNameLst>
                                      </p:cBhvr>
                                      <p:tavLst>
                                        <p:tav tm="0">
                                          <p:val>
                                            <p:strVal val="#ppt_x"/>
                                          </p:val>
                                        </p:tav>
                                        <p:tav tm="100000">
                                          <p:val>
                                            <p:strVal val="#ppt_x"/>
                                          </p:val>
                                        </p:tav>
                                      </p:tavLst>
                                    </p:anim>
                                    <p:anim calcmode="lin" valueType="num">
                                      <p:cBhvr>
                                        <p:cTn id="20" dur="11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87"/>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24" name="Google Shape;724;p87"/>
          <p:cNvSpPr txBox="1"/>
          <p:nvPr/>
        </p:nvSpPr>
        <p:spPr>
          <a:xfrm>
            <a:off x="842961" y="5037667"/>
            <a:ext cx="7985100" cy="28449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Activate workflows to make them operational, allowing them to respond to triggers and execute tasks as configured in real time.</a:t>
            </a:r>
            <a:endParaRPr sz="2200" dirty="0">
              <a:solidFill>
                <a:srgbClr val="7F7F7F"/>
              </a:solidFill>
            </a:endParaRPr>
          </a:p>
        </p:txBody>
      </p:sp>
      <p:sp>
        <p:nvSpPr>
          <p:cNvPr id="725" name="Google Shape;725;p87"/>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a:t>Activating A workflow</a:t>
            </a:r>
            <a:endParaRPr b="0">
              <a:solidFill>
                <a:schemeClr val="dk1"/>
              </a:solidFill>
            </a:endParaRPr>
          </a:p>
        </p:txBody>
      </p:sp>
      <p:pic>
        <p:nvPicPr>
          <p:cNvPr id="4" name="Picture 3">
            <a:extLst>
              <a:ext uri="{FF2B5EF4-FFF2-40B4-BE49-F238E27FC236}">
                <a16:creationId xmlns:a16="http://schemas.microsoft.com/office/drawing/2014/main" id="{85D4120A-554A-E0E4-95A4-AD68BF9FEE24}"/>
              </a:ext>
            </a:extLst>
          </p:cNvPr>
          <p:cNvPicPr>
            <a:picLocks noChangeAspect="1"/>
          </p:cNvPicPr>
          <p:nvPr/>
        </p:nvPicPr>
        <p:blipFill>
          <a:blip r:embed="rId4"/>
          <a:stretch>
            <a:fillRect/>
          </a:stretch>
        </p:blipFill>
        <p:spPr>
          <a:xfrm>
            <a:off x="9144000" y="2059486"/>
            <a:ext cx="8299877" cy="7017111"/>
          </a:xfrm>
          <a:prstGeom prst="rect">
            <a:avLst/>
          </a:prstGeom>
        </p:spPr>
      </p:pic>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88"/>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33" name="Google Shape;733;p88"/>
          <p:cNvSpPr txBox="1"/>
          <p:nvPr/>
        </p:nvSpPr>
        <p:spPr>
          <a:xfrm>
            <a:off x="842961" y="5037667"/>
            <a:ext cx="7985100" cy="28449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Workflows support versioning to track changes and ensure stability. Editing an active workflow creates a draft version without affecting operations. </a:t>
            </a:r>
            <a:endParaRPr sz="2200"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Only one version can be active at a time, while previous versions remain accessible for rollback. Activating a new version deactivates the current one, ensuring controlled updates.</a:t>
            </a:r>
            <a:endParaRPr sz="2200" dirty="0">
              <a:solidFill>
                <a:srgbClr val="7F7F7F"/>
              </a:solidFill>
            </a:endParaRPr>
          </a:p>
        </p:txBody>
      </p:sp>
      <p:sp>
        <p:nvSpPr>
          <p:cNvPr id="734" name="Google Shape;734;p88"/>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a:t>Workflow Versions</a:t>
            </a:r>
            <a:endParaRPr b="0">
              <a:solidFill>
                <a:schemeClr val="dk1"/>
              </a:solidFill>
            </a:endParaRPr>
          </a:p>
        </p:txBody>
      </p:sp>
      <p:pic>
        <p:nvPicPr>
          <p:cNvPr id="4" name="Picture 3">
            <a:extLst>
              <a:ext uri="{FF2B5EF4-FFF2-40B4-BE49-F238E27FC236}">
                <a16:creationId xmlns:a16="http://schemas.microsoft.com/office/drawing/2014/main" id="{C9756B50-1BF8-653A-8A62-C73595F8864E}"/>
              </a:ext>
            </a:extLst>
          </p:cNvPr>
          <p:cNvPicPr>
            <a:picLocks noChangeAspect="1"/>
          </p:cNvPicPr>
          <p:nvPr/>
        </p:nvPicPr>
        <p:blipFill>
          <a:blip r:embed="rId4"/>
          <a:stretch>
            <a:fillRect/>
          </a:stretch>
        </p:blipFill>
        <p:spPr>
          <a:xfrm>
            <a:off x="8938955" y="1710535"/>
            <a:ext cx="8556878" cy="6865929"/>
          </a:xfrm>
          <a:prstGeom prst="rect">
            <a:avLst/>
          </a:prstGeom>
        </p:spPr>
      </p:pic>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31">
          <a:extLst>
            <a:ext uri="{FF2B5EF4-FFF2-40B4-BE49-F238E27FC236}">
              <a16:creationId xmlns:a16="http://schemas.microsoft.com/office/drawing/2014/main" id="{6FEAE8C8-7CE9-7DD7-B7C9-5BCD3B368D11}"/>
            </a:ext>
          </a:extLst>
        </p:cNvPr>
        <p:cNvGrpSpPr/>
        <p:nvPr/>
      </p:nvGrpSpPr>
      <p:grpSpPr>
        <a:xfrm>
          <a:off x="0" y="0"/>
          <a:ext cx="0" cy="0"/>
          <a:chOff x="0" y="0"/>
          <a:chExt cx="0" cy="0"/>
        </a:xfrm>
      </p:grpSpPr>
      <p:sp>
        <p:nvSpPr>
          <p:cNvPr id="732" name="Google Shape;732;p88">
            <a:extLst>
              <a:ext uri="{FF2B5EF4-FFF2-40B4-BE49-F238E27FC236}">
                <a16:creationId xmlns:a16="http://schemas.microsoft.com/office/drawing/2014/main" id="{5AA98D5C-5651-5169-15F2-8B73FABD613A}"/>
              </a:ext>
            </a:extLst>
          </p:cNvPr>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33" name="Google Shape;733;p88">
            <a:extLst>
              <a:ext uri="{FF2B5EF4-FFF2-40B4-BE49-F238E27FC236}">
                <a16:creationId xmlns:a16="http://schemas.microsoft.com/office/drawing/2014/main" id="{D564B305-591B-BECD-EC32-A2C54904D189}"/>
              </a:ext>
            </a:extLst>
          </p:cNvPr>
          <p:cNvSpPr txBox="1"/>
          <p:nvPr/>
        </p:nvSpPr>
        <p:spPr>
          <a:xfrm>
            <a:off x="842961" y="5037667"/>
            <a:ext cx="6660129" cy="28449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A workflow can be exported in the UI or via API as JSON and imported to other scopes. You can also export and import multiple workflows simultaneously as a ZIP file.</a:t>
            </a:r>
          </a:p>
          <a:p>
            <a:pPr marL="0" lvl="0" indent="0" algn="l" rtl="0">
              <a:lnSpc>
                <a:spcPct val="110000"/>
              </a:lnSpc>
              <a:spcBef>
                <a:spcPts val="1500"/>
              </a:spcBef>
              <a:spcAft>
                <a:spcPts val="0"/>
              </a:spcAft>
              <a:buClr>
                <a:schemeClr val="dk1"/>
              </a:buClr>
              <a:buSzPts val="1100"/>
              <a:buFont typeface="Arial"/>
              <a:buNone/>
            </a:pPr>
            <a:endParaRPr lang="en-US" sz="2200"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The sample workflows demonstrated later in this presentation can be downloaded here:</a:t>
            </a:r>
          </a:p>
          <a:p>
            <a:pPr marL="0" lvl="0" indent="0" algn="l" rtl="0">
              <a:lnSpc>
                <a:spcPct val="110000"/>
              </a:lnSpc>
              <a:spcBef>
                <a:spcPts val="1500"/>
              </a:spcBef>
              <a:spcAft>
                <a:spcPts val="0"/>
              </a:spcAft>
              <a:buClr>
                <a:schemeClr val="dk1"/>
              </a:buClr>
              <a:buSzPts val="1100"/>
              <a:buFont typeface="Arial"/>
              <a:buNone/>
            </a:pPr>
            <a:r>
              <a:rPr lang="en-US" sz="2200" dirty="0">
                <a:solidFill>
                  <a:srgbClr val="7F7F7F"/>
                </a:solidFill>
                <a:hlinkClick r:id="rId4"/>
              </a:rPr>
              <a:t>https://github.com/simplescripter/OneCon25</a:t>
            </a:r>
            <a:endParaRPr lang="en-US" sz="2200" dirty="0">
              <a:solidFill>
                <a:srgbClr val="7F7F7F"/>
              </a:solidFill>
            </a:endParaRPr>
          </a:p>
          <a:p>
            <a:pPr marL="0" lvl="0" indent="0" algn="l" rtl="0">
              <a:lnSpc>
                <a:spcPct val="110000"/>
              </a:lnSpc>
              <a:spcBef>
                <a:spcPts val="1500"/>
              </a:spcBef>
              <a:spcAft>
                <a:spcPts val="0"/>
              </a:spcAft>
              <a:buClr>
                <a:schemeClr val="dk1"/>
              </a:buClr>
              <a:buSzPts val="1100"/>
              <a:buFont typeface="Arial"/>
              <a:buNone/>
            </a:pPr>
            <a:endParaRPr lang="en-US" sz="2200" dirty="0">
              <a:solidFill>
                <a:schemeClr val="accent2"/>
              </a:solidFill>
            </a:endParaRPr>
          </a:p>
        </p:txBody>
      </p:sp>
      <p:sp>
        <p:nvSpPr>
          <p:cNvPr id="734" name="Google Shape;734;p88">
            <a:extLst>
              <a:ext uri="{FF2B5EF4-FFF2-40B4-BE49-F238E27FC236}">
                <a16:creationId xmlns:a16="http://schemas.microsoft.com/office/drawing/2014/main" id="{D2B44F21-9D09-8D94-93AF-4D07A0D930F5}"/>
              </a:ext>
            </a:extLst>
          </p:cNvPr>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dirty="0"/>
              <a:t>Workflow Export/Import</a:t>
            </a:r>
            <a:endParaRPr b="0" dirty="0">
              <a:solidFill>
                <a:schemeClr val="dk1"/>
              </a:solidFill>
            </a:endParaRPr>
          </a:p>
        </p:txBody>
      </p:sp>
      <p:pic>
        <p:nvPicPr>
          <p:cNvPr id="4" name="Picture 3">
            <a:extLst>
              <a:ext uri="{FF2B5EF4-FFF2-40B4-BE49-F238E27FC236}">
                <a16:creationId xmlns:a16="http://schemas.microsoft.com/office/drawing/2014/main" id="{6611FDF1-F0DF-9C6E-6763-9C8B08D2427C}"/>
              </a:ext>
            </a:extLst>
          </p:cNvPr>
          <p:cNvPicPr>
            <a:picLocks noChangeAspect="1"/>
          </p:cNvPicPr>
          <p:nvPr/>
        </p:nvPicPr>
        <p:blipFill>
          <a:blip r:embed="rId5"/>
          <a:stretch>
            <a:fillRect/>
          </a:stretch>
        </p:blipFill>
        <p:spPr>
          <a:xfrm>
            <a:off x="8019242" y="3713371"/>
            <a:ext cx="9430494" cy="5493492"/>
          </a:xfrm>
          <a:prstGeom prst="rect">
            <a:avLst/>
          </a:prstGeom>
        </p:spPr>
      </p:pic>
    </p:spTree>
    <p:custDataLst>
      <p:tags r:id="rId1"/>
    </p:custDataLst>
    <p:extLst>
      <p:ext uri="{BB962C8B-B14F-4D97-AF65-F5344CB8AC3E}">
        <p14:creationId xmlns:p14="http://schemas.microsoft.com/office/powerpoint/2010/main" val="2213719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89"/>
          <p:cNvSpPr/>
          <p:nvPr/>
        </p:nvSpPr>
        <p:spPr>
          <a:xfrm>
            <a:off x="8828050" y="0"/>
            <a:ext cx="94602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42" name="Google Shape;742;p89"/>
          <p:cNvSpPr txBox="1"/>
          <p:nvPr/>
        </p:nvSpPr>
        <p:spPr>
          <a:xfrm>
            <a:off x="842961" y="5037667"/>
            <a:ext cx="7985100" cy="28449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accent1"/>
              </a:buClr>
              <a:buSzPts val="2200"/>
              <a:buFont typeface="Noto Sans Symbols"/>
              <a:buNone/>
            </a:pPr>
            <a:r>
              <a:rPr lang="en-US" sz="2200">
                <a:solidFill>
                  <a:schemeClr val="accent2"/>
                </a:solidFill>
              </a:rPr>
              <a:t>The Activity page tracks all recent workflow executions, displaying key details like workflow name, version, trigger type, and execution status. </a:t>
            </a:r>
            <a:endParaRPr sz="2200">
              <a:solidFill>
                <a:schemeClr val="accent2"/>
              </a:solidFill>
            </a:endParaRPr>
          </a:p>
          <a:p>
            <a:pPr marL="0" lvl="0" indent="0" algn="l" rtl="0">
              <a:lnSpc>
                <a:spcPct val="110000"/>
              </a:lnSpc>
              <a:spcBef>
                <a:spcPts val="1500"/>
              </a:spcBef>
              <a:spcAft>
                <a:spcPts val="0"/>
              </a:spcAft>
              <a:buClr>
                <a:schemeClr val="accent1"/>
              </a:buClr>
              <a:buSzPts val="2200"/>
              <a:buFont typeface="Noto Sans Symbols"/>
              <a:buNone/>
            </a:pPr>
            <a:r>
              <a:rPr lang="en-US" sz="2200">
                <a:solidFill>
                  <a:schemeClr val="accent2"/>
                </a:solidFill>
              </a:rPr>
              <a:t>Workflows can be filtered and sorted, with statuses including running, completed, or failed, ensuring clear visibility into operational workflows.</a:t>
            </a:r>
            <a:endParaRPr sz="2200">
              <a:solidFill>
                <a:srgbClr val="7F7F7F"/>
              </a:solidFill>
            </a:endParaRPr>
          </a:p>
        </p:txBody>
      </p:sp>
      <p:sp>
        <p:nvSpPr>
          <p:cNvPr id="743" name="Google Shape;743;p89"/>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a:t>Workflow Activity</a:t>
            </a:r>
            <a:endParaRPr b="0">
              <a:solidFill>
                <a:schemeClr val="dk1"/>
              </a:solidFill>
            </a:endParaRPr>
          </a:p>
        </p:txBody>
      </p:sp>
      <p:sp>
        <p:nvSpPr>
          <p:cNvPr id="744" name="Google Shape;744;p89"/>
          <p:cNvSpPr txBox="1">
            <a:spLocks noGrp="1"/>
          </p:cNvSpPr>
          <p:nvPr>
            <p:ph type="sldNum" idx="12"/>
          </p:nvPr>
        </p:nvSpPr>
        <p:spPr>
          <a:xfrm>
            <a:off x="16349136" y="9636755"/>
            <a:ext cx="1129200" cy="3258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34</a:t>
            </a:fld>
            <a:endParaRPr/>
          </a:p>
        </p:txBody>
      </p:sp>
      <p:pic>
        <p:nvPicPr>
          <p:cNvPr id="745" name="Google Shape;745;p89"/>
          <p:cNvPicPr preferRelativeResize="0"/>
          <p:nvPr/>
        </p:nvPicPr>
        <p:blipFill>
          <a:blip r:embed="rId4">
            <a:alphaModFix/>
          </a:blip>
          <a:stretch>
            <a:fillRect/>
          </a:stretch>
        </p:blipFill>
        <p:spPr>
          <a:xfrm>
            <a:off x="8876159" y="2086735"/>
            <a:ext cx="8619674" cy="5505150"/>
          </a:xfrm>
          <a:prstGeom prst="rect">
            <a:avLst/>
          </a:prstGeom>
          <a:noFill/>
          <a:ln>
            <a:noFill/>
          </a:ln>
          <a:effectLst>
            <a:outerShdw blurRad="50800" dist="38100" dir="2700000" algn="tl" rotWithShape="0">
              <a:prstClr val="black">
                <a:alpha val="40000"/>
              </a:prstClr>
            </a:outerShdw>
          </a:effectLst>
        </p:spPr>
      </p:pic>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90"/>
          <p:cNvSpPr/>
          <p:nvPr/>
        </p:nvSpPr>
        <p:spPr>
          <a:xfrm>
            <a:off x="8828050" y="0"/>
            <a:ext cx="94602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51" name="Google Shape;751;p90"/>
          <p:cNvSpPr txBox="1"/>
          <p:nvPr/>
        </p:nvSpPr>
        <p:spPr>
          <a:xfrm>
            <a:off x="842950" y="5037676"/>
            <a:ext cx="7985100" cy="32559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dk1"/>
              </a:buClr>
              <a:buSzPts val="1100"/>
              <a:buFont typeface="Arial"/>
              <a:buNone/>
            </a:pPr>
            <a:r>
              <a:rPr lang="en-US" sz="2200" b="1">
                <a:solidFill>
                  <a:schemeClr val="accent2"/>
                </a:solidFill>
              </a:rPr>
              <a:t>Singularity Hyperautomation</a:t>
            </a:r>
            <a:endParaRPr sz="2200" b="1">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a:solidFill>
                  <a:schemeClr val="accent2"/>
                </a:solidFill>
              </a:rPr>
              <a:t>The graphical canvas allows you to inspect each action's execution, displaying real-time input and output data. </a:t>
            </a:r>
            <a:endParaRPr sz="220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a:solidFill>
                  <a:schemeClr val="accent2"/>
                </a:solidFill>
              </a:rPr>
              <a:t>Looping actions include a selector to review individual iterations. This visual tracking is essential for debugging, ensuring accuracy, and refining workflows.</a:t>
            </a:r>
            <a:endParaRPr sz="2200">
              <a:solidFill>
                <a:srgbClr val="7F7F7F"/>
              </a:solidFill>
            </a:endParaRPr>
          </a:p>
        </p:txBody>
      </p:sp>
      <p:sp>
        <p:nvSpPr>
          <p:cNvPr id="752" name="Google Shape;752;p90"/>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a:t>Workflow Activity</a:t>
            </a:r>
            <a:endParaRPr b="0">
              <a:solidFill>
                <a:schemeClr val="dk1"/>
              </a:solidFill>
            </a:endParaRPr>
          </a:p>
        </p:txBody>
      </p:sp>
      <p:sp>
        <p:nvSpPr>
          <p:cNvPr id="753" name="Google Shape;753;p90"/>
          <p:cNvSpPr txBox="1">
            <a:spLocks noGrp="1"/>
          </p:cNvSpPr>
          <p:nvPr>
            <p:ph type="sldNum" idx="12"/>
          </p:nvPr>
        </p:nvSpPr>
        <p:spPr>
          <a:xfrm>
            <a:off x="16349136" y="9636755"/>
            <a:ext cx="1129200" cy="3258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35</a:t>
            </a:fld>
            <a:endParaRPr/>
          </a:p>
        </p:txBody>
      </p:sp>
      <p:pic>
        <p:nvPicPr>
          <p:cNvPr id="754" name="Google Shape;754;p90"/>
          <p:cNvPicPr preferRelativeResize="0"/>
          <p:nvPr/>
        </p:nvPicPr>
        <p:blipFill>
          <a:blip r:embed="rId4">
            <a:alphaModFix/>
          </a:blip>
          <a:stretch>
            <a:fillRect/>
          </a:stretch>
        </p:blipFill>
        <p:spPr>
          <a:xfrm>
            <a:off x="8855133" y="2452766"/>
            <a:ext cx="9118076" cy="5706925"/>
          </a:xfrm>
          <a:prstGeom prst="rect">
            <a:avLst/>
          </a:prstGeom>
          <a:noFill/>
          <a:ln>
            <a:noFill/>
          </a:ln>
          <a:effectLst>
            <a:outerShdw blurRad="50800" dist="38100" dir="2700000" algn="tl" rotWithShape="0">
              <a:prstClr val="black">
                <a:alpha val="40000"/>
              </a:prstClr>
            </a:outerShdw>
          </a:effectLst>
        </p:spPr>
      </p:pic>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48618369-C1E7-4EE9-6103-311145767287}"/>
            </a:ext>
          </a:extLst>
        </p:cNvPr>
        <p:cNvGrpSpPr/>
        <p:nvPr/>
      </p:nvGrpSpPr>
      <p:grpSpPr>
        <a:xfrm>
          <a:off x="0" y="0"/>
          <a:ext cx="0" cy="0"/>
          <a:chOff x="0" y="0"/>
          <a:chExt cx="0" cy="0"/>
        </a:xfrm>
      </p:grpSpPr>
      <p:sp>
        <p:nvSpPr>
          <p:cNvPr id="183" name="Header">
            <a:extLst>
              <a:ext uri="{FF2B5EF4-FFF2-40B4-BE49-F238E27FC236}">
                <a16:creationId xmlns:a16="http://schemas.microsoft.com/office/drawing/2014/main" id="{F6E884E4-514C-14E4-E465-FC2DC6503830}"/>
              </a:ext>
            </a:extLst>
          </p:cNvPr>
          <p:cNvSpPr txBox="1">
            <a:spLocks noGrp="1"/>
          </p:cNvSpPr>
          <p:nvPr>
            <p:ph type="title"/>
          </p:nvPr>
        </p:nvSpPr>
        <p:spPr>
          <a:xfrm>
            <a:off x="761935" y="6147020"/>
            <a:ext cx="7558826" cy="886397"/>
          </a:xfrm>
          <a:noFill/>
          <a:ln>
            <a:noFill/>
          </a:ln>
        </p:spPr>
        <p:txBody>
          <a:bodyPr spcFirstLastPara="1" wrap="square" lIns="0" tIns="0" rIns="0" bIns="0" anchor="b" anchorCtr="0">
            <a:spAutoFit/>
          </a:bodyPr>
          <a:lstStyle/>
          <a:p>
            <a:pPr lvl="0"/>
            <a:r>
              <a:rPr lang="en-US" dirty="0"/>
              <a:t>Demo</a:t>
            </a:r>
          </a:p>
        </p:txBody>
      </p:sp>
      <p:sp>
        <p:nvSpPr>
          <p:cNvPr id="184" name="Subhead">
            <a:extLst>
              <a:ext uri="{FF2B5EF4-FFF2-40B4-BE49-F238E27FC236}">
                <a16:creationId xmlns:a16="http://schemas.microsoft.com/office/drawing/2014/main" id="{A79E70CE-45B6-C6E1-27B9-08762A97528F}"/>
              </a:ext>
            </a:extLst>
          </p:cNvPr>
          <p:cNvSpPr txBox="1">
            <a:spLocks noGrp="1"/>
          </p:cNvSpPr>
          <p:nvPr>
            <p:ph type="body" idx="1"/>
          </p:nvPr>
        </p:nvSpPr>
        <p:spPr>
          <a:noFill/>
          <a:ln>
            <a:noFill/>
          </a:ln>
        </p:spPr>
        <p:txBody>
          <a:bodyPr spcFirstLastPara="1" wrap="square" lIns="0" tIns="0" rIns="0" bIns="0" anchor="t" anchorCtr="0">
            <a:spAutoFit/>
          </a:bodyPr>
          <a:lstStyle/>
          <a:p>
            <a:pPr lvl="0"/>
            <a:r>
              <a:rPr lang="en-US" dirty="0"/>
              <a:t>Workflow Admin Tasks</a:t>
            </a:r>
          </a:p>
        </p:txBody>
      </p:sp>
      <p:pic>
        <p:nvPicPr>
          <p:cNvPr id="2" name="Orbit" descr="A blue and purple logo&#10;&#10;AI-generated content may be incorrect.">
            <a:extLst>
              <a:ext uri="{FF2B5EF4-FFF2-40B4-BE49-F238E27FC236}">
                <a16:creationId xmlns:a16="http://schemas.microsoft.com/office/drawing/2014/main" id="{64F3F9AA-A36C-6533-2CB1-964EEEE219CA}"/>
              </a:ext>
            </a:extLst>
          </p:cNvPr>
          <p:cNvPicPr>
            <a:picLocks noChangeAspect="1"/>
          </p:cNvPicPr>
          <p:nvPr/>
        </p:nvPicPr>
        <p:blipFill>
          <a:blip r:embed="rId4"/>
          <a:stretch>
            <a:fillRect/>
          </a:stretch>
        </p:blipFill>
        <p:spPr>
          <a:xfrm>
            <a:off x="8752840" y="-844062"/>
            <a:ext cx="16449151" cy="11381240"/>
          </a:xfrm>
          <a:prstGeom prst="rect">
            <a:avLst/>
          </a:prstGeom>
        </p:spPr>
      </p:pic>
      <p:pic>
        <p:nvPicPr>
          <p:cNvPr id="3" name="Star 2" descr="A blue light on a black background&#10;&#10;AI-generated content may be incorrect.">
            <a:extLst>
              <a:ext uri="{FF2B5EF4-FFF2-40B4-BE49-F238E27FC236}">
                <a16:creationId xmlns:a16="http://schemas.microsoft.com/office/drawing/2014/main" id="{89651B6E-9D87-5662-EBA5-8635C48F3BB6}"/>
              </a:ext>
            </a:extLst>
          </p:cNvPr>
          <p:cNvPicPr>
            <a:picLocks noChangeAspect="1"/>
          </p:cNvPicPr>
          <p:nvPr/>
        </p:nvPicPr>
        <p:blipFill>
          <a:blip r:embed="rId5"/>
          <a:stretch>
            <a:fillRect/>
          </a:stretch>
        </p:blipFill>
        <p:spPr>
          <a:xfrm>
            <a:off x="18683866" y="2075314"/>
            <a:ext cx="669840" cy="647297"/>
          </a:xfrm>
          <a:prstGeom prst="rect">
            <a:avLst/>
          </a:prstGeom>
        </p:spPr>
      </p:pic>
      <p:pic>
        <p:nvPicPr>
          <p:cNvPr id="4" name="Star 3" descr="A blue light on a black background&#10;&#10;AI-generated content may be incorrect.">
            <a:extLst>
              <a:ext uri="{FF2B5EF4-FFF2-40B4-BE49-F238E27FC236}">
                <a16:creationId xmlns:a16="http://schemas.microsoft.com/office/drawing/2014/main" id="{3F9597B7-836D-D3FA-2387-318F3BEBC150}"/>
              </a:ext>
            </a:extLst>
          </p:cNvPr>
          <p:cNvPicPr>
            <a:picLocks noChangeAspect="1"/>
          </p:cNvPicPr>
          <p:nvPr/>
        </p:nvPicPr>
        <p:blipFill>
          <a:blip r:embed="rId5"/>
          <a:stretch>
            <a:fillRect/>
          </a:stretch>
        </p:blipFill>
        <p:spPr>
          <a:xfrm>
            <a:off x="19130281" y="3102247"/>
            <a:ext cx="446850" cy="431812"/>
          </a:xfrm>
          <a:prstGeom prst="rect">
            <a:avLst/>
          </a:prstGeom>
        </p:spPr>
      </p:pic>
      <p:pic>
        <p:nvPicPr>
          <p:cNvPr id="5" name="Star 1" descr="A blue light on a black background&#10;&#10;AI-generated content may be incorrect.">
            <a:extLst>
              <a:ext uri="{FF2B5EF4-FFF2-40B4-BE49-F238E27FC236}">
                <a16:creationId xmlns:a16="http://schemas.microsoft.com/office/drawing/2014/main" id="{1D20A3CF-6549-A27D-7377-58A08BE93718}"/>
              </a:ext>
            </a:extLst>
          </p:cNvPr>
          <p:cNvPicPr>
            <a:picLocks noChangeAspect="1"/>
          </p:cNvPicPr>
          <p:nvPr/>
        </p:nvPicPr>
        <p:blipFill>
          <a:blip r:embed="rId5"/>
          <a:stretch>
            <a:fillRect/>
          </a:stretch>
        </p:blipFill>
        <p:spPr>
          <a:xfrm>
            <a:off x="18683866" y="589450"/>
            <a:ext cx="446850" cy="431812"/>
          </a:xfrm>
          <a:prstGeom prst="rect">
            <a:avLst/>
          </a:prstGeom>
        </p:spPr>
      </p:pic>
      <p:pic>
        <p:nvPicPr>
          <p:cNvPr id="8" name="Bitmap" descr="A blue and black rectangle with a white center&#10;&#10;AI-generated content may be incorrect.">
            <a:extLst>
              <a:ext uri="{FF2B5EF4-FFF2-40B4-BE49-F238E27FC236}">
                <a16:creationId xmlns:a16="http://schemas.microsoft.com/office/drawing/2014/main" id="{931CF25A-2976-2725-6E0C-D3048A096392}"/>
              </a:ext>
            </a:extLst>
          </p:cNvPr>
          <p:cNvPicPr>
            <a:picLocks noChangeAspect="1"/>
          </p:cNvPicPr>
          <p:nvPr/>
        </p:nvPicPr>
        <p:blipFill>
          <a:blip r:embed="rId6"/>
          <a:stretch>
            <a:fillRect/>
          </a:stretch>
        </p:blipFill>
        <p:spPr>
          <a:xfrm>
            <a:off x="-1261034" y="8343991"/>
            <a:ext cx="20501134" cy="5595886"/>
          </a:xfrm>
          <a:prstGeom prst="rect">
            <a:avLst/>
          </a:prstGeom>
        </p:spPr>
      </p:pic>
    </p:spTree>
    <p:custDataLst>
      <p:tags r:id="rId1"/>
    </p:custDataLst>
    <p:extLst>
      <p:ext uri="{BB962C8B-B14F-4D97-AF65-F5344CB8AC3E}">
        <p14:creationId xmlns:p14="http://schemas.microsoft.com/office/powerpoint/2010/main" val="3724749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decel="50000" fill="hold" nodeType="withEffect">
                                  <p:stCondLst>
                                    <p:cond delay="0"/>
                                  </p:stCondLst>
                                  <p:childTnLst>
                                    <p:animMotion origin="layout" path="M 0.03767 -0.01667 L -0.07587 0.03796 L -0.15148 0.08133 L -0.24444 0.13935 L -0.32326 0.20092 L -0.39384 0.26358 L -0.45859 0.33318 L -0.50668 0.39691 L -0.54384 0.45849 L -0.57075 0.50864 L -0.57969 0.53148 " pathEditMode="relative" ptsTypes="AAAAAAAAAAA">
                                      <p:cBhvr>
                                        <p:cTn id="6" dur="2000" fill="hold"/>
                                        <p:tgtEl>
                                          <p:spTgt spid="3"/>
                                        </p:tgtEl>
                                        <p:attrNameLst>
                                          <p:attrName>ppt_x</p:attrName>
                                          <p:attrName>ppt_y</p:attrName>
                                        </p:attrNameLst>
                                      </p:cBhvr>
                                    </p:animMotion>
                                  </p:childTnLst>
                                </p:cTn>
                              </p:par>
                              <p:par>
                                <p:cTn id="7" presetID="0" presetClass="path" presetSubtype="0" decel="50000" fill="hold" nodeType="withEffect">
                                  <p:stCondLst>
                                    <p:cond delay="0"/>
                                  </p:stCondLst>
                                  <p:childTnLst>
                                    <p:animMotion origin="layout" path="M 0.0415 -0.01126 L 0.0375 -0.00941 L -0.13203 0.02685 L -0.24774 0.05803 L -0.36597 0.0983 L -0.54939 0.17624 " pathEditMode="relative" rAng="0" ptsTypes="AAAAAA">
                                      <p:cBhvr>
                                        <p:cTn id="8" dur="2000" fill="hold"/>
                                        <p:tgtEl>
                                          <p:spTgt spid="5"/>
                                        </p:tgtEl>
                                        <p:attrNameLst>
                                          <p:attrName>ppt_x</p:attrName>
                                          <p:attrName>ppt_y</p:attrName>
                                        </p:attrNameLst>
                                      </p:cBhvr>
                                      <p:rCtr x="-29549" y="9367"/>
                                    </p:animMotion>
                                  </p:childTnLst>
                                </p:cTn>
                              </p:par>
                              <p:par>
                                <p:cTn id="9" presetID="0" presetClass="path" presetSubtype="0" decel="50000" fill="hold" nodeType="withEffect">
                                  <p:stCondLst>
                                    <p:cond delay="0"/>
                                  </p:stCondLst>
                                  <p:childTnLst>
                                    <p:animMotion origin="layout" path="M 0.02387 -0.01775 L -0.05886 0.0287 L -0.11068 0.06574 L -0.17136 0.10911 L -0.21424 0.14938 L -0.26962 0.20448 L -0.32075 0.26266 L -0.35469 0.31019 L -0.3678 0.32932 L -0.37726 0.34738 " pathEditMode="relative" ptsTypes="AAAAAAAAAA">
                                      <p:cBhvr>
                                        <p:cTn id="10" dur="2000" fill="hold"/>
                                        <p:tgtEl>
                                          <p:spTgt spid="4"/>
                                        </p:tgtEl>
                                        <p:attrNameLst>
                                          <p:attrName>ppt_x</p:attrName>
                                          <p:attrName>ppt_y</p:attrName>
                                        </p:attrNameLst>
                                      </p:cBhvr>
                                    </p:animMotion>
                                  </p:childTnLst>
                                </p:cTn>
                              </p:par>
                              <p:par>
                                <p:cTn id="11" presetID="42" presetClass="entr" presetSubtype="0" fill="hold" nodeType="withEffect">
                                  <p:stCondLst>
                                    <p:cond delay="15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100"/>
                                        <p:tgtEl>
                                          <p:spTgt spid="8"/>
                                        </p:tgtEl>
                                      </p:cBhvr>
                                    </p:animEffect>
                                    <p:anim calcmode="lin" valueType="num">
                                      <p:cBhvr>
                                        <p:cTn id="14" dur="1100" fill="hold"/>
                                        <p:tgtEl>
                                          <p:spTgt spid="8"/>
                                        </p:tgtEl>
                                        <p:attrNameLst>
                                          <p:attrName>ppt_x</p:attrName>
                                        </p:attrNameLst>
                                      </p:cBhvr>
                                      <p:tavLst>
                                        <p:tav tm="0">
                                          <p:val>
                                            <p:strVal val="#ppt_x"/>
                                          </p:val>
                                        </p:tav>
                                        <p:tav tm="100000">
                                          <p:val>
                                            <p:strVal val="#ppt_x"/>
                                          </p:val>
                                        </p:tav>
                                      </p:tavLst>
                                    </p:anim>
                                    <p:anim calcmode="lin" valueType="num">
                                      <p:cBhvr>
                                        <p:cTn id="15" dur="1100" fill="hold"/>
                                        <p:tgtEl>
                                          <p:spTgt spid="8"/>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100"/>
                                        <p:tgtEl>
                                          <p:spTgt spid="2"/>
                                        </p:tgtEl>
                                      </p:cBhvr>
                                    </p:animEffect>
                                    <p:anim calcmode="lin" valueType="num">
                                      <p:cBhvr>
                                        <p:cTn id="19" dur="1100" fill="hold"/>
                                        <p:tgtEl>
                                          <p:spTgt spid="2"/>
                                        </p:tgtEl>
                                        <p:attrNameLst>
                                          <p:attrName>ppt_x</p:attrName>
                                        </p:attrNameLst>
                                      </p:cBhvr>
                                      <p:tavLst>
                                        <p:tav tm="0">
                                          <p:val>
                                            <p:strVal val="#ppt_x"/>
                                          </p:val>
                                        </p:tav>
                                        <p:tav tm="100000">
                                          <p:val>
                                            <p:strVal val="#ppt_x"/>
                                          </p:val>
                                        </p:tav>
                                      </p:tavLst>
                                    </p:anim>
                                    <p:anim calcmode="lin" valueType="num">
                                      <p:cBhvr>
                                        <p:cTn id="20" dur="11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83"/>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684" name="Google Shape;684;p83"/>
          <p:cNvSpPr txBox="1"/>
          <p:nvPr/>
        </p:nvSpPr>
        <p:spPr>
          <a:xfrm>
            <a:off x="842961" y="5037667"/>
            <a:ext cx="7985100" cy="28449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Actions can dynamically reference outputs from earlier steps, ensuring seamless data flow. </a:t>
            </a:r>
            <a:endParaRPr sz="2200"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The Action Inspector supports auto-complete and fuzzy search for easy selection of prior action results. </a:t>
            </a:r>
            <a:endParaRPr sz="2200"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Testing actions helps confirm their output schema, making references more accurate and reliable.</a:t>
            </a:r>
            <a:endParaRPr sz="2200" dirty="0">
              <a:solidFill>
                <a:srgbClr val="7F7F7F"/>
              </a:solidFill>
            </a:endParaRPr>
          </a:p>
        </p:txBody>
      </p:sp>
      <p:sp>
        <p:nvSpPr>
          <p:cNvPr id="685" name="Google Shape;685;p83"/>
          <p:cNvSpPr txBox="1">
            <a:spLocks noGrp="1"/>
          </p:cNvSpPr>
          <p:nvPr>
            <p:ph type="title"/>
          </p:nvPr>
        </p:nvSpPr>
        <p:spPr>
          <a:xfrm>
            <a:off x="792175" y="2404516"/>
            <a:ext cx="8008800" cy="19389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a:t>Configuring Actions - References</a:t>
            </a:r>
            <a:endParaRPr/>
          </a:p>
          <a:p>
            <a:pPr marL="0" lvl="0" indent="0" algn="l" rtl="0">
              <a:lnSpc>
                <a:spcPct val="90000"/>
              </a:lnSpc>
              <a:spcBef>
                <a:spcPts val="0"/>
              </a:spcBef>
              <a:spcAft>
                <a:spcPts val="0"/>
              </a:spcAft>
              <a:buClr>
                <a:schemeClr val="lt1"/>
              </a:buClr>
              <a:buSzPts val="5800"/>
              <a:buFont typeface="Arial"/>
              <a:buNone/>
            </a:pPr>
            <a:endParaRPr/>
          </a:p>
        </p:txBody>
      </p:sp>
      <p:sp>
        <p:nvSpPr>
          <p:cNvPr id="686" name="Google Shape;686;p83"/>
          <p:cNvSpPr txBox="1">
            <a:spLocks noGrp="1"/>
          </p:cNvSpPr>
          <p:nvPr>
            <p:ph type="sldNum" idx="12"/>
          </p:nvPr>
        </p:nvSpPr>
        <p:spPr>
          <a:xfrm>
            <a:off x="16349136" y="9636755"/>
            <a:ext cx="1129200" cy="3258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37</a:t>
            </a:fld>
            <a:endParaRPr/>
          </a:p>
        </p:txBody>
      </p:sp>
      <p:pic>
        <p:nvPicPr>
          <p:cNvPr id="687" name="Google Shape;687;p83"/>
          <p:cNvPicPr preferRelativeResize="0"/>
          <p:nvPr/>
        </p:nvPicPr>
        <p:blipFill>
          <a:blip r:embed="rId4">
            <a:alphaModFix/>
          </a:blip>
          <a:stretch>
            <a:fillRect/>
          </a:stretch>
        </p:blipFill>
        <p:spPr>
          <a:xfrm>
            <a:off x="10448025" y="2864484"/>
            <a:ext cx="6878851" cy="1330666"/>
          </a:xfrm>
          <a:prstGeom prst="rect">
            <a:avLst/>
          </a:prstGeom>
          <a:noFill/>
          <a:ln>
            <a:noFill/>
          </a:ln>
          <a:effectLst>
            <a:outerShdw blurRad="50800" dist="38100" dir="2700000" algn="tl" rotWithShape="0">
              <a:prstClr val="black">
                <a:alpha val="40000"/>
              </a:prstClr>
            </a:outerShdw>
          </a:effectLst>
        </p:spPr>
      </p:pic>
      <p:pic>
        <p:nvPicPr>
          <p:cNvPr id="688" name="Google Shape;688;p83"/>
          <p:cNvPicPr preferRelativeResize="0"/>
          <p:nvPr/>
        </p:nvPicPr>
        <p:blipFill>
          <a:blip r:embed="rId5">
            <a:alphaModFix/>
          </a:blip>
          <a:stretch>
            <a:fillRect/>
          </a:stretch>
        </p:blipFill>
        <p:spPr>
          <a:xfrm>
            <a:off x="10448025" y="5037675"/>
            <a:ext cx="6878849" cy="1235250"/>
          </a:xfrm>
          <a:prstGeom prst="rect">
            <a:avLst/>
          </a:prstGeom>
          <a:noFill/>
          <a:ln>
            <a:noFill/>
          </a:ln>
          <a:effectLst>
            <a:outerShdw blurRad="50800" dist="38100" dir="2700000" algn="tl" rotWithShape="0">
              <a:prstClr val="black">
                <a:alpha val="40000"/>
              </a:prstClr>
            </a:outerShdw>
          </a:effectLst>
        </p:spPr>
      </p:pic>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02">
          <a:extLst>
            <a:ext uri="{FF2B5EF4-FFF2-40B4-BE49-F238E27FC236}">
              <a16:creationId xmlns:a16="http://schemas.microsoft.com/office/drawing/2014/main" id="{0D9EC979-D791-2445-EFD9-7DEB4FA6EC31}"/>
            </a:ext>
          </a:extLst>
        </p:cNvPr>
        <p:cNvGrpSpPr/>
        <p:nvPr/>
      </p:nvGrpSpPr>
      <p:grpSpPr>
        <a:xfrm>
          <a:off x="0" y="0"/>
          <a:ext cx="0" cy="0"/>
          <a:chOff x="0" y="0"/>
          <a:chExt cx="0" cy="0"/>
        </a:xfrm>
      </p:grpSpPr>
      <p:sp>
        <p:nvSpPr>
          <p:cNvPr id="703" name="Google Shape;703;p85">
            <a:extLst>
              <a:ext uri="{FF2B5EF4-FFF2-40B4-BE49-F238E27FC236}">
                <a16:creationId xmlns:a16="http://schemas.microsoft.com/office/drawing/2014/main" id="{0E78B377-CB1C-A0A7-1756-D3A02769A62D}"/>
              </a:ext>
            </a:extLst>
          </p:cNvPr>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704" name="Google Shape;704;p85">
            <a:extLst>
              <a:ext uri="{FF2B5EF4-FFF2-40B4-BE49-F238E27FC236}">
                <a16:creationId xmlns:a16="http://schemas.microsoft.com/office/drawing/2014/main" id="{7C326CC6-E274-9060-DD79-61952BAD4B2B}"/>
              </a:ext>
            </a:extLst>
          </p:cNvPr>
          <p:cNvSpPr txBox="1"/>
          <p:nvPr/>
        </p:nvSpPr>
        <p:spPr>
          <a:xfrm>
            <a:off x="842961" y="4261104"/>
            <a:ext cx="7985100" cy="3621463"/>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Store and share data across workflows using global variables. These variables persist beyond a single execution, enabling seamless data reuse between workflows for consistent automation and streamlined operations.</a:t>
            </a:r>
          </a:p>
          <a:p>
            <a:pPr marL="0" lvl="0" indent="0" algn="l" rtl="0">
              <a:lnSpc>
                <a:spcPct val="110000"/>
              </a:lnSpc>
              <a:spcBef>
                <a:spcPts val="1500"/>
              </a:spcBef>
              <a:spcAft>
                <a:spcPts val="0"/>
              </a:spcAft>
              <a:buClr>
                <a:schemeClr val="dk1"/>
              </a:buClr>
              <a:buSzPts val="1100"/>
              <a:buFont typeface="Arial"/>
              <a:buNone/>
            </a:pPr>
            <a:endParaRPr lang="en-US" sz="2200" dirty="0">
              <a:solidFill>
                <a:schemeClr val="accent2"/>
              </a:solidFill>
            </a:endParaRPr>
          </a:p>
        </p:txBody>
      </p:sp>
      <p:sp>
        <p:nvSpPr>
          <p:cNvPr id="705" name="Google Shape;705;p85">
            <a:extLst>
              <a:ext uri="{FF2B5EF4-FFF2-40B4-BE49-F238E27FC236}">
                <a16:creationId xmlns:a16="http://schemas.microsoft.com/office/drawing/2014/main" id="{218CA19C-5C81-ADFB-1DC2-2F5F3B72E276}"/>
              </a:ext>
            </a:extLst>
          </p:cNvPr>
          <p:cNvSpPr txBox="1">
            <a:spLocks noGrp="1"/>
          </p:cNvSpPr>
          <p:nvPr>
            <p:ph type="title"/>
          </p:nvPr>
        </p:nvSpPr>
        <p:spPr>
          <a:xfrm>
            <a:off x="792167" y="2404533"/>
            <a:ext cx="8008800" cy="9240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dirty="0"/>
              <a:t>Variables</a:t>
            </a:r>
            <a:endParaRPr b="0" dirty="0">
              <a:solidFill>
                <a:schemeClr val="dk1"/>
              </a:solidFill>
            </a:endParaRPr>
          </a:p>
        </p:txBody>
      </p:sp>
      <p:sp>
        <p:nvSpPr>
          <p:cNvPr id="706" name="Google Shape;706;p85">
            <a:extLst>
              <a:ext uri="{FF2B5EF4-FFF2-40B4-BE49-F238E27FC236}">
                <a16:creationId xmlns:a16="http://schemas.microsoft.com/office/drawing/2014/main" id="{050C8A84-77CA-44BA-AC08-2F1E47BD71BF}"/>
              </a:ext>
            </a:extLst>
          </p:cNvPr>
          <p:cNvSpPr txBox="1">
            <a:spLocks noGrp="1"/>
          </p:cNvSpPr>
          <p:nvPr>
            <p:ph type="sldNum" idx="12"/>
          </p:nvPr>
        </p:nvSpPr>
        <p:spPr>
          <a:xfrm>
            <a:off x="16349136" y="9636755"/>
            <a:ext cx="1129200" cy="3258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38</a:t>
            </a:fld>
            <a:endParaRPr/>
          </a:p>
        </p:txBody>
      </p:sp>
      <p:pic>
        <p:nvPicPr>
          <p:cNvPr id="707" name="Google Shape;707;p85">
            <a:extLst>
              <a:ext uri="{FF2B5EF4-FFF2-40B4-BE49-F238E27FC236}">
                <a16:creationId xmlns:a16="http://schemas.microsoft.com/office/drawing/2014/main" id="{34926C5D-FAFF-CC4E-C9BE-F58DFC20830F}"/>
              </a:ext>
            </a:extLst>
          </p:cNvPr>
          <p:cNvPicPr preferRelativeResize="0"/>
          <p:nvPr/>
        </p:nvPicPr>
        <p:blipFill>
          <a:blip r:embed="rId4">
            <a:alphaModFix/>
          </a:blip>
          <a:stretch>
            <a:fillRect/>
          </a:stretch>
        </p:blipFill>
        <p:spPr>
          <a:xfrm>
            <a:off x="8800967" y="3293538"/>
            <a:ext cx="9237303" cy="2268018"/>
          </a:xfrm>
          <a:prstGeom prst="rect">
            <a:avLst/>
          </a:prstGeom>
          <a:noFill/>
          <a:ln>
            <a:noFill/>
          </a:ln>
          <a:effectLst>
            <a:outerShdw blurRad="50800" dist="38100" dir="2700000" algn="tl" rotWithShape="0">
              <a:prstClr val="black">
                <a:alpha val="40000"/>
              </a:prstClr>
            </a:outerShdw>
          </a:effectLst>
        </p:spPr>
      </p:pic>
    </p:spTree>
    <p:custDataLst>
      <p:tags r:id="rId1"/>
    </p:custDataLst>
    <p:extLst>
      <p:ext uri="{BB962C8B-B14F-4D97-AF65-F5344CB8AC3E}">
        <p14:creationId xmlns:p14="http://schemas.microsoft.com/office/powerpoint/2010/main" val="901054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84"/>
          <p:cNvSpPr/>
          <p:nvPr/>
        </p:nvSpPr>
        <p:spPr>
          <a:xfrm>
            <a:off x="9486900" y="0"/>
            <a:ext cx="8801100" cy="9428100"/>
          </a:xfrm>
          <a:prstGeom prst="rect">
            <a:avLst/>
          </a:prstGeom>
          <a:solidFill>
            <a:srgbClr val="EFF0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694" name="Google Shape;694;p84"/>
          <p:cNvSpPr txBox="1"/>
          <p:nvPr/>
        </p:nvSpPr>
        <p:spPr>
          <a:xfrm>
            <a:off x="842961" y="5037667"/>
            <a:ext cx="7985100" cy="2844900"/>
          </a:xfrm>
          <a:prstGeom prst="rect">
            <a:avLst/>
          </a:prstGeom>
          <a:noFill/>
          <a:ln>
            <a:noFill/>
          </a:ln>
        </p:spPr>
        <p:txBody>
          <a:bodyPr spcFirstLastPara="1" wrap="square" lIns="0" tIns="45700" rIns="0" bIns="45700" anchor="t" anchorCtr="0">
            <a:noAutofit/>
          </a:bodyPr>
          <a:lstStyle/>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Functions are part of Actions Configuration.</a:t>
            </a:r>
          </a:p>
          <a:p>
            <a:pPr marL="0" lvl="0" indent="0" algn="l" rtl="0">
              <a:lnSpc>
                <a:spcPct val="110000"/>
              </a:lnSpc>
              <a:spcBef>
                <a:spcPts val="1500"/>
              </a:spcBef>
              <a:spcAft>
                <a:spcPts val="0"/>
              </a:spcAft>
              <a:buClr>
                <a:schemeClr val="dk1"/>
              </a:buClr>
              <a:buSzPts val="1100"/>
              <a:buFont typeface="Arial"/>
              <a:buNone/>
            </a:pPr>
            <a:r>
              <a:rPr lang="en-US" sz="2200" dirty="0">
                <a:solidFill>
                  <a:schemeClr val="accent2"/>
                </a:solidFill>
              </a:rPr>
              <a:t>Functions enable input manipulation and formatting within action configurations</a:t>
            </a:r>
          </a:p>
          <a:p>
            <a:pPr marL="0" lvl="0" indent="0" algn="l" rtl="0">
              <a:lnSpc>
                <a:spcPct val="110000"/>
              </a:lnSpc>
              <a:spcBef>
                <a:spcPts val="1500"/>
              </a:spcBef>
              <a:spcAft>
                <a:spcPts val="0"/>
              </a:spcAft>
              <a:buClr>
                <a:schemeClr val="dk1"/>
              </a:buClr>
              <a:buSzPts val="1100"/>
              <a:buFont typeface="Arial"/>
              <a:buNone/>
            </a:pPr>
            <a:endParaRPr lang="en-US" sz="2200" dirty="0">
              <a:solidFill>
                <a:schemeClr val="accent2"/>
              </a:solidFill>
            </a:endParaRPr>
          </a:p>
          <a:p>
            <a:pPr marL="0" lvl="0" indent="0" algn="l" rtl="0">
              <a:lnSpc>
                <a:spcPct val="110000"/>
              </a:lnSpc>
              <a:spcBef>
                <a:spcPts val="1500"/>
              </a:spcBef>
              <a:spcAft>
                <a:spcPts val="0"/>
              </a:spcAft>
              <a:buClr>
                <a:schemeClr val="dk1"/>
              </a:buClr>
              <a:buSzPts val="1100"/>
              <a:buFont typeface="Arial"/>
              <a:buNone/>
            </a:pPr>
            <a:endParaRPr lang="en-US" sz="2200" dirty="0">
              <a:solidFill>
                <a:schemeClr val="accent2"/>
              </a:solidFill>
            </a:endParaRPr>
          </a:p>
          <a:p>
            <a:pPr lvl="0">
              <a:lnSpc>
                <a:spcPct val="110000"/>
              </a:lnSpc>
              <a:spcBef>
                <a:spcPts val="1500"/>
              </a:spcBef>
              <a:buClr>
                <a:schemeClr val="dk1"/>
              </a:buClr>
              <a:buSzPts val="1100"/>
            </a:pPr>
            <a:r>
              <a:rPr lang="en-US" sz="2200" dirty="0">
                <a:solidFill>
                  <a:schemeClr val="accent2"/>
                </a:solidFill>
                <a:hlinkClick r:id="rId4"/>
              </a:rPr>
              <a:t>https://community.sentinelone.com/s/article/000010854</a:t>
            </a:r>
            <a:endParaRPr lang="en-US" sz="2200" dirty="0">
              <a:solidFill>
                <a:schemeClr val="accent2"/>
              </a:solidFill>
            </a:endParaRPr>
          </a:p>
          <a:p>
            <a:pPr lvl="0">
              <a:lnSpc>
                <a:spcPct val="110000"/>
              </a:lnSpc>
              <a:spcBef>
                <a:spcPts val="1500"/>
              </a:spcBef>
              <a:buClr>
                <a:schemeClr val="dk1"/>
              </a:buClr>
              <a:buSzPts val="1100"/>
            </a:pPr>
            <a:r>
              <a:rPr lang="en-US" sz="2200" dirty="0">
                <a:solidFill>
                  <a:schemeClr val="accent2"/>
                </a:solidFill>
              </a:rPr>
              <a:t> </a:t>
            </a:r>
            <a:endParaRPr sz="2200" dirty="0">
              <a:solidFill>
                <a:srgbClr val="7F7F7F"/>
              </a:solidFill>
            </a:endParaRPr>
          </a:p>
        </p:txBody>
      </p:sp>
      <p:sp>
        <p:nvSpPr>
          <p:cNvPr id="695" name="Google Shape;695;p84"/>
          <p:cNvSpPr txBox="1">
            <a:spLocks noGrp="1"/>
          </p:cNvSpPr>
          <p:nvPr>
            <p:ph type="title"/>
          </p:nvPr>
        </p:nvSpPr>
        <p:spPr>
          <a:xfrm>
            <a:off x="792175" y="2404516"/>
            <a:ext cx="8008800" cy="19389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chemeClr val="lt1"/>
              </a:buClr>
              <a:buSzPts val="5800"/>
              <a:buFont typeface="Arial"/>
              <a:buNone/>
            </a:pPr>
            <a:r>
              <a:rPr lang="en-US" dirty="0"/>
              <a:t>Functions</a:t>
            </a:r>
            <a:endParaRPr dirty="0"/>
          </a:p>
          <a:p>
            <a:pPr marL="0" lvl="0" indent="0" algn="l" rtl="0">
              <a:lnSpc>
                <a:spcPct val="90000"/>
              </a:lnSpc>
              <a:spcBef>
                <a:spcPts val="0"/>
              </a:spcBef>
              <a:spcAft>
                <a:spcPts val="0"/>
              </a:spcAft>
              <a:buClr>
                <a:schemeClr val="lt1"/>
              </a:buClr>
              <a:buSzPts val="5800"/>
              <a:buFont typeface="Arial"/>
              <a:buNone/>
            </a:pPr>
            <a:endParaRPr dirty="0"/>
          </a:p>
        </p:txBody>
      </p:sp>
      <p:sp>
        <p:nvSpPr>
          <p:cNvPr id="696" name="Google Shape;696;p84"/>
          <p:cNvSpPr txBox="1">
            <a:spLocks noGrp="1"/>
          </p:cNvSpPr>
          <p:nvPr>
            <p:ph type="sldNum" idx="12"/>
          </p:nvPr>
        </p:nvSpPr>
        <p:spPr>
          <a:xfrm>
            <a:off x="16349136" y="9636755"/>
            <a:ext cx="1129200" cy="3258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C8DA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39</a:t>
            </a:fld>
            <a:endParaRPr/>
          </a:p>
        </p:txBody>
      </p:sp>
      <p:pic>
        <p:nvPicPr>
          <p:cNvPr id="697" name="Google Shape;697;p84"/>
          <p:cNvPicPr preferRelativeResize="0"/>
          <p:nvPr/>
        </p:nvPicPr>
        <p:blipFill>
          <a:blip r:embed="rId5">
            <a:alphaModFix/>
          </a:blip>
          <a:stretch>
            <a:fillRect/>
          </a:stretch>
        </p:blipFill>
        <p:spPr>
          <a:xfrm>
            <a:off x="10448025" y="5037675"/>
            <a:ext cx="6878849" cy="1847106"/>
          </a:xfrm>
          <a:prstGeom prst="rect">
            <a:avLst/>
          </a:prstGeom>
          <a:noFill/>
          <a:ln>
            <a:noFill/>
          </a:ln>
        </p:spPr>
      </p:pic>
      <p:pic>
        <p:nvPicPr>
          <p:cNvPr id="698" name="Google Shape;698;p84"/>
          <p:cNvPicPr preferRelativeResize="0"/>
          <p:nvPr/>
        </p:nvPicPr>
        <p:blipFill>
          <a:blip r:embed="rId6">
            <a:alphaModFix/>
          </a:blip>
          <a:stretch>
            <a:fillRect/>
          </a:stretch>
        </p:blipFill>
        <p:spPr>
          <a:xfrm>
            <a:off x="10448025" y="1316550"/>
            <a:ext cx="6878849" cy="2519736"/>
          </a:xfrm>
          <a:prstGeom prst="rect">
            <a:avLst/>
          </a:prstGeom>
          <a:solidFill>
            <a:srgbClr val="EFF0FA"/>
          </a:solidFill>
          <a:ln>
            <a:noFill/>
          </a:ln>
        </p:spPr>
      </p:pic>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4">
          <a:extLst>
            <a:ext uri="{FF2B5EF4-FFF2-40B4-BE49-F238E27FC236}">
              <a16:creationId xmlns:a16="http://schemas.microsoft.com/office/drawing/2014/main" id="{CB276B29-22C4-72C9-3E7C-5CB9443BF7D9}"/>
            </a:ext>
          </a:extLst>
        </p:cNvPr>
        <p:cNvGrpSpPr/>
        <p:nvPr/>
      </p:nvGrpSpPr>
      <p:grpSpPr>
        <a:xfrm>
          <a:off x="0" y="0"/>
          <a:ext cx="0" cy="0"/>
          <a:chOff x="0" y="0"/>
          <a:chExt cx="0" cy="0"/>
        </a:xfrm>
      </p:grpSpPr>
      <p:sp>
        <p:nvSpPr>
          <p:cNvPr id="385" name="Google Shape;385;p18">
            <a:extLst>
              <a:ext uri="{FF2B5EF4-FFF2-40B4-BE49-F238E27FC236}">
                <a16:creationId xmlns:a16="http://schemas.microsoft.com/office/drawing/2014/main" id="{74C81589-1A60-FC56-DB01-2FFE6F15FEB7}"/>
              </a:ext>
            </a:extLst>
          </p:cNvPr>
          <p:cNvSpPr txBox="1">
            <a:spLocks noGrp="1"/>
          </p:cNvSpPr>
          <p:nvPr>
            <p:ph type="title"/>
          </p:nvPr>
        </p:nvSpPr>
        <p:spPr>
          <a:xfrm>
            <a:off x="761935" y="5177499"/>
            <a:ext cx="8134930" cy="1846659"/>
          </a:xfrm>
          <a:noFill/>
          <a:ln>
            <a:noFill/>
          </a:ln>
        </p:spPr>
        <p:txBody>
          <a:bodyPr spcFirstLastPara="1" wrap="square" lIns="0" tIns="0" rIns="0" bIns="0" anchor="b" anchorCtr="0">
            <a:spAutoFit/>
          </a:bodyPr>
          <a:lstStyle/>
          <a:p>
            <a:pPr lvl="0"/>
            <a:r>
              <a:rPr lang="en-US" dirty="0"/>
              <a:t>Workflow Use Cases</a:t>
            </a:r>
          </a:p>
        </p:txBody>
      </p:sp>
      <p:pic>
        <p:nvPicPr>
          <p:cNvPr id="15" name="Pixelhead" descr="A blue and purple pixelated arrow&#10;&#10;AI-generated content may be incorrect.">
            <a:extLst>
              <a:ext uri="{FF2B5EF4-FFF2-40B4-BE49-F238E27FC236}">
                <a16:creationId xmlns:a16="http://schemas.microsoft.com/office/drawing/2014/main" id="{479AE902-25E0-F40B-A095-A4E8A83D61B3}"/>
              </a:ext>
            </a:extLst>
          </p:cNvPr>
          <p:cNvPicPr>
            <a:picLocks noChangeAspect="1"/>
          </p:cNvPicPr>
          <p:nvPr/>
        </p:nvPicPr>
        <p:blipFill>
          <a:blip r:embed="rId4"/>
          <a:stretch>
            <a:fillRect/>
          </a:stretch>
        </p:blipFill>
        <p:spPr>
          <a:xfrm>
            <a:off x="8676640" y="1719175"/>
            <a:ext cx="8966200" cy="6848650"/>
          </a:xfrm>
          <a:prstGeom prst="rect">
            <a:avLst/>
          </a:prstGeom>
        </p:spPr>
      </p:pic>
      <p:pic>
        <p:nvPicPr>
          <p:cNvPr id="21" name="Bitmap" descr="A blue and black rectangle with a white center&#10;&#10;AI-generated content may be incorrect.">
            <a:extLst>
              <a:ext uri="{FF2B5EF4-FFF2-40B4-BE49-F238E27FC236}">
                <a16:creationId xmlns:a16="http://schemas.microsoft.com/office/drawing/2014/main" id="{A3D78FE0-8800-5CAA-52C1-30195F9B68A8}"/>
              </a:ext>
            </a:extLst>
          </p:cNvPr>
          <p:cNvPicPr>
            <a:picLocks noChangeAspect="1"/>
          </p:cNvPicPr>
          <p:nvPr/>
        </p:nvPicPr>
        <p:blipFill>
          <a:blip r:embed="rId5"/>
          <a:stretch>
            <a:fillRect/>
          </a:stretch>
        </p:blipFill>
        <p:spPr>
          <a:xfrm>
            <a:off x="-1261034" y="8343991"/>
            <a:ext cx="20501134" cy="5595886"/>
          </a:xfrm>
          <a:prstGeom prst="rect">
            <a:avLst/>
          </a:prstGeom>
        </p:spPr>
      </p:pic>
      <p:pic>
        <p:nvPicPr>
          <p:cNvPr id="16" name="Star 2" descr="A blue light on a black background&#10;&#10;AI-generated content may be incorrect.">
            <a:extLst>
              <a:ext uri="{FF2B5EF4-FFF2-40B4-BE49-F238E27FC236}">
                <a16:creationId xmlns:a16="http://schemas.microsoft.com/office/drawing/2014/main" id="{421232EC-DBFB-5210-50DB-5F2AA7F320DD}"/>
              </a:ext>
            </a:extLst>
          </p:cNvPr>
          <p:cNvPicPr>
            <a:picLocks noChangeAspect="1"/>
          </p:cNvPicPr>
          <p:nvPr/>
        </p:nvPicPr>
        <p:blipFill>
          <a:blip r:embed="rId6"/>
          <a:stretch>
            <a:fillRect/>
          </a:stretch>
        </p:blipFill>
        <p:spPr>
          <a:xfrm>
            <a:off x="18678218" y="157700"/>
            <a:ext cx="561882" cy="542972"/>
          </a:xfrm>
          <a:prstGeom prst="rect">
            <a:avLst/>
          </a:prstGeom>
        </p:spPr>
      </p:pic>
      <p:pic>
        <p:nvPicPr>
          <p:cNvPr id="17" name="Star 3" descr="A blue light on a black background&#10;&#10;AI-generated content may be incorrect.">
            <a:extLst>
              <a:ext uri="{FF2B5EF4-FFF2-40B4-BE49-F238E27FC236}">
                <a16:creationId xmlns:a16="http://schemas.microsoft.com/office/drawing/2014/main" id="{46B8F765-8577-29CB-0843-E71FD00177AD}"/>
              </a:ext>
            </a:extLst>
          </p:cNvPr>
          <p:cNvPicPr>
            <a:picLocks noChangeAspect="1"/>
          </p:cNvPicPr>
          <p:nvPr/>
        </p:nvPicPr>
        <p:blipFill>
          <a:blip r:embed="rId6"/>
          <a:stretch>
            <a:fillRect/>
          </a:stretch>
        </p:blipFill>
        <p:spPr>
          <a:xfrm>
            <a:off x="18959159" y="9723820"/>
            <a:ext cx="623863" cy="602868"/>
          </a:xfrm>
          <a:prstGeom prst="rect">
            <a:avLst/>
          </a:prstGeom>
        </p:spPr>
      </p:pic>
      <p:pic>
        <p:nvPicPr>
          <p:cNvPr id="18" name="Star 1" descr="A blue light on a black background&#10;&#10;AI-generated content may be incorrect.">
            <a:extLst>
              <a:ext uri="{FF2B5EF4-FFF2-40B4-BE49-F238E27FC236}">
                <a16:creationId xmlns:a16="http://schemas.microsoft.com/office/drawing/2014/main" id="{08AB425F-F29F-7792-A759-09B513BFC5C9}"/>
              </a:ext>
            </a:extLst>
          </p:cNvPr>
          <p:cNvPicPr>
            <a:picLocks noChangeAspect="1"/>
          </p:cNvPicPr>
          <p:nvPr/>
        </p:nvPicPr>
        <p:blipFill>
          <a:blip r:embed="rId6"/>
          <a:stretch>
            <a:fillRect/>
          </a:stretch>
        </p:blipFill>
        <p:spPr>
          <a:xfrm>
            <a:off x="18100924" y="-750015"/>
            <a:ext cx="669840" cy="647298"/>
          </a:xfrm>
          <a:prstGeom prst="rect">
            <a:avLst/>
          </a:prstGeom>
        </p:spPr>
      </p:pic>
    </p:spTree>
    <p:custDataLst>
      <p:tags r:id="rId1"/>
    </p:custDataLst>
    <p:extLst>
      <p:ext uri="{BB962C8B-B14F-4D97-AF65-F5344CB8AC3E}">
        <p14:creationId xmlns:p14="http://schemas.microsoft.com/office/powerpoint/2010/main" val="2620241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decel="50000" fill="hold" nodeType="withEffect">
                                  <p:stCondLst>
                                    <p:cond delay="0"/>
                                  </p:stCondLst>
                                  <p:childTnLst>
                                    <p:animMotion origin="layout" path="M 0.01285 0.01142 L -0.175 0.06204 L -0.30929 0.1054 L -0.40694 0.14877 L -0.45929 0.1767 L -0.48889 0.1963 " pathEditMode="relative" ptsTypes="AAAAAA">
                                      <p:cBhvr>
                                        <p:cTn id="6" dur="2000" fill="hold"/>
                                        <p:tgtEl>
                                          <p:spTgt spid="18"/>
                                        </p:tgtEl>
                                        <p:attrNameLst>
                                          <p:attrName>ppt_x</p:attrName>
                                          <p:attrName>ppt_y</p:attrName>
                                        </p:attrNameLst>
                                      </p:cBhvr>
                                    </p:animMotion>
                                  </p:childTnLst>
                                </p:cTn>
                              </p:par>
                              <p:par>
                                <p:cTn id="7" presetID="0" presetClass="path" presetSubtype="0" decel="50000" fill="hold" nodeType="withEffect">
                                  <p:stCondLst>
                                    <p:cond delay="0"/>
                                  </p:stCondLst>
                                  <p:childTnLst>
                                    <p:animMotion origin="layout" path="M 0.02665 -0.02207 L -0.05425 0.02947 L -0.1257 0.08225 L -0.18212 0.13811 L -0.20651 0.16898 " pathEditMode="relative" ptsTypes="AAAAA">
                                      <p:cBhvr>
                                        <p:cTn id="8" dur="2000" fill="hold"/>
                                        <p:tgtEl>
                                          <p:spTgt spid="16"/>
                                        </p:tgtEl>
                                        <p:attrNameLst>
                                          <p:attrName>ppt_x</p:attrName>
                                          <p:attrName>ppt_y</p:attrName>
                                        </p:attrNameLst>
                                      </p:cBhvr>
                                    </p:animMotion>
                                  </p:childTnLst>
                                </p:cTn>
                              </p:par>
                              <p:par>
                                <p:cTn id="9" presetID="0" presetClass="path" presetSubtype="0" decel="50000" fill="hold" nodeType="withEffect">
                                  <p:stCondLst>
                                    <p:cond delay="0"/>
                                  </p:stCondLst>
                                  <p:childTnLst>
                                    <p:animMotion origin="layout" path="M 0.04566 0.01157 L -0.04974 -0.00201 L -0.10607 -0.01744 L -0.22699 -0.05679 L -0.36015 -0.11574 L -0.45495 -0.17361 L -0.51883 -0.22315 " pathEditMode="relative" ptsTypes="AAAAAAA">
                                      <p:cBhvr>
                                        <p:cTn id="10" dur="2000" fill="hold"/>
                                        <p:tgtEl>
                                          <p:spTgt spid="17"/>
                                        </p:tgtEl>
                                        <p:attrNameLst>
                                          <p:attrName>ppt_x</p:attrName>
                                          <p:attrName>ppt_y</p:attrName>
                                        </p:attrNameLst>
                                      </p:cBhvr>
                                    </p:animMotion>
                                  </p:childTnLst>
                                </p:cTn>
                              </p:par>
                              <p:par>
                                <p:cTn id="11" presetID="42" presetClass="entr" presetSubtype="0" fill="hold" nodeType="withEffect">
                                  <p:stCondLst>
                                    <p:cond delay="10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750"/>
                                        <p:tgtEl>
                                          <p:spTgt spid="21"/>
                                        </p:tgtEl>
                                      </p:cBhvr>
                                    </p:animEffect>
                                    <p:anim calcmode="lin" valueType="num">
                                      <p:cBhvr>
                                        <p:cTn id="14" dur="750" fill="hold"/>
                                        <p:tgtEl>
                                          <p:spTgt spid="21"/>
                                        </p:tgtEl>
                                        <p:attrNameLst>
                                          <p:attrName>ppt_x</p:attrName>
                                        </p:attrNameLst>
                                      </p:cBhvr>
                                      <p:tavLst>
                                        <p:tav tm="0">
                                          <p:val>
                                            <p:strVal val="#ppt_x"/>
                                          </p:val>
                                        </p:tav>
                                        <p:tav tm="100000">
                                          <p:val>
                                            <p:strVal val="#ppt_x"/>
                                          </p:val>
                                        </p:tav>
                                      </p:tavLst>
                                    </p:anim>
                                    <p:anim calcmode="lin" valueType="num">
                                      <p:cBhvr>
                                        <p:cTn id="15" dur="750" fill="hold"/>
                                        <p:tgtEl>
                                          <p:spTgt spid="21"/>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100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750"/>
                                        <p:tgtEl>
                                          <p:spTgt spid="15"/>
                                        </p:tgtEl>
                                      </p:cBhvr>
                                    </p:animEffect>
                                    <p:anim calcmode="lin" valueType="num">
                                      <p:cBhvr>
                                        <p:cTn id="19" dur="750" fill="hold"/>
                                        <p:tgtEl>
                                          <p:spTgt spid="15"/>
                                        </p:tgtEl>
                                        <p:attrNameLst>
                                          <p:attrName>ppt_x</p:attrName>
                                        </p:attrNameLst>
                                      </p:cBhvr>
                                      <p:tavLst>
                                        <p:tav tm="0">
                                          <p:val>
                                            <p:strVal val="#ppt_x"/>
                                          </p:val>
                                        </p:tav>
                                        <p:tav tm="100000">
                                          <p:val>
                                            <p:strVal val="#ppt_x"/>
                                          </p:val>
                                        </p:tav>
                                      </p:tavLst>
                                    </p:anim>
                                    <p:anim calcmode="lin" valueType="num">
                                      <p:cBhvr>
                                        <p:cTn id="20" dur="75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96E6E5F0-5AA6-B8FE-C8EF-FDFFDCD98A85}"/>
            </a:ext>
          </a:extLst>
        </p:cNvPr>
        <p:cNvGrpSpPr/>
        <p:nvPr/>
      </p:nvGrpSpPr>
      <p:grpSpPr>
        <a:xfrm>
          <a:off x="0" y="0"/>
          <a:ext cx="0" cy="0"/>
          <a:chOff x="0" y="0"/>
          <a:chExt cx="0" cy="0"/>
        </a:xfrm>
      </p:grpSpPr>
      <p:sp>
        <p:nvSpPr>
          <p:cNvPr id="235" name="Google Shape;235;p10">
            <a:extLst>
              <a:ext uri="{FF2B5EF4-FFF2-40B4-BE49-F238E27FC236}">
                <a16:creationId xmlns:a16="http://schemas.microsoft.com/office/drawing/2014/main" id="{9D2ACD30-790A-1C1D-7BA1-DE3AD0A01D47}"/>
              </a:ext>
            </a:extLst>
          </p:cNvPr>
          <p:cNvSpPr txBox="1">
            <a:spLocks noGrp="1"/>
          </p:cNvSpPr>
          <p:nvPr>
            <p:ph type="title"/>
          </p:nvPr>
        </p:nvSpPr>
        <p:spPr>
          <a:xfrm>
            <a:off x="10354614" y="1948905"/>
            <a:ext cx="6787166" cy="1698886"/>
          </a:xfrm>
          <a:noFill/>
          <a:ln>
            <a:noFill/>
          </a:ln>
        </p:spPr>
        <p:txBody>
          <a:bodyPr spcFirstLastPara="1" wrap="square" lIns="0" tIns="45700" rIns="0" bIns="45700" anchor="b" anchorCtr="0">
            <a:spAutoFit/>
          </a:bodyPr>
          <a:lstStyle/>
          <a:p>
            <a:pPr lvl="0"/>
            <a:r>
              <a:rPr lang="en-US"/>
              <a:t>Updating Custom Threat Intelligence</a:t>
            </a:r>
            <a:endParaRPr lang="en-US" dirty="0"/>
          </a:p>
        </p:txBody>
      </p:sp>
      <p:sp>
        <p:nvSpPr>
          <p:cNvPr id="236" name="Google Shape;236;p10">
            <a:extLst>
              <a:ext uri="{FF2B5EF4-FFF2-40B4-BE49-F238E27FC236}">
                <a16:creationId xmlns:a16="http://schemas.microsoft.com/office/drawing/2014/main" id="{E4E24DFE-E753-FE30-5D78-A669C374F6C6}"/>
              </a:ext>
            </a:extLst>
          </p:cNvPr>
          <p:cNvSpPr txBox="1">
            <a:spLocks noGrp="1"/>
          </p:cNvSpPr>
          <p:nvPr>
            <p:ph type="body" idx="1"/>
          </p:nvPr>
        </p:nvSpPr>
        <p:spPr>
          <a:xfrm>
            <a:off x="10354614" y="3969920"/>
            <a:ext cx="6787166" cy="1209522"/>
          </a:xfrm>
          <a:noFill/>
          <a:ln>
            <a:noFill/>
          </a:ln>
        </p:spPr>
        <p:txBody>
          <a:bodyPr spcFirstLastPara="1" wrap="square" lIns="0" tIns="45700" rIns="0" bIns="45700" anchor="t" anchorCtr="0">
            <a:spAutoFit/>
          </a:bodyPr>
          <a:lstStyle/>
          <a:p>
            <a:pPr lvl="0"/>
            <a:r>
              <a:rPr lang="en-US"/>
              <a:t>This </a:t>
            </a:r>
            <a:r>
              <a:rPr lang="en-US" b="1"/>
              <a:t>TOR Exit Nodes Inbound </a:t>
            </a:r>
            <a:r>
              <a:rPr lang="en-US"/>
              <a:t>workflow imports public threat intel into the SentinelOne platform on a regular cadence</a:t>
            </a:r>
            <a:endParaRPr lang="en-US" dirty="0"/>
          </a:p>
        </p:txBody>
      </p:sp>
      <p:sp>
        <p:nvSpPr>
          <p:cNvPr id="25" name="Picture Placeholder 24">
            <a:extLst>
              <a:ext uri="{FF2B5EF4-FFF2-40B4-BE49-F238E27FC236}">
                <a16:creationId xmlns:a16="http://schemas.microsoft.com/office/drawing/2014/main" id="{D6AA35FD-15DE-1A77-7347-E2FF969EFDCC}"/>
              </a:ext>
            </a:extLst>
          </p:cNvPr>
          <p:cNvSpPr>
            <a:spLocks noGrp="1"/>
          </p:cNvSpPr>
          <p:nvPr>
            <p:ph type="pic" idx="2"/>
          </p:nvPr>
        </p:nvSpPr>
        <p:spPr/>
        <p:txBody>
          <a:bodyPr/>
          <a:lstStyle/>
          <a:p>
            <a:endParaRPr lang="en-US"/>
          </a:p>
        </p:txBody>
      </p:sp>
      <p:pic>
        <p:nvPicPr>
          <p:cNvPr id="26" name="Picture 25" descr="A screenshot of a computer&#10;&#10;AI-generated content may be incorrect.">
            <a:extLst>
              <a:ext uri="{FF2B5EF4-FFF2-40B4-BE49-F238E27FC236}">
                <a16:creationId xmlns:a16="http://schemas.microsoft.com/office/drawing/2014/main" id="{EE915E0A-9564-2CB5-C503-DAB18487CAE5}"/>
              </a:ext>
            </a:extLst>
          </p:cNvPr>
          <p:cNvPicPr>
            <a:picLocks noChangeAspect="1"/>
          </p:cNvPicPr>
          <p:nvPr/>
        </p:nvPicPr>
        <p:blipFill>
          <a:blip r:embed="rId4"/>
          <a:stretch>
            <a:fillRect/>
          </a:stretch>
        </p:blipFill>
        <p:spPr>
          <a:xfrm>
            <a:off x="-95871" y="298104"/>
            <a:ext cx="8934909" cy="9011113"/>
          </a:xfrm>
          <a:prstGeom prst="rect">
            <a:avLst/>
          </a:prstGeom>
        </p:spPr>
      </p:pic>
    </p:spTree>
    <p:custDataLst>
      <p:tags r:id="rId1"/>
    </p:custDataLst>
    <p:extLst>
      <p:ext uri="{BB962C8B-B14F-4D97-AF65-F5344CB8AC3E}">
        <p14:creationId xmlns:p14="http://schemas.microsoft.com/office/powerpoint/2010/main" val="3474796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41">
          <a:extLst>
            <a:ext uri="{FF2B5EF4-FFF2-40B4-BE49-F238E27FC236}">
              <a16:creationId xmlns:a16="http://schemas.microsoft.com/office/drawing/2014/main" id="{4943E879-9AB3-109A-E63D-9C7DA798D5C0}"/>
            </a:ext>
          </a:extLst>
        </p:cNvPr>
        <p:cNvGrpSpPr/>
        <p:nvPr/>
      </p:nvGrpSpPr>
      <p:grpSpPr>
        <a:xfrm>
          <a:off x="0" y="0"/>
          <a:ext cx="0" cy="0"/>
          <a:chOff x="0" y="0"/>
          <a:chExt cx="0" cy="0"/>
        </a:xfrm>
      </p:grpSpPr>
      <p:sp>
        <p:nvSpPr>
          <p:cNvPr id="242" name="Google Shape;242;p77">
            <a:extLst>
              <a:ext uri="{FF2B5EF4-FFF2-40B4-BE49-F238E27FC236}">
                <a16:creationId xmlns:a16="http://schemas.microsoft.com/office/drawing/2014/main" id="{55423073-F5D1-4601-E91B-46A82C9C99E3}"/>
              </a:ext>
            </a:extLst>
          </p:cNvPr>
          <p:cNvSpPr txBox="1">
            <a:spLocks noGrp="1"/>
          </p:cNvSpPr>
          <p:nvPr>
            <p:ph type="title"/>
          </p:nvPr>
        </p:nvSpPr>
        <p:spPr>
          <a:xfrm>
            <a:off x="809625" y="2884120"/>
            <a:ext cx="6696075" cy="763671"/>
          </a:xfrm>
          <a:noFill/>
          <a:ln>
            <a:noFill/>
          </a:ln>
        </p:spPr>
        <p:txBody>
          <a:bodyPr spcFirstLastPara="1" wrap="square" lIns="0" tIns="45700" rIns="0" bIns="45700" anchor="b" anchorCtr="0">
            <a:spAutoFit/>
          </a:bodyPr>
          <a:lstStyle/>
          <a:p>
            <a:pPr lvl="0"/>
            <a:r>
              <a:rPr lang="en-US" dirty="0"/>
              <a:t>Threat Hunting</a:t>
            </a:r>
          </a:p>
        </p:txBody>
      </p:sp>
      <p:sp>
        <p:nvSpPr>
          <p:cNvPr id="243" name="Google Shape;243;p77">
            <a:extLst>
              <a:ext uri="{FF2B5EF4-FFF2-40B4-BE49-F238E27FC236}">
                <a16:creationId xmlns:a16="http://schemas.microsoft.com/office/drawing/2014/main" id="{9060A317-8F7A-DA23-0DB3-1ECC41CCC5BA}"/>
              </a:ext>
            </a:extLst>
          </p:cNvPr>
          <p:cNvSpPr txBox="1">
            <a:spLocks noGrp="1"/>
          </p:cNvSpPr>
          <p:nvPr>
            <p:ph type="body" idx="1"/>
          </p:nvPr>
        </p:nvSpPr>
        <p:spPr>
          <a:xfrm>
            <a:off x="809625" y="3969920"/>
            <a:ext cx="6696075" cy="1717353"/>
          </a:xfrm>
          <a:noFill/>
          <a:ln>
            <a:noFill/>
          </a:ln>
        </p:spPr>
        <p:txBody>
          <a:bodyPr spcFirstLastPara="1" wrap="square" lIns="0" tIns="45700" rIns="0" bIns="45700" anchor="t" anchorCtr="0">
            <a:spAutoFit/>
          </a:bodyPr>
          <a:lstStyle/>
          <a:p>
            <a:pPr lvl="0"/>
            <a:r>
              <a:rPr lang="en-US" sz="2400" dirty="0">
                <a:latin typeface="Lato"/>
                <a:ea typeface="Lato"/>
                <a:cs typeface="Lato"/>
                <a:sym typeface="Lato"/>
              </a:rPr>
              <a:t>This </a:t>
            </a:r>
            <a:r>
              <a:rPr lang="en-US" sz="2400" b="1" dirty="0">
                <a:latin typeface="Lato"/>
                <a:ea typeface="Lato"/>
                <a:cs typeface="Lato"/>
                <a:sym typeface="Lato"/>
              </a:rPr>
              <a:t>Automated Threat Hunting with </a:t>
            </a:r>
            <a:r>
              <a:rPr lang="en-US" sz="2400" b="1" dirty="0" err="1">
                <a:latin typeface="Lato"/>
                <a:ea typeface="Lato"/>
                <a:cs typeface="Lato"/>
                <a:sym typeface="Lato"/>
              </a:rPr>
              <a:t>Alienvault</a:t>
            </a:r>
            <a:r>
              <a:rPr lang="en-US" sz="2400" dirty="0">
                <a:latin typeface="Lato"/>
                <a:ea typeface="Lato"/>
                <a:cs typeface="Lato"/>
                <a:sym typeface="Lato"/>
              </a:rPr>
              <a:t> workflow searches the Singularity Data Lake for </a:t>
            </a:r>
            <a:r>
              <a:rPr lang="en-US" sz="2400" dirty="0" err="1">
                <a:latin typeface="Lato"/>
                <a:ea typeface="Lato"/>
                <a:cs typeface="Lato"/>
                <a:sym typeface="Lato"/>
              </a:rPr>
              <a:t>IoCs</a:t>
            </a:r>
            <a:r>
              <a:rPr lang="en-US" sz="2400" dirty="0">
                <a:latin typeface="Lato"/>
                <a:ea typeface="Lato"/>
                <a:cs typeface="Lato"/>
                <a:sym typeface="Lato"/>
              </a:rPr>
              <a:t> pulled dynamically from AlienVault  Pulse subscriptions</a:t>
            </a:r>
          </a:p>
        </p:txBody>
      </p:sp>
      <p:sp>
        <p:nvSpPr>
          <p:cNvPr id="4" name="Picture Placeholder 3">
            <a:extLst>
              <a:ext uri="{FF2B5EF4-FFF2-40B4-BE49-F238E27FC236}">
                <a16:creationId xmlns:a16="http://schemas.microsoft.com/office/drawing/2014/main" id="{6B9BC625-D9A7-C055-A5E6-A988CD1529BF}"/>
              </a:ext>
            </a:extLst>
          </p:cNvPr>
          <p:cNvSpPr>
            <a:spLocks noGrp="1"/>
          </p:cNvSpPr>
          <p:nvPr>
            <p:ph type="pic" idx="2"/>
          </p:nvPr>
        </p:nvSpPr>
        <p:spPr/>
        <p:txBody>
          <a:bodyPr/>
          <a:lstStyle/>
          <a:p>
            <a:endParaRPr lang="en-US"/>
          </a:p>
        </p:txBody>
      </p:sp>
      <p:pic>
        <p:nvPicPr>
          <p:cNvPr id="6" name="Picture 5">
            <a:extLst>
              <a:ext uri="{FF2B5EF4-FFF2-40B4-BE49-F238E27FC236}">
                <a16:creationId xmlns:a16="http://schemas.microsoft.com/office/drawing/2014/main" id="{AE19A73C-69D7-DE62-9ED6-583193A400F4}"/>
              </a:ext>
            </a:extLst>
          </p:cNvPr>
          <p:cNvPicPr>
            <a:picLocks noChangeAspect="1"/>
          </p:cNvPicPr>
          <p:nvPr/>
        </p:nvPicPr>
        <p:blipFill>
          <a:blip r:embed="rId4"/>
          <a:stretch>
            <a:fillRect/>
          </a:stretch>
        </p:blipFill>
        <p:spPr>
          <a:xfrm>
            <a:off x="9366407" y="269735"/>
            <a:ext cx="9100018" cy="8820603"/>
          </a:xfrm>
          <a:prstGeom prst="rect">
            <a:avLst/>
          </a:prstGeom>
        </p:spPr>
      </p:pic>
    </p:spTree>
    <p:custDataLst>
      <p:tags r:id="rId1"/>
    </p:custDataLst>
    <p:extLst>
      <p:ext uri="{BB962C8B-B14F-4D97-AF65-F5344CB8AC3E}">
        <p14:creationId xmlns:p14="http://schemas.microsoft.com/office/powerpoint/2010/main" val="213663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A25C1B0F-52F2-33C6-A906-7B569E7F2C44}"/>
            </a:ext>
          </a:extLst>
        </p:cNvPr>
        <p:cNvGrpSpPr/>
        <p:nvPr/>
      </p:nvGrpSpPr>
      <p:grpSpPr>
        <a:xfrm>
          <a:off x="0" y="0"/>
          <a:ext cx="0" cy="0"/>
          <a:chOff x="0" y="0"/>
          <a:chExt cx="0" cy="0"/>
        </a:xfrm>
      </p:grpSpPr>
      <p:sp>
        <p:nvSpPr>
          <p:cNvPr id="235" name="Google Shape;235;p10">
            <a:extLst>
              <a:ext uri="{FF2B5EF4-FFF2-40B4-BE49-F238E27FC236}">
                <a16:creationId xmlns:a16="http://schemas.microsoft.com/office/drawing/2014/main" id="{A3911396-0B90-FE4B-E19D-F015CCED9892}"/>
              </a:ext>
            </a:extLst>
          </p:cNvPr>
          <p:cNvSpPr txBox="1">
            <a:spLocks noGrp="1"/>
          </p:cNvSpPr>
          <p:nvPr>
            <p:ph type="title"/>
          </p:nvPr>
        </p:nvSpPr>
        <p:spPr>
          <a:xfrm>
            <a:off x="10354614" y="1145608"/>
            <a:ext cx="6787166" cy="2502183"/>
          </a:xfrm>
          <a:noFill/>
          <a:ln>
            <a:noFill/>
          </a:ln>
        </p:spPr>
        <p:txBody>
          <a:bodyPr spcFirstLastPara="1" wrap="square" lIns="0" tIns="45700" rIns="0" bIns="45700" anchor="b" anchorCtr="0">
            <a:spAutoFit/>
          </a:bodyPr>
          <a:lstStyle/>
          <a:p>
            <a:pPr lvl="0"/>
            <a:r>
              <a:rPr lang="en-US" dirty="0"/>
              <a:t>Create Ops Center Alerts for Phishing Attempts</a:t>
            </a:r>
          </a:p>
        </p:txBody>
      </p:sp>
      <p:sp>
        <p:nvSpPr>
          <p:cNvPr id="236" name="Google Shape;236;p10">
            <a:extLst>
              <a:ext uri="{FF2B5EF4-FFF2-40B4-BE49-F238E27FC236}">
                <a16:creationId xmlns:a16="http://schemas.microsoft.com/office/drawing/2014/main" id="{F7EF1758-CE58-A0DA-CBBB-74ED0BF0BF8B}"/>
              </a:ext>
            </a:extLst>
          </p:cNvPr>
          <p:cNvSpPr txBox="1">
            <a:spLocks noGrp="1"/>
          </p:cNvSpPr>
          <p:nvPr>
            <p:ph type="body" idx="1"/>
          </p:nvPr>
        </p:nvSpPr>
        <p:spPr>
          <a:xfrm>
            <a:off x="10354614" y="3969920"/>
            <a:ext cx="6787166" cy="1209522"/>
          </a:xfrm>
          <a:noFill/>
          <a:ln>
            <a:noFill/>
          </a:ln>
        </p:spPr>
        <p:txBody>
          <a:bodyPr spcFirstLastPara="1" wrap="square" lIns="0" tIns="45700" rIns="0" bIns="45700" anchor="t" anchorCtr="0">
            <a:spAutoFit/>
          </a:bodyPr>
          <a:lstStyle/>
          <a:p>
            <a:pPr lvl="0"/>
            <a:r>
              <a:rPr lang="en-US" dirty="0"/>
              <a:t>This </a:t>
            </a:r>
            <a:r>
              <a:rPr lang="en-US" b="1" dirty="0"/>
              <a:t>Phishing Alert </a:t>
            </a:r>
            <a:r>
              <a:rPr lang="en-US" dirty="0"/>
              <a:t>workflow monitors a phishing inbox and generates a </a:t>
            </a:r>
            <a:r>
              <a:rPr lang="en-US" dirty="0" err="1"/>
              <a:t>SentinelOne</a:t>
            </a:r>
            <a:r>
              <a:rPr lang="en-US" dirty="0"/>
              <a:t> alert populated with the relevant details</a:t>
            </a:r>
          </a:p>
        </p:txBody>
      </p:sp>
      <p:sp>
        <p:nvSpPr>
          <p:cNvPr id="25" name="Picture Placeholder 24">
            <a:extLst>
              <a:ext uri="{FF2B5EF4-FFF2-40B4-BE49-F238E27FC236}">
                <a16:creationId xmlns:a16="http://schemas.microsoft.com/office/drawing/2014/main" id="{C866975B-2B90-8E9B-0A9A-44562E50C408}"/>
              </a:ext>
            </a:extLst>
          </p:cNvPr>
          <p:cNvSpPr>
            <a:spLocks noGrp="1"/>
          </p:cNvSpPr>
          <p:nvPr>
            <p:ph type="pic" idx="2"/>
          </p:nvPr>
        </p:nvSpPr>
        <p:spPr/>
        <p:txBody>
          <a:bodyPr/>
          <a:lstStyle/>
          <a:p>
            <a:endParaRPr lang="en-US"/>
          </a:p>
        </p:txBody>
      </p:sp>
      <p:pic>
        <p:nvPicPr>
          <p:cNvPr id="4" name="Picture 3">
            <a:extLst>
              <a:ext uri="{FF2B5EF4-FFF2-40B4-BE49-F238E27FC236}">
                <a16:creationId xmlns:a16="http://schemas.microsoft.com/office/drawing/2014/main" id="{64B71745-804F-961F-32F6-DEE9E12DD2C6}"/>
              </a:ext>
            </a:extLst>
          </p:cNvPr>
          <p:cNvPicPr>
            <a:picLocks noChangeAspect="1"/>
          </p:cNvPicPr>
          <p:nvPr/>
        </p:nvPicPr>
        <p:blipFill>
          <a:blip r:embed="rId4"/>
          <a:stretch>
            <a:fillRect/>
          </a:stretch>
        </p:blipFill>
        <p:spPr>
          <a:xfrm>
            <a:off x="713096" y="206120"/>
            <a:ext cx="7417181" cy="9874757"/>
          </a:xfrm>
          <a:prstGeom prst="rect">
            <a:avLst/>
          </a:prstGeom>
        </p:spPr>
      </p:pic>
    </p:spTree>
    <p:custDataLst>
      <p:tags r:id="rId1"/>
    </p:custDataLst>
    <p:extLst>
      <p:ext uri="{BB962C8B-B14F-4D97-AF65-F5344CB8AC3E}">
        <p14:creationId xmlns:p14="http://schemas.microsoft.com/office/powerpoint/2010/main" val="431426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41">
          <a:extLst>
            <a:ext uri="{FF2B5EF4-FFF2-40B4-BE49-F238E27FC236}">
              <a16:creationId xmlns:a16="http://schemas.microsoft.com/office/drawing/2014/main" id="{A6CED141-62CF-AAE2-7BEE-6345DEE88813}"/>
            </a:ext>
          </a:extLst>
        </p:cNvPr>
        <p:cNvGrpSpPr/>
        <p:nvPr/>
      </p:nvGrpSpPr>
      <p:grpSpPr>
        <a:xfrm>
          <a:off x="0" y="0"/>
          <a:ext cx="0" cy="0"/>
          <a:chOff x="0" y="0"/>
          <a:chExt cx="0" cy="0"/>
        </a:xfrm>
      </p:grpSpPr>
      <p:sp>
        <p:nvSpPr>
          <p:cNvPr id="242" name="Google Shape;242;p77">
            <a:extLst>
              <a:ext uri="{FF2B5EF4-FFF2-40B4-BE49-F238E27FC236}">
                <a16:creationId xmlns:a16="http://schemas.microsoft.com/office/drawing/2014/main" id="{731AE17D-04C4-188D-7CF4-FE5BE73AF02E}"/>
              </a:ext>
            </a:extLst>
          </p:cNvPr>
          <p:cNvSpPr txBox="1">
            <a:spLocks noGrp="1"/>
          </p:cNvSpPr>
          <p:nvPr>
            <p:ph type="title"/>
          </p:nvPr>
        </p:nvSpPr>
        <p:spPr>
          <a:xfrm>
            <a:off x="809625" y="877842"/>
            <a:ext cx="6696075" cy="2769949"/>
          </a:xfrm>
          <a:noFill/>
          <a:ln>
            <a:noFill/>
          </a:ln>
        </p:spPr>
        <p:txBody>
          <a:bodyPr spcFirstLastPara="1" wrap="square" lIns="0" tIns="45700" rIns="0" bIns="45700" anchor="b" anchorCtr="0">
            <a:spAutoFit/>
          </a:bodyPr>
          <a:lstStyle/>
          <a:p>
            <a:pPr lvl="0"/>
            <a:r>
              <a:rPr lang="en-US" dirty="0"/>
              <a:t>Automatically Quarantine a Compromised Endpoint</a:t>
            </a:r>
          </a:p>
        </p:txBody>
      </p:sp>
      <p:sp>
        <p:nvSpPr>
          <p:cNvPr id="243" name="Google Shape;243;p77">
            <a:extLst>
              <a:ext uri="{FF2B5EF4-FFF2-40B4-BE49-F238E27FC236}">
                <a16:creationId xmlns:a16="http://schemas.microsoft.com/office/drawing/2014/main" id="{0C639515-5957-57D5-B94F-A67F64A6E12A}"/>
              </a:ext>
            </a:extLst>
          </p:cNvPr>
          <p:cNvSpPr txBox="1">
            <a:spLocks noGrp="1"/>
          </p:cNvSpPr>
          <p:nvPr>
            <p:ph type="body" idx="1"/>
          </p:nvPr>
        </p:nvSpPr>
        <p:spPr>
          <a:xfrm>
            <a:off x="809625" y="3969920"/>
            <a:ext cx="6696075" cy="1717353"/>
          </a:xfrm>
          <a:noFill/>
          <a:ln>
            <a:noFill/>
          </a:ln>
        </p:spPr>
        <p:txBody>
          <a:bodyPr spcFirstLastPara="1" wrap="square" lIns="0" tIns="45700" rIns="0" bIns="45700" anchor="t" anchorCtr="0">
            <a:spAutoFit/>
          </a:bodyPr>
          <a:lstStyle/>
          <a:p>
            <a:pPr lvl="0"/>
            <a:r>
              <a:rPr lang="en-US" sz="2400" dirty="0"/>
              <a:t>This </a:t>
            </a:r>
            <a:r>
              <a:rPr lang="en-US" sz="2400" b="1" dirty="0"/>
              <a:t>Quarantine Sandbox Endpoint</a:t>
            </a:r>
            <a:r>
              <a:rPr lang="en-US" sz="2400" dirty="0"/>
              <a:t> </a:t>
            </a:r>
            <a:r>
              <a:rPr lang="en-US" sz="2400" b="1" dirty="0"/>
              <a:t>Automatically </a:t>
            </a:r>
            <a:r>
              <a:rPr lang="en-US" sz="2400" dirty="0"/>
              <a:t>isolates an endpoint from the network if it shows signs of Windows Sandbox abuse</a:t>
            </a:r>
          </a:p>
        </p:txBody>
      </p:sp>
      <p:sp>
        <p:nvSpPr>
          <p:cNvPr id="4" name="Picture Placeholder 3">
            <a:extLst>
              <a:ext uri="{FF2B5EF4-FFF2-40B4-BE49-F238E27FC236}">
                <a16:creationId xmlns:a16="http://schemas.microsoft.com/office/drawing/2014/main" id="{F1BB9F8D-0C2F-7E69-7FFA-B36183D2DA4F}"/>
              </a:ext>
            </a:extLst>
          </p:cNvPr>
          <p:cNvSpPr>
            <a:spLocks noGrp="1"/>
          </p:cNvSpPr>
          <p:nvPr>
            <p:ph type="pic" idx="2"/>
          </p:nvPr>
        </p:nvSpPr>
        <p:spPr/>
        <p:txBody>
          <a:bodyPr/>
          <a:lstStyle/>
          <a:p>
            <a:endParaRPr lang="en-US"/>
          </a:p>
        </p:txBody>
      </p:sp>
      <p:pic>
        <p:nvPicPr>
          <p:cNvPr id="2" name="Picture 1">
            <a:extLst>
              <a:ext uri="{FF2B5EF4-FFF2-40B4-BE49-F238E27FC236}">
                <a16:creationId xmlns:a16="http://schemas.microsoft.com/office/drawing/2014/main" id="{AA6DFF95-A35B-7C7F-D21F-E791B4E8415B}"/>
              </a:ext>
            </a:extLst>
          </p:cNvPr>
          <p:cNvPicPr>
            <a:picLocks noChangeAspect="1"/>
          </p:cNvPicPr>
          <p:nvPr/>
        </p:nvPicPr>
        <p:blipFill>
          <a:blip r:embed="rId4"/>
          <a:stretch>
            <a:fillRect/>
          </a:stretch>
        </p:blipFill>
        <p:spPr>
          <a:xfrm>
            <a:off x="9275295" y="296104"/>
            <a:ext cx="9363434" cy="8487638"/>
          </a:xfrm>
          <a:prstGeom prst="rect">
            <a:avLst/>
          </a:prstGeom>
        </p:spPr>
      </p:pic>
    </p:spTree>
    <p:custDataLst>
      <p:tags r:id="rId1"/>
    </p:custDataLst>
    <p:extLst>
      <p:ext uri="{BB962C8B-B14F-4D97-AF65-F5344CB8AC3E}">
        <p14:creationId xmlns:p14="http://schemas.microsoft.com/office/powerpoint/2010/main" val="3300803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41">
          <a:extLst>
            <a:ext uri="{FF2B5EF4-FFF2-40B4-BE49-F238E27FC236}">
              <a16:creationId xmlns:a16="http://schemas.microsoft.com/office/drawing/2014/main" id="{B67D0650-347C-7E57-0A61-AEAAF1EA6986}"/>
            </a:ext>
          </a:extLst>
        </p:cNvPr>
        <p:cNvGrpSpPr/>
        <p:nvPr/>
      </p:nvGrpSpPr>
      <p:grpSpPr>
        <a:xfrm>
          <a:off x="0" y="0"/>
          <a:ext cx="0" cy="0"/>
          <a:chOff x="0" y="0"/>
          <a:chExt cx="0" cy="0"/>
        </a:xfrm>
      </p:grpSpPr>
      <p:sp>
        <p:nvSpPr>
          <p:cNvPr id="242" name="Google Shape;242;p77">
            <a:extLst>
              <a:ext uri="{FF2B5EF4-FFF2-40B4-BE49-F238E27FC236}">
                <a16:creationId xmlns:a16="http://schemas.microsoft.com/office/drawing/2014/main" id="{6E6CA78C-58DB-6846-C4C2-1953D3563E44}"/>
              </a:ext>
            </a:extLst>
          </p:cNvPr>
          <p:cNvSpPr txBox="1">
            <a:spLocks noGrp="1"/>
          </p:cNvSpPr>
          <p:nvPr>
            <p:ph type="title"/>
          </p:nvPr>
        </p:nvSpPr>
        <p:spPr>
          <a:xfrm>
            <a:off x="809625" y="688494"/>
            <a:ext cx="6696075" cy="1431121"/>
          </a:xfrm>
          <a:noFill/>
          <a:ln>
            <a:noFill/>
          </a:ln>
        </p:spPr>
        <p:txBody>
          <a:bodyPr spcFirstLastPara="1" wrap="square" lIns="0" tIns="45700" rIns="0" bIns="45700" anchor="b" anchorCtr="0">
            <a:spAutoFit/>
          </a:bodyPr>
          <a:lstStyle/>
          <a:p>
            <a:pPr lvl="0"/>
            <a:r>
              <a:rPr lang="en-US" dirty="0"/>
              <a:t>Windows Sandbox Abuse</a:t>
            </a:r>
          </a:p>
        </p:txBody>
      </p:sp>
      <p:sp>
        <p:nvSpPr>
          <p:cNvPr id="243" name="Google Shape;243;p77">
            <a:extLst>
              <a:ext uri="{FF2B5EF4-FFF2-40B4-BE49-F238E27FC236}">
                <a16:creationId xmlns:a16="http://schemas.microsoft.com/office/drawing/2014/main" id="{90551A69-1647-CCFE-D762-B3A7A95563C6}"/>
              </a:ext>
            </a:extLst>
          </p:cNvPr>
          <p:cNvSpPr txBox="1">
            <a:spLocks noGrp="1"/>
          </p:cNvSpPr>
          <p:nvPr>
            <p:ph type="body" idx="1"/>
          </p:nvPr>
        </p:nvSpPr>
        <p:spPr>
          <a:xfrm>
            <a:off x="421318" y="5671094"/>
            <a:ext cx="3825005" cy="1311088"/>
          </a:xfrm>
          <a:noFill/>
          <a:ln>
            <a:noFill/>
          </a:ln>
        </p:spPr>
        <p:txBody>
          <a:bodyPr spcFirstLastPara="1" wrap="square" lIns="0" tIns="45700" rIns="0" bIns="45700" anchor="t" anchorCtr="0">
            <a:spAutoFit/>
          </a:bodyPr>
          <a:lstStyle/>
          <a:p>
            <a:pPr lvl="0"/>
            <a:r>
              <a:rPr lang="en-US" sz="2400" dirty="0"/>
              <a:t>https://blog-en.itochuci.co.jp/entry/2025/03/12/140000</a:t>
            </a:r>
          </a:p>
        </p:txBody>
      </p:sp>
      <p:pic>
        <p:nvPicPr>
          <p:cNvPr id="8" name="Picture 7">
            <a:extLst>
              <a:ext uri="{FF2B5EF4-FFF2-40B4-BE49-F238E27FC236}">
                <a16:creationId xmlns:a16="http://schemas.microsoft.com/office/drawing/2014/main" id="{6340D205-1CAD-6AC0-5DBE-F38530C23667}"/>
              </a:ext>
            </a:extLst>
          </p:cNvPr>
          <p:cNvPicPr>
            <a:picLocks noChangeAspect="1"/>
          </p:cNvPicPr>
          <p:nvPr/>
        </p:nvPicPr>
        <p:blipFill>
          <a:blip r:embed="rId4"/>
          <a:stretch>
            <a:fillRect/>
          </a:stretch>
        </p:blipFill>
        <p:spPr>
          <a:xfrm>
            <a:off x="4493772" y="4874743"/>
            <a:ext cx="12304755" cy="4826727"/>
          </a:xfrm>
          <a:prstGeom prst="rect">
            <a:avLst/>
          </a:prstGeom>
        </p:spPr>
      </p:pic>
      <p:pic>
        <p:nvPicPr>
          <p:cNvPr id="9" name="Picture 8">
            <a:extLst>
              <a:ext uri="{FF2B5EF4-FFF2-40B4-BE49-F238E27FC236}">
                <a16:creationId xmlns:a16="http://schemas.microsoft.com/office/drawing/2014/main" id="{8C237F43-CB14-8666-3950-C9703669013A}"/>
              </a:ext>
            </a:extLst>
          </p:cNvPr>
          <p:cNvPicPr>
            <a:picLocks noChangeAspect="1"/>
          </p:cNvPicPr>
          <p:nvPr/>
        </p:nvPicPr>
        <p:blipFill>
          <a:blip r:embed="rId5"/>
          <a:stretch>
            <a:fillRect/>
          </a:stretch>
        </p:blipFill>
        <p:spPr>
          <a:xfrm>
            <a:off x="3440461" y="1507779"/>
            <a:ext cx="13358066" cy="3366964"/>
          </a:xfrm>
          <a:prstGeom prst="rect">
            <a:avLst/>
          </a:prstGeom>
        </p:spPr>
      </p:pic>
    </p:spTree>
    <p:custDataLst>
      <p:tags r:id="rId1"/>
    </p:custDataLst>
    <p:extLst>
      <p:ext uri="{BB962C8B-B14F-4D97-AF65-F5344CB8AC3E}">
        <p14:creationId xmlns:p14="http://schemas.microsoft.com/office/powerpoint/2010/main" val="18552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C2E942FD-FED4-C1EB-C3AB-3D0D4CAD7523}"/>
            </a:ext>
          </a:extLst>
        </p:cNvPr>
        <p:cNvGrpSpPr/>
        <p:nvPr/>
      </p:nvGrpSpPr>
      <p:grpSpPr>
        <a:xfrm>
          <a:off x="0" y="0"/>
          <a:ext cx="0" cy="0"/>
          <a:chOff x="0" y="0"/>
          <a:chExt cx="0" cy="0"/>
        </a:xfrm>
      </p:grpSpPr>
      <p:sp>
        <p:nvSpPr>
          <p:cNvPr id="235" name="Google Shape;235;p10">
            <a:extLst>
              <a:ext uri="{FF2B5EF4-FFF2-40B4-BE49-F238E27FC236}">
                <a16:creationId xmlns:a16="http://schemas.microsoft.com/office/drawing/2014/main" id="{90973019-384B-F9CC-F8CB-C825D37BB7ED}"/>
              </a:ext>
            </a:extLst>
          </p:cNvPr>
          <p:cNvSpPr txBox="1">
            <a:spLocks noGrp="1"/>
          </p:cNvSpPr>
          <p:nvPr>
            <p:ph type="title"/>
          </p:nvPr>
        </p:nvSpPr>
        <p:spPr>
          <a:xfrm>
            <a:off x="10354614" y="342311"/>
            <a:ext cx="6787166" cy="3305480"/>
          </a:xfrm>
          <a:noFill/>
          <a:ln>
            <a:noFill/>
          </a:ln>
        </p:spPr>
        <p:txBody>
          <a:bodyPr spcFirstLastPara="1" wrap="square" lIns="0" tIns="45700" rIns="0" bIns="45700" anchor="b" anchorCtr="0">
            <a:spAutoFit/>
          </a:bodyPr>
          <a:lstStyle/>
          <a:p>
            <a:pPr lvl="0"/>
            <a:r>
              <a:rPr lang="en-US" dirty="0"/>
              <a:t>Prompt Analyst to Quarantine a Compromised Endpoint</a:t>
            </a:r>
          </a:p>
        </p:txBody>
      </p:sp>
      <p:sp>
        <p:nvSpPr>
          <p:cNvPr id="236" name="Google Shape;236;p10">
            <a:extLst>
              <a:ext uri="{FF2B5EF4-FFF2-40B4-BE49-F238E27FC236}">
                <a16:creationId xmlns:a16="http://schemas.microsoft.com/office/drawing/2014/main" id="{15F15253-EA4D-3244-3170-576D3E302050}"/>
              </a:ext>
            </a:extLst>
          </p:cNvPr>
          <p:cNvSpPr txBox="1">
            <a:spLocks noGrp="1"/>
          </p:cNvSpPr>
          <p:nvPr>
            <p:ph type="body" idx="1"/>
          </p:nvPr>
        </p:nvSpPr>
        <p:spPr>
          <a:xfrm>
            <a:off x="10354614" y="3969920"/>
            <a:ext cx="6787166" cy="1581931"/>
          </a:xfrm>
          <a:noFill/>
          <a:ln>
            <a:noFill/>
          </a:ln>
        </p:spPr>
        <p:txBody>
          <a:bodyPr spcFirstLastPara="1" wrap="square" lIns="0" tIns="45700" rIns="0" bIns="45700" anchor="t" anchorCtr="0">
            <a:spAutoFit/>
          </a:bodyPr>
          <a:lstStyle/>
          <a:p>
            <a:pPr lvl="0"/>
            <a:r>
              <a:rPr lang="en-US" dirty="0"/>
              <a:t>This </a:t>
            </a:r>
            <a:r>
              <a:rPr lang="en-US" b="1" dirty="0"/>
              <a:t>Quarantine Sandbox Endpoint </a:t>
            </a:r>
            <a:r>
              <a:rPr lang="en-US" dirty="0"/>
              <a:t>workflow builds on the previous use case by prompting the analyst in Slack to approve or disapprove the quarantine operation</a:t>
            </a:r>
          </a:p>
        </p:txBody>
      </p:sp>
      <p:sp>
        <p:nvSpPr>
          <p:cNvPr id="25" name="Picture Placeholder 24">
            <a:extLst>
              <a:ext uri="{FF2B5EF4-FFF2-40B4-BE49-F238E27FC236}">
                <a16:creationId xmlns:a16="http://schemas.microsoft.com/office/drawing/2014/main" id="{582437D6-E520-8343-E39E-AD827BB42D8B}"/>
              </a:ext>
            </a:extLst>
          </p:cNvPr>
          <p:cNvSpPr>
            <a:spLocks noGrp="1"/>
          </p:cNvSpPr>
          <p:nvPr>
            <p:ph type="pic" idx="2"/>
          </p:nvPr>
        </p:nvSpPr>
        <p:spPr/>
        <p:txBody>
          <a:bodyPr/>
          <a:lstStyle/>
          <a:p>
            <a:endParaRPr lang="en-US"/>
          </a:p>
        </p:txBody>
      </p:sp>
      <p:pic>
        <p:nvPicPr>
          <p:cNvPr id="5" name="Picture 4">
            <a:extLst>
              <a:ext uri="{FF2B5EF4-FFF2-40B4-BE49-F238E27FC236}">
                <a16:creationId xmlns:a16="http://schemas.microsoft.com/office/drawing/2014/main" id="{0E2D2E6D-B145-DF33-9091-EB986EE2768F}"/>
              </a:ext>
            </a:extLst>
          </p:cNvPr>
          <p:cNvPicPr>
            <a:picLocks noChangeAspect="1"/>
          </p:cNvPicPr>
          <p:nvPr/>
        </p:nvPicPr>
        <p:blipFill>
          <a:blip r:embed="rId4"/>
          <a:stretch>
            <a:fillRect/>
          </a:stretch>
        </p:blipFill>
        <p:spPr>
          <a:xfrm>
            <a:off x="-95347" y="383929"/>
            <a:ext cx="8858705" cy="9519139"/>
          </a:xfrm>
          <a:prstGeom prst="rect">
            <a:avLst/>
          </a:prstGeom>
        </p:spPr>
      </p:pic>
    </p:spTree>
    <p:custDataLst>
      <p:tags r:id="rId1"/>
    </p:custDataLst>
    <p:extLst>
      <p:ext uri="{BB962C8B-B14F-4D97-AF65-F5344CB8AC3E}">
        <p14:creationId xmlns:p14="http://schemas.microsoft.com/office/powerpoint/2010/main" val="3744561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AEDD7-30D3-FE2E-A207-2E48C2A8C4D4}"/>
            </a:ext>
          </a:extLst>
        </p:cNvPr>
        <p:cNvGrpSpPr/>
        <p:nvPr/>
      </p:nvGrpSpPr>
      <p:grpSpPr>
        <a:xfrm>
          <a:off x="0" y="0"/>
          <a:ext cx="0" cy="0"/>
          <a:chOff x="0" y="0"/>
          <a:chExt cx="0" cy="0"/>
        </a:xfrm>
      </p:grpSpPr>
      <p:sp>
        <p:nvSpPr>
          <p:cNvPr id="2" name="Thank You">
            <a:extLst>
              <a:ext uri="{FF2B5EF4-FFF2-40B4-BE49-F238E27FC236}">
                <a16:creationId xmlns:a16="http://schemas.microsoft.com/office/drawing/2014/main" id="{18CC1CC4-DAE1-71F0-483A-A96582C0B9F7}"/>
              </a:ext>
            </a:extLst>
          </p:cNvPr>
          <p:cNvSpPr txBox="1">
            <a:spLocks/>
          </p:cNvSpPr>
          <p:nvPr/>
        </p:nvSpPr>
        <p:spPr>
          <a:xfrm>
            <a:off x="3317520" y="4183257"/>
            <a:ext cx="11652957" cy="1920485"/>
          </a:xfrm>
          <a:prstGeom prst="rect">
            <a:avLst/>
          </a:prstGeom>
          <a:noFill/>
          <a:ln>
            <a:noFill/>
          </a:ln>
        </p:spPr>
        <p:txBody>
          <a:bodyPr spcFirstLastPara="1" wrap="square" lIns="0" tIns="45700" rIns="0" bIns="45700" anchor="b"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1" i="0" u="none" strike="noStrike" cap="none">
                <a:solidFill>
                  <a:srgbClr val="000000"/>
                </a:solidFill>
                <a:latin typeface="Arial" panose="020B0503030300000000" pitchFamily="34" charset="0"/>
                <a:ea typeface="Arial" panose="020B0503030300000000"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90000"/>
              </a:lnSpc>
              <a:buClr>
                <a:schemeClr val="dk1"/>
              </a:buClr>
              <a:buSzPts val="5800"/>
            </a:pPr>
            <a:r>
              <a:rPr lang="en-US" sz="13200" b="0" spc="-300" dirty="0">
                <a:solidFill>
                  <a:srgbClr val="EBEEFF"/>
                </a:solidFill>
                <a:latin typeface="Arial" panose="020B0604020202020204" pitchFamily="34" charset="0"/>
              </a:rPr>
              <a:t>Thank You</a:t>
            </a:r>
          </a:p>
        </p:txBody>
      </p:sp>
      <p:sp>
        <p:nvSpPr>
          <p:cNvPr id="5" name="C1">
            <a:extLst>
              <a:ext uri="{FF2B5EF4-FFF2-40B4-BE49-F238E27FC236}">
                <a16:creationId xmlns:a16="http://schemas.microsoft.com/office/drawing/2014/main" id="{E200C38D-014A-9305-33B8-2C03A9AF3AAF}"/>
              </a:ext>
            </a:extLst>
          </p:cNvPr>
          <p:cNvSpPr/>
          <p:nvPr/>
        </p:nvSpPr>
        <p:spPr>
          <a:xfrm>
            <a:off x="4496620" y="2404622"/>
            <a:ext cx="9294760" cy="5477755"/>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2">
            <a:extLst>
              <a:ext uri="{FF2B5EF4-FFF2-40B4-BE49-F238E27FC236}">
                <a16:creationId xmlns:a16="http://schemas.microsoft.com/office/drawing/2014/main" id="{3977A235-D71A-3FC0-88D3-2D12251DA5F4}"/>
              </a:ext>
            </a:extLst>
          </p:cNvPr>
          <p:cNvSpPr/>
          <p:nvPr/>
        </p:nvSpPr>
        <p:spPr>
          <a:xfrm>
            <a:off x="3686392" y="2404622"/>
            <a:ext cx="10915216" cy="5477755"/>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3">
            <a:extLst>
              <a:ext uri="{FF2B5EF4-FFF2-40B4-BE49-F238E27FC236}">
                <a16:creationId xmlns:a16="http://schemas.microsoft.com/office/drawing/2014/main" id="{7495EF50-52A3-DD2E-A28B-FB30B997BF0B}"/>
              </a:ext>
            </a:extLst>
          </p:cNvPr>
          <p:cNvSpPr/>
          <p:nvPr/>
        </p:nvSpPr>
        <p:spPr>
          <a:xfrm>
            <a:off x="2841729" y="2404622"/>
            <a:ext cx="12604542" cy="5477755"/>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4">
            <a:extLst>
              <a:ext uri="{FF2B5EF4-FFF2-40B4-BE49-F238E27FC236}">
                <a16:creationId xmlns:a16="http://schemas.microsoft.com/office/drawing/2014/main" id="{DF5C5FB2-5C3B-A61B-19B0-0180720959FC}"/>
              </a:ext>
            </a:extLst>
          </p:cNvPr>
          <p:cNvSpPr/>
          <p:nvPr/>
        </p:nvSpPr>
        <p:spPr>
          <a:xfrm>
            <a:off x="2025859" y="2404622"/>
            <a:ext cx="14236282" cy="5477755"/>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5">
            <a:extLst>
              <a:ext uri="{FF2B5EF4-FFF2-40B4-BE49-F238E27FC236}">
                <a16:creationId xmlns:a16="http://schemas.microsoft.com/office/drawing/2014/main" id="{49C5BCA6-0221-7079-3906-C5C35EE3B136}"/>
              </a:ext>
            </a:extLst>
          </p:cNvPr>
          <p:cNvSpPr/>
          <p:nvPr/>
        </p:nvSpPr>
        <p:spPr>
          <a:xfrm>
            <a:off x="1169332" y="2404622"/>
            <a:ext cx="15949336" cy="5477755"/>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1">
            <a:extLst>
              <a:ext uri="{FF2B5EF4-FFF2-40B4-BE49-F238E27FC236}">
                <a16:creationId xmlns:a16="http://schemas.microsoft.com/office/drawing/2014/main" id="{37C8C51B-C289-BF11-2084-2020BCFB35B2}"/>
              </a:ext>
            </a:extLst>
          </p:cNvPr>
          <p:cNvSpPr/>
          <p:nvPr/>
        </p:nvSpPr>
        <p:spPr>
          <a:xfrm>
            <a:off x="6204029" y="583162"/>
            <a:ext cx="5879940"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2">
            <a:extLst>
              <a:ext uri="{FF2B5EF4-FFF2-40B4-BE49-F238E27FC236}">
                <a16:creationId xmlns:a16="http://schemas.microsoft.com/office/drawing/2014/main" id="{ED8CA0F6-F861-6FA5-BB88-19CD99649BC6}"/>
              </a:ext>
            </a:extLst>
          </p:cNvPr>
          <p:cNvSpPr/>
          <p:nvPr/>
        </p:nvSpPr>
        <p:spPr>
          <a:xfrm>
            <a:off x="5359077" y="583162"/>
            <a:ext cx="7569844"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3">
            <a:extLst>
              <a:ext uri="{FF2B5EF4-FFF2-40B4-BE49-F238E27FC236}">
                <a16:creationId xmlns:a16="http://schemas.microsoft.com/office/drawing/2014/main" id="{E6F44249-D299-FC2D-B7E4-442E1496AD3B}"/>
              </a:ext>
            </a:extLst>
          </p:cNvPr>
          <p:cNvSpPr/>
          <p:nvPr/>
        </p:nvSpPr>
        <p:spPr>
          <a:xfrm>
            <a:off x="4496619" y="583162"/>
            <a:ext cx="9294760"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4">
            <a:extLst>
              <a:ext uri="{FF2B5EF4-FFF2-40B4-BE49-F238E27FC236}">
                <a16:creationId xmlns:a16="http://schemas.microsoft.com/office/drawing/2014/main" id="{6037AB15-E1E7-BFA1-F643-E7B661D1393A}"/>
              </a:ext>
            </a:extLst>
          </p:cNvPr>
          <p:cNvSpPr/>
          <p:nvPr/>
        </p:nvSpPr>
        <p:spPr>
          <a:xfrm>
            <a:off x="3686391" y="583162"/>
            <a:ext cx="10915216"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5">
            <a:extLst>
              <a:ext uri="{FF2B5EF4-FFF2-40B4-BE49-F238E27FC236}">
                <a16:creationId xmlns:a16="http://schemas.microsoft.com/office/drawing/2014/main" id="{96C3BDC1-3045-B75D-E0F3-6BA1537D39D1}"/>
              </a:ext>
            </a:extLst>
          </p:cNvPr>
          <p:cNvSpPr/>
          <p:nvPr/>
        </p:nvSpPr>
        <p:spPr>
          <a:xfrm>
            <a:off x="2841728" y="583162"/>
            <a:ext cx="12604542"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6">
            <a:extLst>
              <a:ext uri="{FF2B5EF4-FFF2-40B4-BE49-F238E27FC236}">
                <a16:creationId xmlns:a16="http://schemas.microsoft.com/office/drawing/2014/main" id="{FB255E46-BC3A-1B6F-6D26-4422A2281F66}"/>
              </a:ext>
            </a:extLst>
          </p:cNvPr>
          <p:cNvSpPr/>
          <p:nvPr/>
        </p:nvSpPr>
        <p:spPr>
          <a:xfrm>
            <a:off x="2025858" y="583162"/>
            <a:ext cx="14236282"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7">
            <a:extLst>
              <a:ext uri="{FF2B5EF4-FFF2-40B4-BE49-F238E27FC236}">
                <a16:creationId xmlns:a16="http://schemas.microsoft.com/office/drawing/2014/main" id="{2F632F8C-AB64-E07E-40EF-C383B65FB581}"/>
              </a:ext>
            </a:extLst>
          </p:cNvPr>
          <p:cNvSpPr/>
          <p:nvPr/>
        </p:nvSpPr>
        <p:spPr>
          <a:xfrm>
            <a:off x="1169331" y="583162"/>
            <a:ext cx="15949336"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B1">
            <a:extLst>
              <a:ext uri="{FF2B5EF4-FFF2-40B4-BE49-F238E27FC236}">
                <a16:creationId xmlns:a16="http://schemas.microsoft.com/office/drawing/2014/main" id="{AB820600-69BD-80D5-284C-C025ABFDEBCE}"/>
              </a:ext>
            </a:extLst>
          </p:cNvPr>
          <p:cNvSpPr/>
          <p:nvPr/>
        </p:nvSpPr>
        <p:spPr>
          <a:xfrm>
            <a:off x="6204030" y="7882377"/>
            <a:ext cx="5879940"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B2">
            <a:extLst>
              <a:ext uri="{FF2B5EF4-FFF2-40B4-BE49-F238E27FC236}">
                <a16:creationId xmlns:a16="http://schemas.microsoft.com/office/drawing/2014/main" id="{D273E072-3259-80D3-9CD3-09AFC698B357}"/>
              </a:ext>
            </a:extLst>
          </p:cNvPr>
          <p:cNvSpPr/>
          <p:nvPr/>
        </p:nvSpPr>
        <p:spPr>
          <a:xfrm>
            <a:off x="5359078" y="7882377"/>
            <a:ext cx="7569844"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B3">
            <a:extLst>
              <a:ext uri="{FF2B5EF4-FFF2-40B4-BE49-F238E27FC236}">
                <a16:creationId xmlns:a16="http://schemas.microsoft.com/office/drawing/2014/main" id="{19484586-0DD5-7E2F-457E-218A593B3EA2}"/>
              </a:ext>
            </a:extLst>
          </p:cNvPr>
          <p:cNvSpPr/>
          <p:nvPr/>
        </p:nvSpPr>
        <p:spPr>
          <a:xfrm>
            <a:off x="4496620" y="7882377"/>
            <a:ext cx="9294760"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B4">
            <a:extLst>
              <a:ext uri="{FF2B5EF4-FFF2-40B4-BE49-F238E27FC236}">
                <a16:creationId xmlns:a16="http://schemas.microsoft.com/office/drawing/2014/main" id="{6688F8E4-8645-D9A8-2032-39B5E8F4CA07}"/>
              </a:ext>
            </a:extLst>
          </p:cNvPr>
          <p:cNvSpPr/>
          <p:nvPr/>
        </p:nvSpPr>
        <p:spPr>
          <a:xfrm>
            <a:off x="3686392" y="7882377"/>
            <a:ext cx="10915216"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B5">
            <a:extLst>
              <a:ext uri="{FF2B5EF4-FFF2-40B4-BE49-F238E27FC236}">
                <a16:creationId xmlns:a16="http://schemas.microsoft.com/office/drawing/2014/main" id="{C8E2B544-184D-AF3A-205E-3247B921FF6D}"/>
              </a:ext>
            </a:extLst>
          </p:cNvPr>
          <p:cNvSpPr/>
          <p:nvPr/>
        </p:nvSpPr>
        <p:spPr>
          <a:xfrm>
            <a:off x="2841729" y="7882377"/>
            <a:ext cx="12604542"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B6">
            <a:extLst>
              <a:ext uri="{FF2B5EF4-FFF2-40B4-BE49-F238E27FC236}">
                <a16:creationId xmlns:a16="http://schemas.microsoft.com/office/drawing/2014/main" id="{4E663B90-01CD-608A-86D4-30DB03CE1B12}"/>
              </a:ext>
            </a:extLst>
          </p:cNvPr>
          <p:cNvSpPr/>
          <p:nvPr/>
        </p:nvSpPr>
        <p:spPr>
          <a:xfrm>
            <a:off x="2025859" y="7882377"/>
            <a:ext cx="14236282"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B7">
            <a:extLst>
              <a:ext uri="{FF2B5EF4-FFF2-40B4-BE49-F238E27FC236}">
                <a16:creationId xmlns:a16="http://schemas.microsoft.com/office/drawing/2014/main" id="{5C059612-F3C0-DB1A-12EC-FE6B96A9264F}"/>
              </a:ext>
            </a:extLst>
          </p:cNvPr>
          <p:cNvSpPr/>
          <p:nvPr/>
        </p:nvSpPr>
        <p:spPr>
          <a:xfrm>
            <a:off x="1169332" y="7882377"/>
            <a:ext cx="15949336" cy="1821460"/>
          </a:xfrm>
          <a:prstGeom prst="ellipse">
            <a:avLst/>
          </a:prstGeom>
          <a:noFill/>
          <a:ln w="12700">
            <a:solidFill>
              <a:srgbClr val="673D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OneCon">
            <a:extLst>
              <a:ext uri="{FF2B5EF4-FFF2-40B4-BE49-F238E27FC236}">
                <a16:creationId xmlns:a16="http://schemas.microsoft.com/office/drawing/2014/main" id="{F894AC3A-A3C3-DEBA-67AB-D7B1012CA2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19104" y="8480683"/>
            <a:ext cx="2849791" cy="572020"/>
          </a:xfrm>
          <a:prstGeom prst="rect">
            <a:avLst/>
          </a:prstGeom>
        </p:spPr>
      </p:pic>
      <p:pic>
        <p:nvPicPr>
          <p:cNvPr id="30" name="SentinelOne">
            <a:extLst>
              <a:ext uri="{FF2B5EF4-FFF2-40B4-BE49-F238E27FC236}">
                <a16:creationId xmlns:a16="http://schemas.microsoft.com/office/drawing/2014/main" id="{55B59425-EAC0-A331-D6DE-0D24D88F24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33867" y="1181469"/>
            <a:ext cx="3020262" cy="572019"/>
          </a:xfrm>
          <a:prstGeom prst="rect">
            <a:avLst/>
          </a:prstGeom>
        </p:spPr>
      </p:pic>
    </p:spTree>
    <p:custDataLst>
      <p:tags r:id="rId1"/>
    </p:custDataLst>
    <p:extLst>
      <p:ext uri="{BB962C8B-B14F-4D97-AF65-F5344CB8AC3E}">
        <p14:creationId xmlns:p14="http://schemas.microsoft.com/office/powerpoint/2010/main" val="254165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1300" fill="hold"/>
                                        <p:tgtEl>
                                          <p:spTgt spid="18"/>
                                        </p:tgtEl>
                                        <p:attrNameLst>
                                          <p:attrName>ppt_w</p:attrName>
                                        </p:attrNameLst>
                                      </p:cBhvr>
                                      <p:tavLst>
                                        <p:tav tm="0">
                                          <p:val>
                                            <p:fltVal val="0"/>
                                          </p:val>
                                        </p:tav>
                                        <p:tav tm="100000">
                                          <p:val>
                                            <p:strVal val="#ppt_w"/>
                                          </p:val>
                                        </p:tav>
                                      </p:tavLst>
                                    </p:anim>
                                    <p:anim calcmode="lin" valueType="num">
                                      <p:cBhvr>
                                        <p:cTn id="8" dur="1300" fill="hold"/>
                                        <p:tgtEl>
                                          <p:spTgt spid="18"/>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p:cTn id="11" dur="1300" fill="hold"/>
                                        <p:tgtEl>
                                          <p:spTgt spid="17"/>
                                        </p:tgtEl>
                                        <p:attrNameLst>
                                          <p:attrName>ppt_w</p:attrName>
                                        </p:attrNameLst>
                                      </p:cBhvr>
                                      <p:tavLst>
                                        <p:tav tm="0">
                                          <p:val>
                                            <p:fltVal val="0"/>
                                          </p:val>
                                        </p:tav>
                                        <p:tav tm="100000">
                                          <p:val>
                                            <p:strVal val="#ppt_w"/>
                                          </p:val>
                                        </p:tav>
                                      </p:tavLst>
                                    </p:anim>
                                    <p:anim calcmode="lin" valueType="num">
                                      <p:cBhvr>
                                        <p:cTn id="12" dur="1300" fill="hold"/>
                                        <p:tgtEl>
                                          <p:spTgt spid="17"/>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p:cTn id="15" dur="1300" fill="hold"/>
                                        <p:tgtEl>
                                          <p:spTgt spid="16"/>
                                        </p:tgtEl>
                                        <p:attrNameLst>
                                          <p:attrName>ppt_w</p:attrName>
                                        </p:attrNameLst>
                                      </p:cBhvr>
                                      <p:tavLst>
                                        <p:tav tm="0">
                                          <p:val>
                                            <p:fltVal val="0"/>
                                          </p:val>
                                        </p:tav>
                                        <p:tav tm="100000">
                                          <p:val>
                                            <p:strVal val="#ppt_w"/>
                                          </p:val>
                                        </p:tav>
                                      </p:tavLst>
                                    </p:anim>
                                    <p:anim calcmode="lin" valueType="num">
                                      <p:cBhvr>
                                        <p:cTn id="16" dur="1300" fill="hold"/>
                                        <p:tgtEl>
                                          <p:spTgt spid="16"/>
                                        </p:tgtEl>
                                        <p:attrNameLst>
                                          <p:attrName>ppt_h</p:attrName>
                                        </p:attrNameLst>
                                      </p:cBhvr>
                                      <p:tavLst>
                                        <p:tav tm="0">
                                          <p:val>
                                            <p:strVal val="#ppt_h"/>
                                          </p:val>
                                        </p:tav>
                                        <p:tav tm="100000">
                                          <p:val>
                                            <p:strVal val="#ppt_h"/>
                                          </p:val>
                                        </p:tav>
                                      </p:tavLst>
                                    </p:anim>
                                  </p:childTnLst>
                                </p:cTn>
                              </p:par>
                              <p:par>
                                <p:cTn id="17" presetID="17" presetClass="entr" presetSubtype="1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1300" fill="hold"/>
                                        <p:tgtEl>
                                          <p:spTgt spid="15"/>
                                        </p:tgtEl>
                                        <p:attrNameLst>
                                          <p:attrName>ppt_w</p:attrName>
                                        </p:attrNameLst>
                                      </p:cBhvr>
                                      <p:tavLst>
                                        <p:tav tm="0">
                                          <p:val>
                                            <p:fltVal val="0"/>
                                          </p:val>
                                        </p:tav>
                                        <p:tav tm="100000">
                                          <p:val>
                                            <p:strVal val="#ppt_w"/>
                                          </p:val>
                                        </p:tav>
                                      </p:tavLst>
                                    </p:anim>
                                    <p:anim calcmode="lin" valueType="num">
                                      <p:cBhvr>
                                        <p:cTn id="20" dur="1300" fill="hold"/>
                                        <p:tgtEl>
                                          <p:spTgt spid="15"/>
                                        </p:tgtEl>
                                        <p:attrNameLst>
                                          <p:attrName>ppt_h</p:attrName>
                                        </p:attrNameLst>
                                      </p:cBhvr>
                                      <p:tavLst>
                                        <p:tav tm="0">
                                          <p:val>
                                            <p:strVal val="#ppt_h"/>
                                          </p:val>
                                        </p:tav>
                                        <p:tav tm="100000">
                                          <p:val>
                                            <p:strVal val="#ppt_h"/>
                                          </p:val>
                                        </p:tav>
                                      </p:tavLst>
                                    </p:anim>
                                  </p:childTnLst>
                                </p:cTn>
                              </p:par>
                              <p:par>
                                <p:cTn id="21" presetID="17" presetClass="entr" presetSubtype="1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p:cTn id="23" dur="1300" fill="hold"/>
                                        <p:tgtEl>
                                          <p:spTgt spid="14"/>
                                        </p:tgtEl>
                                        <p:attrNameLst>
                                          <p:attrName>ppt_w</p:attrName>
                                        </p:attrNameLst>
                                      </p:cBhvr>
                                      <p:tavLst>
                                        <p:tav tm="0">
                                          <p:val>
                                            <p:fltVal val="0"/>
                                          </p:val>
                                        </p:tav>
                                        <p:tav tm="100000">
                                          <p:val>
                                            <p:strVal val="#ppt_w"/>
                                          </p:val>
                                        </p:tav>
                                      </p:tavLst>
                                    </p:anim>
                                    <p:anim calcmode="lin" valueType="num">
                                      <p:cBhvr>
                                        <p:cTn id="24" dur="1300" fill="hold"/>
                                        <p:tgtEl>
                                          <p:spTgt spid="14"/>
                                        </p:tgtEl>
                                        <p:attrNameLst>
                                          <p:attrName>ppt_h</p:attrName>
                                        </p:attrNameLst>
                                      </p:cBhvr>
                                      <p:tavLst>
                                        <p:tav tm="0">
                                          <p:val>
                                            <p:strVal val="#ppt_h"/>
                                          </p:val>
                                        </p:tav>
                                        <p:tav tm="100000">
                                          <p:val>
                                            <p:strVal val="#ppt_h"/>
                                          </p:val>
                                        </p:tav>
                                      </p:tavLst>
                                    </p:anim>
                                  </p:childTnLst>
                                </p:cTn>
                              </p:par>
                              <p:par>
                                <p:cTn id="25" presetID="17" presetClass="entr" presetSubtype="1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1300" fill="hold"/>
                                        <p:tgtEl>
                                          <p:spTgt spid="13"/>
                                        </p:tgtEl>
                                        <p:attrNameLst>
                                          <p:attrName>ppt_w</p:attrName>
                                        </p:attrNameLst>
                                      </p:cBhvr>
                                      <p:tavLst>
                                        <p:tav tm="0">
                                          <p:val>
                                            <p:fltVal val="0"/>
                                          </p:val>
                                        </p:tav>
                                        <p:tav tm="100000">
                                          <p:val>
                                            <p:strVal val="#ppt_w"/>
                                          </p:val>
                                        </p:tav>
                                      </p:tavLst>
                                    </p:anim>
                                    <p:anim calcmode="lin" valueType="num">
                                      <p:cBhvr>
                                        <p:cTn id="28" dur="1300" fill="hold"/>
                                        <p:tgtEl>
                                          <p:spTgt spid="13"/>
                                        </p:tgtEl>
                                        <p:attrNameLst>
                                          <p:attrName>ppt_h</p:attrName>
                                        </p:attrNameLst>
                                      </p:cBhvr>
                                      <p:tavLst>
                                        <p:tav tm="0">
                                          <p:val>
                                            <p:strVal val="#ppt_h"/>
                                          </p:val>
                                        </p:tav>
                                        <p:tav tm="100000">
                                          <p:val>
                                            <p:strVal val="#ppt_h"/>
                                          </p:val>
                                        </p:tav>
                                      </p:tavLst>
                                    </p:anim>
                                  </p:childTnLst>
                                </p:cTn>
                              </p:par>
                              <p:par>
                                <p:cTn id="29" presetID="17" presetClass="entr" presetSubtype="1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1300" fill="hold"/>
                                        <p:tgtEl>
                                          <p:spTgt spid="12"/>
                                        </p:tgtEl>
                                        <p:attrNameLst>
                                          <p:attrName>ppt_w</p:attrName>
                                        </p:attrNameLst>
                                      </p:cBhvr>
                                      <p:tavLst>
                                        <p:tav tm="0">
                                          <p:val>
                                            <p:fltVal val="0"/>
                                          </p:val>
                                        </p:tav>
                                        <p:tav tm="100000">
                                          <p:val>
                                            <p:strVal val="#ppt_w"/>
                                          </p:val>
                                        </p:tav>
                                      </p:tavLst>
                                    </p:anim>
                                    <p:anim calcmode="lin" valueType="num">
                                      <p:cBhvr>
                                        <p:cTn id="32" dur="1300" fill="hold"/>
                                        <p:tgtEl>
                                          <p:spTgt spid="12"/>
                                        </p:tgtEl>
                                        <p:attrNameLst>
                                          <p:attrName>ppt_h</p:attrName>
                                        </p:attrNameLst>
                                      </p:cBhvr>
                                      <p:tavLst>
                                        <p:tav tm="0">
                                          <p:val>
                                            <p:strVal val="#ppt_h"/>
                                          </p:val>
                                        </p:tav>
                                        <p:tav tm="100000">
                                          <p:val>
                                            <p:strVal val="#ppt_h"/>
                                          </p:val>
                                        </p:tav>
                                      </p:tavLst>
                                    </p:anim>
                                  </p:childTnLst>
                                </p:cTn>
                              </p:par>
                              <p:par>
                                <p:cTn id="33" presetID="17" presetClass="entr" presetSubtype="10" repeatCount="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1300" fill="hold"/>
                                        <p:tgtEl>
                                          <p:spTgt spid="9"/>
                                        </p:tgtEl>
                                        <p:attrNameLst>
                                          <p:attrName>ppt_w</p:attrName>
                                        </p:attrNameLst>
                                      </p:cBhvr>
                                      <p:tavLst>
                                        <p:tav tm="0">
                                          <p:val>
                                            <p:fltVal val="0"/>
                                          </p:val>
                                        </p:tav>
                                        <p:tav tm="100000">
                                          <p:val>
                                            <p:strVal val="#ppt_w"/>
                                          </p:val>
                                        </p:tav>
                                      </p:tavLst>
                                    </p:anim>
                                    <p:anim calcmode="lin" valueType="num">
                                      <p:cBhvr>
                                        <p:cTn id="36" dur="1300" fill="hold"/>
                                        <p:tgtEl>
                                          <p:spTgt spid="9"/>
                                        </p:tgtEl>
                                        <p:attrNameLst>
                                          <p:attrName>ppt_h</p:attrName>
                                        </p:attrNameLst>
                                      </p:cBhvr>
                                      <p:tavLst>
                                        <p:tav tm="0">
                                          <p:val>
                                            <p:strVal val="#ppt_h"/>
                                          </p:val>
                                        </p:tav>
                                        <p:tav tm="100000">
                                          <p:val>
                                            <p:strVal val="#ppt_h"/>
                                          </p:val>
                                        </p:tav>
                                      </p:tavLst>
                                    </p:anim>
                                  </p:childTnLst>
                                </p:cTn>
                              </p:par>
                              <p:par>
                                <p:cTn id="37" presetID="17" presetClass="entr" presetSubtype="10" repeatCount="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1300" fill="hold"/>
                                        <p:tgtEl>
                                          <p:spTgt spid="8"/>
                                        </p:tgtEl>
                                        <p:attrNameLst>
                                          <p:attrName>ppt_w</p:attrName>
                                        </p:attrNameLst>
                                      </p:cBhvr>
                                      <p:tavLst>
                                        <p:tav tm="0">
                                          <p:val>
                                            <p:fltVal val="0"/>
                                          </p:val>
                                        </p:tav>
                                        <p:tav tm="100000">
                                          <p:val>
                                            <p:strVal val="#ppt_w"/>
                                          </p:val>
                                        </p:tav>
                                      </p:tavLst>
                                    </p:anim>
                                    <p:anim calcmode="lin" valueType="num">
                                      <p:cBhvr>
                                        <p:cTn id="40" dur="1300" fill="hold"/>
                                        <p:tgtEl>
                                          <p:spTgt spid="8"/>
                                        </p:tgtEl>
                                        <p:attrNameLst>
                                          <p:attrName>ppt_h</p:attrName>
                                        </p:attrNameLst>
                                      </p:cBhvr>
                                      <p:tavLst>
                                        <p:tav tm="0">
                                          <p:val>
                                            <p:strVal val="#ppt_h"/>
                                          </p:val>
                                        </p:tav>
                                        <p:tav tm="100000">
                                          <p:val>
                                            <p:strVal val="#ppt_h"/>
                                          </p:val>
                                        </p:tav>
                                      </p:tavLst>
                                    </p:anim>
                                  </p:childTnLst>
                                </p:cTn>
                              </p:par>
                              <p:par>
                                <p:cTn id="41" presetID="17" presetClass="entr" presetSubtype="10" repeatCount="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300" fill="hold"/>
                                        <p:tgtEl>
                                          <p:spTgt spid="7"/>
                                        </p:tgtEl>
                                        <p:attrNameLst>
                                          <p:attrName>ppt_w</p:attrName>
                                        </p:attrNameLst>
                                      </p:cBhvr>
                                      <p:tavLst>
                                        <p:tav tm="0">
                                          <p:val>
                                            <p:fltVal val="0"/>
                                          </p:val>
                                        </p:tav>
                                        <p:tav tm="100000">
                                          <p:val>
                                            <p:strVal val="#ppt_w"/>
                                          </p:val>
                                        </p:tav>
                                      </p:tavLst>
                                    </p:anim>
                                    <p:anim calcmode="lin" valueType="num">
                                      <p:cBhvr>
                                        <p:cTn id="44" dur="1300" fill="hold"/>
                                        <p:tgtEl>
                                          <p:spTgt spid="7"/>
                                        </p:tgtEl>
                                        <p:attrNameLst>
                                          <p:attrName>ppt_h</p:attrName>
                                        </p:attrNameLst>
                                      </p:cBhvr>
                                      <p:tavLst>
                                        <p:tav tm="0">
                                          <p:val>
                                            <p:strVal val="#ppt_h"/>
                                          </p:val>
                                        </p:tav>
                                        <p:tav tm="100000">
                                          <p:val>
                                            <p:strVal val="#ppt_h"/>
                                          </p:val>
                                        </p:tav>
                                      </p:tavLst>
                                    </p:anim>
                                  </p:childTnLst>
                                </p:cTn>
                              </p:par>
                              <p:par>
                                <p:cTn id="45" presetID="17" presetClass="entr" presetSubtype="10" repeatCount="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p:cTn id="47" dur="1300" fill="hold"/>
                                        <p:tgtEl>
                                          <p:spTgt spid="6"/>
                                        </p:tgtEl>
                                        <p:attrNameLst>
                                          <p:attrName>ppt_w</p:attrName>
                                        </p:attrNameLst>
                                      </p:cBhvr>
                                      <p:tavLst>
                                        <p:tav tm="0">
                                          <p:val>
                                            <p:fltVal val="0"/>
                                          </p:val>
                                        </p:tav>
                                        <p:tav tm="100000">
                                          <p:val>
                                            <p:strVal val="#ppt_w"/>
                                          </p:val>
                                        </p:tav>
                                      </p:tavLst>
                                    </p:anim>
                                    <p:anim calcmode="lin" valueType="num">
                                      <p:cBhvr>
                                        <p:cTn id="48" dur="1300" fill="hold"/>
                                        <p:tgtEl>
                                          <p:spTgt spid="6"/>
                                        </p:tgtEl>
                                        <p:attrNameLst>
                                          <p:attrName>ppt_h</p:attrName>
                                        </p:attrNameLst>
                                      </p:cBhvr>
                                      <p:tavLst>
                                        <p:tav tm="0">
                                          <p:val>
                                            <p:strVal val="#ppt_h"/>
                                          </p:val>
                                        </p:tav>
                                        <p:tav tm="100000">
                                          <p:val>
                                            <p:strVal val="#ppt_h"/>
                                          </p:val>
                                        </p:tav>
                                      </p:tavLst>
                                    </p:anim>
                                  </p:childTnLst>
                                </p:cTn>
                              </p:par>
                              <p:par>
                                <p:cTn id="49" presetID="17" presetClass="entr" presetSubtype="10" repeatCount="0" fill="hold" grpId="0" nodeType="with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p:cTn id="51" dur="1300" fill="hold"/>
                                        <p:tgtEl>
                                          <p:spTgt spid="5"/>
                                        </p:tgtEl>
                                        <p:attrNameLst>
                                          <p:attrName>ppt_w</p:attrName>
                                        </p:attrNameLst>
                                      </p:cBhvr>
                                      <p:tavLst>
                                        <p:tav tm="0">
                                          <p:val>
                                            <p:fltVal val="0"/>
                                          </p:val>
                                        </p:tav>
                                        <p:tav tm="100000">
                                          <p:val>
                                            <p:strVal val="#ppt_w"/>
                                          </p:val>
                                        </p:tav>
                                      </p:tavLst>
                                    </p:anim>
                                    <p:anim calcmode="lin" valueType="num">
                                      <p:cBhvr>
                                        <p:cTn id="52" dur="1300" fill="hold"/>
                                        <p:tgtEl>
                                          <p:spTgt spid="5"/>
                                        </p:tgtEl>
                                        <p:attrNameLst>
                                          <p:attrName>ppt_h</p:attrName>
                                        </p:attrNameLst>
                                      </p:cBhvr>
                                      <p:tavLst>
                                        <p:tav tm="0">
                                          <p:val>
                                            <p:strVal val="#ppt_h"/>
                                          </p:val>
                                        </p:tav>
                                        <p:tav tm="100000">
                                          <p:val>
                                            <p:strVal val="#ppt_h"/>
                                          </p:val>
                                        </p:tav>
                                      </p:tavLst>
                                    </p:anim>
                                  </p:childTnLst>
                                </p:cTn>
                              </p:par>
                              <p:par>
                                <p:cTn id="53" presetID="17" presetClass="entr" presetSubtype="1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p:cTn id="55" dur="1300" fill="hold"/>
                                        <p:tgtEl>
                                          <p:spTgt spid="26"/>
                                        </p:tgtEl>
                                        <p:attrNameLst>
                                          <p:attrName>ppt_w</p:attrName>
                                        </p:attrNameLst>
                                      </p:cBhvr>
                                      <p:tavLst>
                                        <p:tav tm="0">
                                          <p:val>
                                            <p:fltVal val="0"/>
                                          </p:val>
                                        </p:tav>
                                        <p:tav tm="100000">
                                          <p:val>
                                            <p:strVal val="#ppt_w"/>
                                          </p:val>
                                        </p:tav>
                                      </p:tavLst>
                                    </p:anim>
                                    <p:anim calcmode="lin" valueType="num">
                                      <p:cBhvr>
                                        <p:cTn id="56" dur="1300" fill="hold"/>
                                        <p:tgtEl>
                                          <p:spTgt spid="26"/>
                                        </p:tgtEl>
                                        <p:attrNameLst>
                                          <p:attrName>ppt_h</p:attrName>
                                        </p:attrNameLst>
                                      </p:cBhvr>
                                      <p:tavLst>
                                        <p:tav tm="0">
                                          <p:val>
                                            <p:strVal val="#ppt_h"/>
                                          </p:val>
                                        </p:tav>
                                        <p:tav tm="100000">
                                          <p:val>
                                            <p:strVal val="#ppt_h"/>
                                          </p:val>
                                        </p:tav>
                                      </p:tavLst>
                                    </p:anim>
                                  </p:childTnLst>
                                </p:cTn>
                              </p:par>
                              <p:par>
                                <p:cTn id="57" presetID="17" presetClass="entr" presetSubtype="1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cBhvr>
                                        <p:cTn id="59" dur="1300" fill="hold"/>
                                        <p:tgtEl>
                                          <p:spTgt spid="25"/>
                                        </p:tgtEl>
                                        <p:attrNameLst>
                                          <p:attrName>ppt_w</p:attrName>
                                        </p:attrNameLst>
                                      </p:cBhvr>
                                      <p:tavLst>
                                        <p:tav tm="0">
                                          <p:val>
                                            <p:fltVal val="0"/>
                                          </p:val>
                                        </p:tav>
                                        <p:tav tm="100000">
                                          <p:val>
                                            <p:strVal val="#ppt_w"/>
                                          </p:val>
                                        </p:tav>
                                      </p:tavLst>
                                    </p:anim>
                                    <p:anim calcmode="lin" valueType="num">
                                      <p:cBhvr>
                                        <p:cTn id="60" dur="1300" fill="hold"/>
                                        <p:tgtEl>
                                          <p:spTgt spid="25"/>
                                        </p:tgtEl>
                                        <p:attrNameLst>
                                          <p:attrName>ppt_h</p:attrName>
                                        </p:attrNameLst>
                                      </p:cBhvr>
                                      <p:tavLst>
                                        <p:tav tm="0">
                                          <p:val>
                                            <p:strVal val="#ppt_h"/>
                                          </p:val>
                                        </p:tav>
                                        <p:tav tm="100000">
                                          <p:val>
                                            <p:strVal val="#ppt_h"/>
                                          </p:val>
                                        </p:tav>
                                      </p:tavLst>
                                    </p:anim>
                                  </p:childTnLst>
                                </p:cTn>
                              </p:par>
                              <p:par>
                                <p:cTn id="61" presetID="17" presetClass="entr" presetSubtype="1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 calcmode="lin" valueType="num">
                                      <p:cBhvr>
                                        <p:cTn id="63" dur="1300" fill="hold"/>
                                        <p:tgtEl>
                                          <p:spTgt spid="24"/>
                                        </p:tgtEl>
                                        <p:attrNameLst>
                                          <p:attrName>ppt_w</p:attrName>
                                        </p:attrNameLst>
                                      </p:cBhvr>
                                      <p:tavLst>
                                        <p:tav tm="0">
                                          <p:val>
                                            <p:fltVal val="0"/>
                                          </p:val>
                                        </p:tav>
                                        <p:tav tm="100000">
                                          <p:val>
                                            <p:strVal val="#ppt_w"/>
                                          </p:val>
                                        </p:tav>
                                      </p:tavLst>
                                    </p:anim>
                                    <p:anim calcmode="lin" valueType="num">
                                      <p:cBhvr>
                                        <p:cTn id="64" dur="1300" fill="hold"/>
                                        <p:tgtEl>
                                          <p:spTgt spid="24"/>
                                        </p:tgtEl>
                                        <p:attrNameLst>
                                          <p:attrName>ppt_h</p:attrName>
                                        </p:attrNameLst>
                                      </p:cBhvr>
                                      <p:tavLst>
                                        <p:tav tm="0">
                                          <p:val>
                                            <p:strVal val="#ppt_h"/>
                                          </p:val>
                                        </p:tav>
                                        <p:tav tm="100000">
                                          <p:val>
                                            <p:strVal val="#ppt_h"/>
                                          </p:val>
                                        </p:tav>
                                      </p:tavLst>
                                    </p:anim>
                                  </p:childTnLst>
                                </p:cTn>
                              </p:par>
                              <p:par>
                                <p:cTn id="65" presetID="17" presetClass="entr" presetSubtype="1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 calcmode="lin" valueType="num">
                                      <p:cBhvr>
                                        <p:cTn id="67" dur="1300" fill="hold"/>
                                        <p:tgtEl>
                                          <p:spTgt spid="23"/>
                                        </p:tgtEl>
                                        <p:attrNameLst>
                                          <p:attrName>ppt_w</p:attrName>
                                        </p:attrNameLst>
                                      </p:cBhvr>
                                      <p:tavLst>
                                        <p:tav tm="0">
                                          <p:val>
                                            <p:fltVal val="0"/>
                                          </p:val>
                                        </p:tav>
                                        <p:tav tm="100000">
                                          <p:val>
                                            <p:strVal val="#ppt_w"/>
                                          </p:val>
                                        </p:tav>
                                      </p:tavLst>
                                    </p:anim>
                                    <p:anim calcmode="lin" valueType="num">
                                      <p:cBhvr>
                                        <p:cTn id="68" dur="1300" fill="hold"/>
                                        <p:tgtEl>
                                          <p:spTgt spid="23"/>
                                        </p:tgtEl>
                                        <p:attrNameLst>
                                          <p:attrName>ppt_h</p:attrName>
                                        </p:attrNameLst>
                                      </p:cBhvr>
                                      <p:tavLst>
                                        <p:tav tm="0">
                                          <p:val>
                                            <p:strVal val="#ppt_h"/>
                                          </p:val>
                                        </p:tav>
                                        <p:tav tm="100000">
                                          <p:val>
                                            <p:strVal val="#ppt_h"/>
                                          </p:val>
                                        </p:tav>
                                      </p:tavLst>
                                    </p:anim>
                                  </p:childTnLst>
                                </p:cTn>
                              </p:par>
                              <p:par>
                                <p:cTn id="69" presetID="17" presetClass="entr" presetSubtype="10"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p:cTn id="71" dur="1300" fill="hold"/>
                                        <p:tgtEl>
                                          <p:spTgt spid="22"/>
                                        </p:tgtEl>
                                        <p:attrNameLst>
                                          <p:attrName>ppt_w</p:attrName>
                                        </p:attrNameLst>
                                      </p:cBhvr>
                                      <p:tavLst>
                                        <p:tav tm="0">
                                          <p:val>
                                            <p:fltVal val="0"/>
                                          </p:val>
                                        </p:tav>
                                        <p:tav tm="100000">
                                          <p:val>
                                            <p:strVal val="#ppt_w"/>
                                          </p:val>
                                        </p:tav>
                                      </p:tavLst>
                                    </p:anim>
                                    <p:anim calcmode="lin" valueType="num">
                                      <p:cBhvr>
                                        <p:cTn id="72" dur="1300" fill="hold"/>
                                        <p:tgtEl>
                                          <p:spTgt spid="22"/>
                                        </p:tgtEl>
                                        <p:attrNameLst>
                                          <p:attrName>ppt_h</p:attrName>
                                        </p:attrNameLst>
                                      </p:cBhvr>
                                      <p:tavLst>
                                        <p:tav tm="0">
                                          <p:val>
                                            <p:strVal val="#ppt_h"/>
                                          </p:val>
                                        </p:tav>
                                        <p:tav tm="100000">
                                          <p:val>
                                            <p:strVal val="#ppt_h"/>
                                          </p:val>
                                        </p:tav>
                                      </p:tavLst>
                                    </p:anim>
                                  </p:childTnLst>
                                </p:cTn>
                              </p:par>
                              <p:par>
                                <p:cTn id="73" presetID="17" presetClass="entr" presetSubtype="10"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p:cTn id="75" dur="1300" fill="hold"/>
                                        <p:tgtEl>
                                          <p:spTgt spid="21"/>
                                        </p:tgtEl>
                                        <p:attrNameLst>
                                          <p:attrName>ppt_w</p:attrName>
                                        </p:attrNameLst>
                                      </p:cBhvr>
                                      <p:tavLst>
                                        <p:tav tm="0">
                                          <p:val>
                                            <p:fltVal val="0"/>
                                          </p:val>
                                        </p:tav>
                                        <p:tav tm="100000">
                                          <p:val>
                                            <p:strVal val="#ppt_w"/>
                                          </p:val>
                                        </p:tav>
                                      </p:tavLst>
                                    </p:anim>
                                    <p:anim calcmode="lin" valueType="num">
                                      <p:cBhvr>
                                        <p:cTn id="76" dur="1300" fill="hold"/>
                                        <p:tgtEl>
                                          <p:spTgt spid="21"/>
                                        </p:tgtEl>
                                        <p:attrNameLst>
                                          <p:attrName>ppt_h</p:attrName>
                                        </p:attrNameLst>
                                      </p:cBhvr>
                                      <p:tavLst>
                                        <p:tav tm="0">
                                          <p:val>
                                            <p:strVal val="#ppt_h"/>
                                          </p:val>
                                        </p:tav>
                                        <p:tav tm="100000">
                                          <p:val>
                                            <p:strVal val="#ppt_h"/>
                                          </p:val>
                                        </p:tav>
                                      </p:tavLst>
                                    </p:anim>
                                  </p:childTnLst>
                                </p:cTn>
                              </p:par>
                              <p:par>
                                <p:cTn id="77" presetID="17" presetClass="entr" presetSubtype="10"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 calcmode="lin" valueType="num">
                                      <p:cBhvr>
                                        <p:cTn id="79" dur="1300" fill="hold"/>
                                        <p:tgtEl>
                                          <p:spTgt spid="20"/>
                                        </p:tgtEl>
                                        <p:attrNameLst>
                                          <p:attrName>ppt_w</p:attrName>
                                        </p:attrNameLst>
                                      </p:cBhvr>
                                      <p:tavLst>
                                        <p:tav tm="0">
                                          <p:val>
                                            <p:fltVal val="0"/>
                                          </p:val>
                                        </p:tav>
                                        <p:tav tm="100000">
                                          <p:val>
                                            <p:strVal val="#ppt_w"/>
                                          </p:val>
                                        </p:tav>
                                      </p:tavLst>
                                    </p:anim>
                                    <p:anim calcmode="lin" valueType="num">
                                      <p:cBhvr>
                                        <p:cTn id="80" dur="1300" fill="hold"/>
                                        <p:tgtEl>
                                          <p:spTgt spid="20"/>
                                        </p:tgtEl>
                                        <p:attrNameLst>
                                          <p:attrName>ppt_h</p:attrName>
                                        </p:attrNameLst>
                                      </p:cBhvr>
                                      <p:tavLst>
                                        <p:tav tm="0">
                                          <p:val>
                                            <p:strVal val="#ppt_h"/>
                                          </p:val>
                                        </p:tav>
                                        <p:tav tm="100000">
                                          <p:val>
                                            <p:strVal val="#ppt_h"/>
                                          </p:val>
                                        </p:tav>
                                      </p:tavLst>
                                    </p:anim>
                                  </p:childTnLst>
                                </p:cTn>
                              </p:par>
                              <p:par>
                                <p:cTn id="81" presetID="10" presetClass="entr" presetSubtype="0" fill="hold" grpId="0" nodeType="withEffect">
                                  <p:stCondLst>
                                    <p:cond delay="1250"/>
                                  </p:stCondLst>
                                  <p:childTnLst>
                                    <p:set>
                                      <p:cBhvr>
                                        <p:cTn id="82" dur="1" fill="hold">
                                          <p:stCondLst>
                                            <p:cond delay="0"/>
                                          </p:stCondLst>
                                        </p:cTn>
                                        <p:tgtEl>
                                          <p:spTgt spid="2"/>
                                        </p:tgtEl>
                                        <p:attrNameLst>
                                          <p:attrName>style.visibility</p:attrName>
                                        </p:attrNameLst>
                                      </p:cBhvr>
                                      <p:to>
                                        <p:strVal val="visible"/>
                                      </p:to>
                                    </p:set>
                                    <p:animEffect transition="in" filter="fade">
                                      <p:cBhvr>
                                        <p:cTn id="83" dur="1500"/>
                                        <p:tgtEl>
                                          <p:spTgt spid="2"/>
                                        </p:tgtEl>
                                      </p:cBhvr>
                                    </p:animEffect>
                                  </p:childTnLst>
                                </p:cTn>
                              </p:par>
                              <p:par>
                                <p:cTn id="84" presetID="10" presetClass="entr" presetSubtype="0" fill="hold" nodeType="withEffect">
                                  <p:stCondLst>
                                    <p:cond delay="125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1500"/>
                                        <p:tgtEl>
                                          <p:spTgt spid="30"/>
                                        </p:tgtEl>
                                      </p:cBhvr>
                                    </p:animEffect>
                                  </p:childTnLst>
                                </p:cTn>
                              </p:par>
                              <p:par>
                                <p:cTn id="87" presetID="10" presetClass="entr" presetSubtype="0" fill="hold" nodeType="withEffect">
                                  <p:stCondLst>
                                    <p:cond delay="125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1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6" grpId="0" animBg="1"/>
      <p:bldP spid="7" grpId="0" animBg="1"/>
      <p:bldP spid="8" grpId="0" animBg="1"/>
      <p:bldP spid="9"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DESIGN_ID_SENTINELONE" val="umnEDOex"/>
  <p:tag name="ARTICULATE_PROJECT_OPEN" val="0"/>
  <p:tag name="ARTICULATE_SLIDE_COUNT" val="4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entinelOne">
  <a:themeElements>
    <a:clrScheme name="7165FF">
      <a:dk1>
        <a:srgbClr val="0C0020"/>
      </a:dk1>
      <a:lt1>
        <a:srgbClr val="FFFFFF"/>
      </a:lt1>
      <a:dk2>
        <a:srgbClr val="0C0020"/>
      </a:dk2>
      <a:lt2>
        <a:srgbClr val="FFFFFF"/>
      </a:lt2>
      <a:accent1>
        <a:srgbClr val="6100FF"/>
      </a:accent1>
      <a:accent2>
        <a:srgbClr val="0C0020"/>
      </a:accent2>
      <a:accent3>
        <a:srgbClr val="38E592"/>
      </a:accent3>
      <a:accent4>
        <a:srgbClr val="F51460"/>
      </a:accent4>
      <a:accent5>
        <a:srgbClr val="7165FF"/>
      </a:accent5>
      <a:accent6>
        <a:srgbClr val="76788F"/>
      </a:accent6>
      <a:hlink>
        <a:srgbClr val="6100FF"/>
      </a:hlink>
      <a:folHlink>
        <a:srgbClr val="6B0AE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54724</TotalTime>
  <Words>2894</Words>
  <Application>Microsoft Office PowerPoint</Application>
  <PresentationFormat>Custom</PresentationFormat>
  <Paragraphs>229</Paragraphs>
  <Slides>47</Slides>
  <Notes>45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Noto Sans Symbols</vt:lpstr>
      <vt:lpstr>Lato</vt:lpstr>
      <vt:lpstr>Wingdings</vt:lpstr>
      <vt:lpstr>Calibri</vt:lpstr>
      <vt:lpstr>Arial</vt:lpstr>
      <vt:lpstr>Symbol</vt:lpstr>
      <vt:lpstr>SentinelOne</vt:lpstr>
      <vt:lpstr>PowerPoint Presentation</vt:lpstr>
      <vt:lpstr>Welcome to  OneCon25</vt:lpstr>
      <vt:lpstr>Session Agenda</vt:lpstr>
      <vt:lpstr>Safe Harbor</vt:lpstr>
      <vt:lpstr>PowerPoint Presentation</vt:lpstr>
      <vt:lpstr>PowerPoint Presentation</vt:lpstr>
      <vt:lpstr>PowerPoint Presentation</vt:lpstr>
      <vt:lpstr>Hyperautomation Overview</vt:lpstr>
      <vt:lpstr>PowerPoint Presentation</vt:lpstr>
      <vt:lpstr>SOC Challenges</vt:lpstr>
      <vt:lpstr>Hyperautomation</vt:lpstr>
      <vt:lpstr>Example Hyperautomation Use Cases</vt:lpstr>
      <vt:lpstr>Example Hyperautomation Use Cases continued...</vt:lpstr>
      <vt:lpstr>Fundamentals of Hyperautomation</vt:lpstr>
      <vt:lpstr>PowerPoint Presentation</vt:lpstr>
      <vt:lpstr>Preparing for Hyperautomation </vt:lpstr>
      <vt:lpstr>Getting Started with Hyperautomation Templates</vt:lpstr>
      <vt:lpstr>Demo</vt:lpstr>
      <vt:lpstr>Triggers</vt:lpstr>
      <vt:lpstr>Running a Workflow from Triage</vt:lpstr>
      <vt:lpstr>Overview of Core Actions</vt:lpstr>
      <vt:lpstr>Configuring Actions </vt:lpstr>
      <vt:lpstr>Demo</vt:lpstr>
      <vt:lpstr>Integrations</vt:lpstr>
      <vt:lpstr>Integration Connections</vt:lpstr>
      <vt:lpstr>Integration Actions</vt:lpstr>
      <vt:lpstr>Demo</vt:lpstr>
      <vt:lpstr>Custom Integrations</vt:lpstr>
      <vt:lpstr>Testing As You Go </vt:lpstr>
      <vt:lpstr>Demo</vt:lpstr>
      <vt:lpstr>Activating A workflow</vt:lpstr>
      <vt:lpstr>Workflow Versions</vt:lpstr>
      <vt:lpstr>Workflow Export/Import</vt:lpstr>
      <vt:lpstr>Workflow Activity</vt:lpstr>
      <vt:lpstr>Workflow Activity</vt:lpstr>
      <vt:lpstr>Demo</vt:lpstr>
      <vt:lpstr>Configuring Actions - References </vt:lpstr>
      <vt:lpstr>Variables</vt:lpstr>
      <vt:lpstr>Functions </vt:lpstr>
      <vt:lpstr>Workflow Use Cases</vt:lpstr>
      <vt:lpstr>Updating Custom Threat Intelligence</vt:lpstr>
      <vt:lpstr>Threat Hunting</vt:lpstr>
      <vt:lpstr>Create Ops Center Alerts for Phishing Attempts</vt:lpstr>
      <vt:lpstr>Automatically Quarantine a Compromised Endpoint</vt:lpstr>
      <vt:lpstr>Windows Sandbox Abuse</vt:lpstr>
      <vt:lpstr>Prompt Analyst to Quarantine a Compromised Endpoint</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SentinelOne</dc:creator>
  <cp:keywords/>
  <dc:description/>
  <cp:lastModifiedBy>Shawn Stugart</cp:lastModifiedBy>
  <cp:revision>320</cp:revision>
  <dcterms:created xsi:type="dcterms:W3CDTF">2021-05-06T22:49:27Z</dcterms:created>
  <dcterms:modified xsi:type="dcterms:W3CDTF">2025-11-05T06:41:15Z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D9C73A4B-C066-407F-AEF5-AFC2CA8BA835</vt:lpwstr>
  </property>
  <property fmtid="{D5CDD505-2E9C-101B-9397-08002B2CF9AE}" pid="3" name="ArticulatePath">
    <vt:lpwstr>OneCon25 Hyperautomation Session</vt:lpwstr>
  </property>
</Properties>
</file>